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Cinzel" panose="020B0604020202020204" charset="0"/>
      <p:regular r:id="rId17"/>
      <p:bold r:id="rId18"/>
    </p:embeddedFont>
    <p:embeddedFont>
      <p:font typeface="Plus Jakarta Sans" panose="020B0604020202020204"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 | TIME: 0:00 - 0:35 | TARGET: 35 SECONDS]</a:t>
            </a:r>
          </a:p>
          <a:p>
            <a:endParaRPr/>
          </a:p>
          <a:p>
            <a:r>
              <a:t>SPEECH (EN):</a:t>
            </a:r>
          </a:p>
          <a:p>
            <a:r>
              <a:t>"Hello everyone, Professor Avola, and Dr. Bailo.</a:t>
            </a:r>
          </a:p>
          <a:p>
            <a:r>
              <a:t>My name is Alessio Curcio, and today I'm glad to present my internship report titled:</a:t>
            </a:r>
          </a:p>
          <a:p>
            <a:r>
              <a:t>'Seismic Viewer: Design, Implementation and Evaluation of an Interactive 4D Spatio-Temporal Visualisation System for Seismological Data'.</a:t>
            </a:r>
          </a:p>
          <a:p>
            <a:endParaRPr/>
          </a:p>
          <a:p>
            <a:r>
              <a:t>This work was carried out during my curricular internship at the National Institute of Geophysics and Volcanology (INGV), in collaboration with Sapienza University of Rome."</a:t>
            </a:r>
          </a:p>
          <a:p>
            <a:endParaRPr/>
          </a:p>
          <a:p>
            <a:r>
              <a:t>[VISUAL ACTION: Smile, welcome the committee, make eye contact, project confidence, advance to Slide 2 at 0:35]</a:t>
            </a: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2 | TIME: 0:35 - 1:20 | TARGET: 45 SECONDS]</a:t>
            </a:r>
          </a:p>
          <a:p>
            <a:endParaRPr/>
          </a:p>
          <a:p>
            <a:r>
              <a:t>SPEECH (EN):</a:t>
            </a:r>
          </a:p>
          <a:p>
            <a:r>
              <a:t>"To understand why we started this project, we have to look at what's happening right now at the Campi Flegrei volcanic caldera near Naples.</a:t>
            </a:r>
          </a:p>
          <a:p>
            <a:r>
              <a:t>Since 2005, this area has been experiencing active bradyseism — meaning continuous ground uplift accompanied by frequent, intense earthquake swarms.</a:t>
            </a:r>
          </a:p>
          <a:p>
            <a:endParaRPr/>
          </a:p>
          <a:p>
            <a:r>
              <a:t>Just recently, in 2025, a study published in Nature Communications Earth &amp; Environment, co-authored by researchers from INGV and Roma Tre University, made an important discovery: these earthquakes aren't just random noise. Instead, they clearly delineate the pressurization of hydrothermal fluids and the physical growth of an active underground fault plane.</a:t>
            </a:r>
          </a:p>
          <a:p>
            <a:endParaRPr/>
          </a:p>
          <a:p>
            <a:r>
              <a:t>However, geophysicists had a major problem: they lacked an interactive tool to explore and track these faults in 3D and 4D over time. That's exactly why Seismic Viewer was proposed."</a:t>
            </a:r>
          </a:p>
          <a:p>
            <a:endParaRPr/>
          </a:p>
          <a:p>
            <a:r>
              <a:t>[VISUAL ACTION: Point to Campi Flegrei context on Card 1, highlight the 2025 Nature study on Card 2, then point to Card 3]</a:t>
            </a:r>
          </a:p>
        </p:txBody>
      </p:sp>
      <p:sp>
        <p:nvSpPr>
          <p:cNvPr id="100" name="Google Shape;10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3 | TIME: 1:20 - 2:00 | TARGET: 40 SECONDS]</a:t>
            </a:r>
          </a:p>
          <a:p>
            <a:endParaRPr/>
          </a:p>
          <a:p>
            <a:r>
              <a:t>SPEECH (EN):</a:t>
            </a:r>
          </a:p>
          <a:p>
            <a:r>
              <a:t>"When we looked at the tools seismologists currently use, we found a clear technological gap:</a:t>
            </a:r>
          </a:p>
          <a:p>
            <a:r>
              <a:t>First, standard GIS tools like QGIS or ArcGIS are great for 2D cartography, but they struggle with high-framerate 3D point clouds and dynamic animations.</a:t>
            </a:r>
          </a:p>
          <a:p>
            <a:r>
              <a:t>Second, scientific scripting libraries like ObsPy and GMT produce high-quality static figures, but require constant command-line scripting and lack real-time interactive 3D and 4D exploration.</a:t>
            </a:r>
          </a:p>
          <a:p>
            <a:r>
              <a:t>And third, public web portals only display static 2D maps.</a:t>
            </a:r>
          </a:p>
          <a:p>
            <a:endParaRPr/>
          </a:p>
          <a:p>
            <a:r>
              <a:t>So what geophysicists really needed was a lightweight tool running directly in the browser that unifies 2D maps, 3D point clouds, 4D time playback, and automated fault plane extraction in one place."</a:t>
            </a:r>
          </a:p>
          <a:p>
            <a:endParaRPr/>
          </a:p>
          <a:p>
            <a:r>
              <a:t>[VISUAL ACTION: Highlight the comparison table on Slide 3, pointing out the all-green column for Seismic Viewer]</a:t>
            </a:r>
          </a:p>
        </p:txBody>
      </p:sp>
      <p:sp>
        <p:nvSpPr>
          <p:cNvPr id="121" name="Google Shape;12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4 | TIME: 2:00 - 2:45 | TARGET: 45 SECONDS]</a:t>
            </a:r>
          </a:p>
          <a:p>
            <a:endParaRPr/>
          </a:p>
          <a:p>
            <a:r>
              <a:t>SPEECH (EN):</a:t>
            </a:r>
          </a:p>
          <a:p>
            <a:r>
              <a:t>"To meet these needs, we defined clear functional goals: smooth 2D/3D/4D navigation, automated fault plane fitting, multi-layer geophysical overlays, and support for both online and offline data. And non-functional goals: 60 frames per second rendering, sub-second latency, and a memory footprint strictly under 500 megabytes.</a:t>
            </a:r>
          </a:p>
          <a:p>
            <a:endParaRPr/>
          </a:p>
          <a:p>
            <a:r>
              <a:t>Because this project was developed in close collaboration with geophysicists, we adopted an iterative development approach across six phases:</a:t>
            </a:r>
          </a:p>
          <a:p>
            <a:r>
              <a:t>In Phase 1, we built the initial 3D prototype and local CSV parser.</a:t>
            </a:r>
          </a:p>
          <a:p>
            <a:r>
              <a:t>In Phase 2, we tested our first clustering algorithms and connected Python to a native web view.</a:t>
            </a:r>
          </a:p>
          <a:p>
            <a:r>
              <a:t>In Phase 3, we integrated the INGV GOSSIP REST API.</a:t>
            </a:r>
          </a:p>
          <a:p>
            <a:r>
              <a:t>In Phase 4, based on direct feedback from researchers, we introduced DBSCAN with automatic knee tuning, 4D cylinder slicing, and cluster locking.</a:t>
            </a:r>
          </a:p>
          <a:p>
            <a:r>
              <a:t>In Phase 5, we integrated 3D seismic tomography, GNSS uplift, and monitoring stations.</a:t>
            </a:r>
          </a:p>
          <a:p>
            <a:r>
              <a:t>And in Phase 6, we optimized everything with Float32 binary streaming and an asynchronous architecture."</a:t>
            </a:r>
          </a:p>
          <a:p>
            <a:endParaRPr/>
          </a:p>
          <a:p>
            <a:r>
              <a:t>[VISUAL ACTION: Point to Card 1 for System Requirements, then trace through the 6 Phases on Card 2 on the right]</a:t>
            </a:r>
          </a:p>
        </p:txBody>
      </p:sp>
      <p:sp>
        <p:nvSpPr>
          <p:cNvPr id="145" name="Google Shape;145;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5 | TIME: 2:45 - 3:25 | TARGET: 40 SECONDS]</a:t>
            </a:r>
          </a:p>
          <a:p>
            <a:endParaRPr/>
          </a:p>
          <a:p>
            <a:r>
              <a:t>SPEECH (EN):</a:t>
            </a:r>
          </a:p>
          <a:p>
            <a:r>
              <a:t>"Now, let's dive into the current application features, starting with the 2D Workspace.</a:t>
            </a:r>
          </a:p>
          <a:p>
            <a:endParaRPr/>
          </a:p>
          <a:p>
            <a:r>
              <a:t>On the left panel, users can filter the catalogue in real time by date range, focal depth, and magnitude. All filtering runs instantly directly in JavaScript in the browser, with zero round-trip latency to the server.</a:t>
            </a:r>
          </a:p>
          <a:p>
            <a:r>
              <a:t>Earthquakes are mapped over OpenStreetMap tiles. Users can seamlessly switch between proportional scatter markers—where circle sizes scale with magnitude and colours map to focal depth—and continuous kernel density heatmaps to highlight spatial clustering.</a:t>
            </a:r>
          </a:p>
          <a:p>
            <a:r>
              <a:t>Researchers can immediately isolate dense swarms around Pozzuoli or the Solfatara crater."</a:t>
            </a:r>
          </a:p>
          <a:p>
            <a:endParaRPr/>
          </a:p>
          <a:p>
            <a:r>
              <a:t>[VISUAL ACTION: Point to the 2D map screenshot on the left and the interactive filter controls on the side drawer]</a:t>
            </a:r>
          </a:p>
        </p:txBody>
      </p:sp>
      <p:sp>
        <p:nvSpPr>
          <p:cNvPr id="171" name="Google Shape;17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6 | TIME: 3:25 - 4:05 | TARGET: 40 SECONDS]</a:t>
            </a:r>
          </a:p>
          <a:p>
            <a:endParaRPr/>
          </a:p>
          <a:p>
            <a:r>
              <a:t>SPEECH (EN):</a:t>
            </a:r>
          </a:p>
          <a:p>
            <a:r>
              <a:t>"Next, switching to the 3D Workspace, earthquakes are rendered in physical space using WebGL.</a:t>
            </a:r>
          </a:p>
          <a:p>
            <a:endParaRPr/>
          </a:p>
          <a:p>
            <a:r>
              <a:t>Anyone who has worked with 3D point clouds knows that depth perception on a 2D screen can be tricky. To preserve accurate geological geometry, we implemented three key mechanisms:</a:t>
            </a:r>
          </a:p>
          <a:p>
            <a:r>
              <a:t>First, True Depth Scaling: hypocentres are positioned in physical kilometres beneath a semi-transparent OpenStreetMap surface terrain mesh.</a:t>
            </a:r>
          </a:p>
          <a:p>
            <a:r>
              <a:t>Second, an Aspect Ratio Correction that compensates for meridional convergence using the cosine of the mean latitude, preventing geographic distortion.</a:t>
            </a:r>
          </a:p>
          <a:p>
            <a:r>
              <a:t>And third, a 3D bounding box with depth coordinates in kilometres coupled with continuous depth colour gradients.</a:t>
            </a:r>
          </a:p>
          <a:p>
            <a:r>
              <a:t>We also ensure camera persistence across filter updates using Plotly's uirevision, alongside preset cardinal side-view alignments."</a:t>
            </a:r>
          </a:p>
          <a:p>
            <a:endParaRPr/>
          </a:p>
          <a:p>
            <a:r>
              <a:t>[VISUAL ACTION: Point out the physical depth scaling beneath the surface terrain mesh, the aspect ratio correction, and the 3D coordinate bounding box on the screenshot]</a:t>
            </a:r>
          </a:p>
        </p:txBody>
      </p:sp>
      <p:sp>
        <p:nvSpPr>
          <p:cNvPr id="187" name="Google Shape;18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7 | TIME: 4:05 - 4:45 | TARGET: 40 SECONDS]</a:t>
            </a:r>
          </a:p>
          <a:p>
            <a:endParaRPr/>
          </a:p>
          <a:p>
            <a:r>
              <a:t>SPEECH (EN):</a:t>
            </a:r>
          </a:p>
          <a:p>
            <a:r>
              <a:t>"Earthquake swarms aren't static — they migrate. Our 4D Animation Engine lets researchers watch this evolution unfold over time.</a:t>
            </a:r>
          </a:p>
          <a:p>
            <a:endParaRPr/>
          </a:p>
          <a:p>
            <a:r>
              <a:t>Users can select between three analytical playback modes:</a:t>
            </a:r>
          </a:p>
          <a:p>
            <a:r>
              <a:t>An Accumulation mode, showing cumulative seismic buildup from the first event to track stress accumulation.</a:t>
            </a:r>
          </a:p>
          <a:p>
            <a:r>
              <a:t>A Sliding Window mode, moving a configurable time frame—from 1 to 30 days—across the sequence to isolate active fault migration fronts without visual clutter.</a:t>
            </a:r>
          </a:p>
          <a:p>
            <a:r>
              <a:t>And a Discrete Block mode, partitioning the sequence into chronological chunks.</a:t>
            </a:r>
          </a:p>
          <a:p>
            <a:r>
              <a:t>At the bottom, an interactive timeline histogram allows scrubbing through dates while live readouts track active event count, peak magnitude, and cumulative seismic energy release in kilojoules using Gutenberg-Richter scaling."</a:t>
            </a:r>
          </a:p>
          <a:p>
            <a:endParaRPr/>
          </a:p>
          <a:p>
            <a:r>
              <a:t>[VISUAL ACTION: Point out the temporal playback modes (accumulation vs sliding window) and the live energy readout on the timeline histogram]</a:t>
            </a:r>
          </a:p>
        </p:txBody>
      </p:sp>
      <p:sp>
        <p:nvSpPr>
          <p:cNvPr id="203" name="Google Shape;203;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8 | TIME: 4:45 - 5:30 | TARGET: 45 SECONDS]</a:t>
            </a:r>
          </a:p>
          <a:p>
            <a:endParaRPr/>
          </a:p>
          <a:p>
            <a:r>
              <a:t>SPEECH (EN):</a:t>
            </a:r>
          </a:p>
          <a:p>
            <a:r>
              <a:t>"What really sets Seismic Viewer apart is that it doesn't just show dots in space — it fuses multiple geophysical datasets in the same 3D scene.</a:t>
            </a:r>
          </a:p>
          <a:p>
            <a:endParaRPr/>
          </a:p>
          <a:p>
            <a:r>
              <a:t>First, we render 3D seismic tomography. We interpolate Vp/Vs velocity ratios onto a 3D grid using Inverse Distance Weighting, applying a Gaussian spatial decay that smoothly transitions outside data points to the regional baseline of 1.75.</a:t>
            </a:r>
          </a:p>
          <a:p>
            <a:r>
              <a:t>Second, we display surface ground deformation from GNSS satellite networks, both as station vectors and as an interpolated uplift surface with Mogi decay.</a:t>
            </a:r>
          </a:p>
          <a:p>
            <a:r>
              <a:t>And third, we plot active seismic monitoring stations right on the surface.</a:t>
            </a:r>
          </a:p>
          <a:p>
            <a:r>
              <a:t>By seeing these layers together, researchers can correlate high-fluid zones and surface uplift directly with where faults are breaking."</a:t>
            </a:r>
          </a:p>
          <a:p>
            <a:endParaRPr/>
          </a:p>
          <a:p>
            <a:r>
              <a:t>[VISUAL ACTION: Point to the tomography volume, GNSS vectors, and the multi-layer integration cards]</a:t>
            </a:r>
          </a:p>
        </p:txBody>
      </p:sp>
      <p:sp>
        <p:nvSpPr>
          <p:cNvPr id="226" name="Google Shape;22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9 | TIME: 5:30 - 6:15 | TARGET: 45 SECONDS]</a:t>
            </a:r>
          </a:p>
          <a:p>
            <a:endParaRPr/>
          </a:p>
          <a:p>
            <a:r>
              <a:t>SPEECH (EN):</a:t>
            </a:r>
          </a:p>
          <a:p>
            <a:r>
              <a:t>"Now, how do we identify faults from thousands of earthquakes? This brings us to our clustering engine, and why we made specific algorithmic choices.</a:t>
            </a:r>
          </a:p>
          <a:p>
            <a:endParaRPr/>
          </a:p>
          <a:p>
            <a:r>
              <a:t>Initially, in early prototypes, we used K-Means. But we quickly realized K-Means has two major flaws for seismology: it forces every single point into a cluster, and it assumes clusters are spherical balls. In reality, earthquakes form elongated planar faults surrounded by diffuse background noise.</a:t>
            </a:r>
          </a:p>
          <a:p>
            <a:r>
              <a:t>So, we switched to DBSCAN. DBSCAN naturally finds arbitrary non-linear shapes and correctly labels background noise as unclustered outliers. To avoid making users guess the epsilon parameter, we automated it using the Kneedle algorithm on the k-nearest-neighbor distance plot.</a:t>
            </a:r>
          </a:p>
          <a:p>
            <a:r>
              <a:t>We also kept MiniBatchKMeans with a distance cutoff filter for instant partitioning of massive datasets, and we added a 'Cluster Lock' feature, allowing geophysicists to freeze confirmed geological faults and re-cluster only unresolved swarms."</a:t>
            </a:r>
          </a:p>
          <a:p>
            <a:endParaRPr/>
          </a:p>
          <a:p>
            <a:r>
              <a:t>[VISUAL ACTION: Walk through why KMeans failed, why DBSCAN succeeded, and how Cluster Lock works]</a:t>
            </a:r>
          </a:p>
        </p:txBody>
      </p:sp>
      <p:sp>
        <p:nvSpPr>
          <p:cNvPr id="242" name="Google Shape;24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10 | TIME: 6:15 - 7:00 | TARGET: 45 SECONDS]</a:t>
            </a:r>
          </a:p>
          <a:p>
            <a:endParaRPr/>
          </a:p>
          <a:p>
            <a:r>
              <a:t>SPEECH (EN):</a:t>
            </a:r>
          </a:p>
          <a:p>
            <a:r>
              <a:t>"Once a cluster is isolated, how do we extract the physical fault plane? We designed a two-step mathematical pipeline.</a:t>
            </a:r>
          </a:p>
          <a:p>
            <a:endParaRPr/>
          </a:p>
          <a:p>
            <a:r>
              <a:t>Why didn't we just fit a plane using SVD directly? Because if you have even a few stray earthquakes or noise points in a cluster, ordinary least squares or direct SVD gets skewed.</a:t>
            </a:r>
          </a:p>
          <a:p>
            <a:r>
              <a:t>So, Step 1 is RANSAC: it randomly samples point triplets over 100 iterations to find the candidate plane with the highest number of spatial inliers, discarding noise.</a:t>
            </a:r>
          </a:p>
          <a:p>
            <a:r>
              <a:t>Then, Step 2 runs Singular Value Decomposition on the centered inliers. The normal vector of the fault plane comes directly from the eigenvector with the smallest singular value.</a:t>
            </a:r>
          </a:p>
          <a:p>
            <a:r>
              <a:t>From this normal vector, we calculate the geological Strike, Dip, and planarity score, and render the fault as an interactive 3D wireframe mesh."</a:t>
            </a:r>
          </a:p>
          <a:p>
            <a:endParaRPr/>
          </a:p>
          <a:p>
            <a:r>
              <a:t>[VISUAL ACTION: Walk through RANSAC filtering -&gt; SVD normal vector -&gt; fitted 3D plane on the right]</a:t>
            </a:r>
          </a:p>
        </p:txBody>
      </p:sp>
      <p:sp>
        <p:nvSpPr>
          <p:cNvPr id="266" name="Google Shape;26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11 | TIME: 7:00 - 7:45 | TARGET: 45 SECONDS]</a:t>
            </a:r>
          </a:p>
          <a:p>
            <a:endParaRPr/>
          </a:p>
          <a:p>
            <a:r>
              <a:t>SPEECH (EN):</a:t>
            </a:r>
          </a:p>
          <a:p>
            <a:r>
              <a:t>"We also solved two subtle algorithmic challenges that came up during testing.</a:t>
            </a:r>
          </a:p>
          <a:p>
            <a:endParaRPr/>
          </a:p>
          <a:p>
            <a:r>
              <a:t>First, caldera ring faults curve across the volcano. To handle this, we introduced Cylinder Partitioning, cutting the volume into vertical cylindrical wedges where faults are locally planar.</a:t>
            </a:r>
          </a:p>
          <a:p>
            <a:r>
              <a:t>Second, when running clustering across 4D time steps, standard algorithms randomly reassign cluster IDs between frames. This caused colors to flicker chaotically in the animation.</a:t>
            </a:r>
          </a:p>
          <a:p>
            <a:r>
              <a:t>To fix this, we created a Global Label Matching algorithm. For each new time frame, it takes a stochastic sample of 200 points per cluster, finds their nearest neighbors in the previous frame, and performs spatial majority voting with greedy assignment.</a:t>
            </a:r>
          </a:p>
          <a:p>
            <a:r>
              <a:t>This keeps colors and cluster identities perfectly stable across the entire animation."</a:t>
            </a:r>
          </a:p>
          <a:p>
            <a:endParaRPr/>
          </a:p>
          <a:p>
            <a:r>
              <a:t>[VISUAL ACTION: Explain the color flickering problem on the left and the smooth spatial voting solution on the right]</a:t>
            </a:r>
          </a:p>
        </p:txBody>
      </p:sp>
      <p:sp>
        <p:nvSpPr>
          <p:cNvPr id="282" name="Google Shape;28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12 | TIME: 7:45 - 8:30 | TARGET: 45 SECONDS]</a:t>
            </a:r>
          </a:p>
          <a:p>
            <a:endParaRPr/>
          </a:p>
          <a:p>
            <a:r>
              <a:t>SPEECH (EN):</a:t>
            </a:r>
          </a:p>
          <a:p>
            <a:r>
              <a:t>"Now, let's look at the data engineering pipeline and the choices we made.</a:t>
            </a:r>
          </a:p>
          <a:p>
            <a:endParaRPr/>
          </a:p>
          <a:p>
            <a:r>
              <a:t>The application ingests data either by querying the INGV GOSSIP REST API online, or through local CSV files. It handles coordinate conversion, date parsing, and metadata cleaning.</a:t>
            </a:r>
          </a:p>
          <a:p>
            <a:r>
              <a:t>Here, we made a crucial design choice regarding missing depths: earthquakes with null or missing depth are kept in the 2D catalogue for completeness, but they are strictly excluded from 3D and 4D spatial computations. Otherwise, they would artificially flatten onto sea level at depth zero and corrupt fault plane fitting.</a:t>
            </a:r>
          </a:p>
          <a:p>
            <a:endParaRPr/>
          </a:p>
          <a:p>
            <a:r>
              <a:t>Furthermore, to avoid sending bulky JSON over the wire, we built a Float32 binary streaming protocol.</a:t>
            </a:r>
          </a:p>
          <a:p>
            <a:r>
              <a:t>Instead of parsing thousands of JSON objects, the server streams a raw, contiguous Float32 binary buffer directly into a JavaScript typed array. This slashed payload size by nearly 80% and dropped browser unpacking time from 40 milliseconds to less than 0.01 milliseconds."</a:t>
            </a:r>
          </a:p>
          <a:p>
            <a:endParaRPr/>
          </a:p>
          <a:p>
            <a:r>
              <a:t>[VISUAL ACTION: Point to the data pipeline steps and highlight the 80% compression and instant parsing]</a:t>
            </a:r>
          </a:p>
        </p:txBody>
      </p:sp>
      <p:sp>
        <p:nvSpPr>
          <p:cNvPr id="298" name="Google Shape;29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13 | TIME: 8:30 - 9:15 | TARGET: 45 SECONDS]</a:t>
            </a:r>
          </a:p>
          <a:p>
            <a:endParaRPr/>
          </a:p>
          <a:p>
            <a:r>
              <a:t>SPEECH (EN):</a:t>
            </a:r>
          </a:p>
          <a:p>
            <a:r>
              <a:t>"To validate the system, we carried out extensive benchmarks:</a:t>
            </a:r>
          </a:p>
          <a:p>
            <a:endParaRPr/>
          </a:p>
          <a:p>
            <a:r>
              <a:t>First, in Monte Carlo simulations across 500 synthetic faults with noise and 30% random outliers, our RANSAC-SVD method achieved a Mean Absolute Error of 0.51 degrees for Dip, and 0.93 degrees for Strike.</a:t>
            </a:r>
          </a:p>
          <a:p>
            <a:r>
              <a:t>Second, on the real Campi Flegrei catalogue of 3,225 earthquakes, clustering and plane fitting completed in less than 42 milliseconds.</a:t>
            </a:r>
          </a:p>
          <a:p>
            <a:r>
              <a:t>Third, in stress tests with 50,000 synthetic hypocenters, WebGL maintained a smooth 55 to 60 frames per second.</a:t>
            </a:r>
          </a:p>
          <a:p>
            <a:r>
              <a:t>And memory management benchmarks confirmed that our session caching and FIFO eviction keep RAM usage strictly below 500 megabytes throughout extended sessions."</a:t>
            </a:r>
          </a:p>
          <a:p>
            <a:endParaRPr/>
          </a:p>
          <a:p>
            <a:r>
              <a:t>[VISUAL ACTION: Point to the validation metrics in the table: Monte Carlo MAE, 42ms clustering, 60 FPS stress test]</a:t>
            </a:r>
          </a:p>
        </p:txBody>
      </p:sp>
      <p:sp>
        <p:nvSpPr>
          <p:cNvPr id="325" name="Google Shape;325;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[SLIDE 14 | TIME: 9:15 - 9:40 | TARGET: 25 SECONDS]</a:t>
            </a:r>
          </a:p>
          <a:p>
            <a:endParaRPr/>
          </a:p>
          <a:p>
            <a:r>
              <a:t>SPEECH (EN):</a:t>
            </a:r>
          </a:p>
          <a:p>
            <a:r>
              <a:t>"In conclusion, Seismic Viewer delivers a lightweight, accessible, and fast tool that bridges the gap between raw seismological data and interactive 3D and 4D exploration.</a:t>
            </a:r>
          </a:p>
          <a:p>
            <a:r>
              <a:t>It was developed and validated in close collaboration with INGV researchers to directly support volcano monitoring.</a:t>
            </a:r>
          </a:p>
          <a:p>
            <a:r>
              <a:t>Looking ahead, future improvements will focus on real-time WebSocket push notifications from INGV feeds, WebGPU shaders for on-the-fly clustering, and focal mechanism beachball inversions.</a:t>
            </a:r>
          </a:p>
          <a:p>
            <a:endParaRPr/>
          </a:p>
          <a:p>
            <a:r>
              <a:t>Thank you very much for your time and attention. I would be glad to answer any questions."</a:t>
            </a:r>
          </a:p>
          <a:p>
            <a:endParaRPr/>
          </a:p>
          <a:p>
            <a:r>
              <a:t>[VISUAL ACTION: Thank the committee and supervisors, open the floor for Q&amp;A at exactly ~9m 40s]</a:t>
            </a:r>
          </a:p>
        </p:txBody>
      </p:sp>
      <p:sp>
        <p:nvSpPr>
          <p:cNvPr id="349" name="Google Shape;349;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83"/>
        <p:cNvGrpSpPr/>
        <p:nvPr/>
      </p:nvGrpSpPr>
      <p:grpSpPr>
        <a:xfrm>
          <a:off x="0" y="0"/>
          <a:ext cx="0" cy="0"/>
          <a:chOff x="0" y="0"/>
          <a:chExt cx="0" cy="0"/>
        </a:xfrm>
      </p:grpSpPr>
      <p:sp>
        <p:nvSpPr>
          <p:cNvPr id="85" name="Google Shape;85;p13"/>
          <p:cNvSpPr/>
          <p:nvPr/>
        </p:nvSpPr>
        <p:spPr>
          <a:xfrm>
            <a:off x="762000" y="2489001"/>
            <a:ext cx="1200000" cy="45000"/>
          </a:xfrm>
          <a:prstGeom prst="rect">
            <a:avLst/>
          </a:prstGeom>
          <a:solidFill>
            <a:srgbClr val="822433"/>
          </a:solidFill>
          <a:ln w="12700">
            <a:solidFill>
              <a:srgbClr val="E4DED4"/>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txBox="1"/>
          <p:nvPr/>
        </p:nvSpPr>
        <p:spPr>
          <a:xfrm>
            <a:off x="762000" y="2727126"/>
            <a:ext cx="11430000" cy="52566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defRPr b="1">
                <a:solidFill>
                  <a:srgbClr val="822433"/>
                </a:solidFill>
              </a:defRPr>
            </a:pPr>
            <a:r>
              <a:rPr lang="en-US" sz="3600" b="1" i="0" u="none" strike="noStrike" cap="none">
                <a:solidFill>
                  <a:srgbClr val="822433"/>
                </a:solidFill>
                <a:latin typeface="Cinzel"/>
                <a:ea typeface="Cinzel"/>
                <a:cs typeface="Cinzel"/>
                <a:sym typeface="Cinzel"/>
              </a:rPr>
              <a:t>Seismic Viewer</a:t>
            </a:r>
            <a:endParaRPr/>
          </a:p>
        </p:txBody>
      </p:sp>
      <p:sp>
        <p:nvSpPr>
          <p:cNvPr id="88" name="Google Shape;88;p13"/>
          <p:cNvSpPr txBox="1"/>
          <p:nvPr/>
        </p:nvSpPr>
        <p:spPr>
          <a:xfrm>
            <a:off x="762000" y="3405187"/>
            <a:ext cx="8477250" cy="54471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defRPr b="0">
                <a:solidFill>
                  <a:srgbClr val="1C1819"/>
                </a:solidFill>
              </a:defRPr>
            </a:pPr>
            <a:r>
              <a:rPr lang="en-US" sz="1650" b="0" i="0" u="none" strike="noStrike" cap="none">
                <a:solidFill>
                  <a:srgbClr val="1C1819"/>
                </a:solidFill>
                <a:latin typeface="Plus Jakarta Sans"/>
                <a:ea typeface="Plus Jakarta Sans"/>
                <a:cs typeface="Plus Jakarta Sans"/>
                <a:sym typeface="Plus Jakarta Sans"/>
              </a:rPr>
              <a:t>Design, Implementation and Evaluation of an Interactive 4D Spatio-Temporal Visualisation System for Seismological Data</a:t>
            </a:r>
            <a:endParaRPr/>
          </a:p>
        </p:txBody>
      </p:sp>
      <p:sp>
        <p:nvSpPr>
          <p:cNvPr id="89" name="Google Shape;89;p13"/>
          <p:cNvSpPr txBox="1"/>
          <p:nvPr/>
        </p:nvSpPr>
        <p:spPr>
          <a:xfrm>
            <a:off x="762000" y="620000"/>
            <a:ext cx="732234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1">
                <a:solidFill>
                  <a:srgbClr val="822433"/>
                </a:solidFill>
              </a:defRPr>
            </a:pPr>
            <a:r>
              <a:rPr lang="en-US" sz="1300" b="1" i="0" u="none" strike="noStrike" cap="none">
                <a:solidFill>
                  <a:srgbClr val="822433"/>
                </a:solidFill>
                <a:latin typeface="Cinzel"/>
                <a:ea typeface="Cinzel"/>
                <a:cs typeface="Cinzel"/>
                <a:sym typeface="Cinzel"/>
              </a:rPr>
              <a:t>SAPIENZA UNIVERSITY OF ROME</a:t>
            </a:r>
            <a:endParaRPr/>
          </a:p>
        </p:txBody>
      </p:sp>
      <p:sp>
        <p:nvSpPr>
          <p:cNvPr id="90" name="Google Shape;90;p13"/>
          <p:cNvSpPr txBox="1"/>
          <p:nvPr/>
        </p:nvSpPr>
        <p:spPr>
          <a:xfrm>
            <a:off x="762000" y="900000"/>
            <a:ext cx="7322343"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204060"/>
                </a:solidFill>
              </a:defRPr>
            </a:pPr>
            <a:r>
              <a:rPr lang="en-US" sz="1150" b="0" i="0" u="none" strike="noStrike" cap="none">
                <a:solidFill>
                  <a:srgbClr val="204060"/>
                </a:solidFill>
                <a:latin typeface="Plus Jakarta Sans"/>
                <a:ea typeface="Plus Jakarta Sans"/>
                <a:cs typeface="Plus Jakarta Sans"/>
                <a:sym typeface="Plus Jakarta Sans"/>
              </a:rPr>
              <a:t>Faculty of Information Engineering, Computer Science and Statistics • ACSAI • A.Y. 2025/2026</a:t>
            </a:r>
            <a:endParaRPr/>
          </a:p>
        </p:txBody>
      </p:sp>
      <p:sp>
        <p:nvSpPr>
          <p:cNvPr id="91" name="Google Shape;91;p13"/>
          <p:cNvSpPr txBox="1"/>
          <p:nvPr/>
        </p:nvSpPr>
        <p:spPr>
          <a:xfrm>
            <a:off x="762000" y="520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Candidate</a:t>
            </a:r>
            <a:endParaRPr/>
          </a:p>
        </p:txBody>
      </p:sp>
      <p:sp>
        <p:nvSpPr>
          <p:cNvPr id="92" name="Google Shape;92;p13"/>
          <p:cNvSpPr txBox="1"/>
          <p:nvPr/>
        </p:nvSpPr>
        <p:spPr>
          <a:xfrm>
            <a:off x="762000" y="5480000"/>
            <a:ext cx="28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Alessio Curcio</a:t>
            </a:r>
            <a:endParaRPr/>
          </a:p>
        </p:txBody>
      </p:sp>
      <p:sp>
        <p:nvSpPr>
          <p:cNvPr id="93" name="Google Shape;93;p13"/>
          <p:cNvSpPr txBox="1"/>
          <p:nvPr/>
        </p:nvSpPr>
        <p:spPr>
          <a:xfrm>
            <a:off x="762000" y="582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0">
                <a:solidFill>
                  <a:srgbClr val="5A5052"/>
                </a:solidFill>
              </a:defRPr>
            </a:pPr>
            <a:r>
              <a:rPr lang="en-US" sz="1200" b="0" i="0" u="none" strike="noStrike" cap="none">
                <a:solidFill>
                  <a:srgbClr val="5A5052"/>
                </a:solidFill>
                <a:latin typeface="Plus Jakarta Sans"/>
                <a:ea typeface="Plus Jakarta Sans"/>
                <a:cs typeface="Plus Jakarta Sans"/>
                <a:sym typeface="Plus Jakarta Sans"/>
              </a:rPr>
              <a:t>ID: 2120317</a:t>
            </a:r>
            <a:endParaRPr/>
          </a:p>
        </p:txBody>
      </p:sp>
      <p:sp>
        <p:nvSpPr>
          <p:cNvPr id="94" name="Google Shape;94;p13"/>
          <p:cNvSpPr txBox="1"/>
          <p:nvPr/>
        </p:nvSpPr>
        <p:spPr>
          <a:xfrm>
            <a:off x="4600000" y="5200000"/>
            <a:ext cx="34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Academic Supervisor</a:t>
            </a:r>
            <a:endParaRPr/>
          </a:p>
        </p:txBody>
      </p:sp>
      <p:sp>
        <p:nvSpPr>
          <p:cNvPr id="95" name="Google Shape;95;p13"/>
          <p:cNvSpPr txBox="1"/>
          <p:nvPr/>
        </p:nvSpPr>
        <p:spPr>
          <a:xfrm>
            <a:off x="4600000" y="5480000"/>
            <a:ext cx="34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Prof. Danilo Avola</a:t>
            </a:r>
            <a:endParaRPr/>
          </a:p>
        </p:txBody>
      </p:sp>
      <p:sp>
        <p:nvSpPr>
          <p:cNvPr id="96" name="Google Shape;96;p13"/>
          <p:cNvSpPr txBox="1"/>
          <p:nvPr/>
        </p:nvSpPr>
        <p:spPr>
          <a:xfrm>
            <a:off x="8400000" y="5200000"/>
            <a:ext cx="32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Co-Supervisor</a:t>
            </a:r>
            <a:endParaRPr/>
          </a:p>
        </p:txBody>
      </p:sp>
      <p:sp>
        <p:nvSpPr>
          <p:cNvPr id="97" name="Google Shape;97;p13"/>
          <p:cNvSpPr txBox="1"/>
          <p:nvPr/>
        </p:nvSpPr>
        <p:spPr>
          <a:xfrm>
            <a:off x="8400000" y="5480000"/>
            <a:ext cx="32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Dr. Daniele Bailo</a:t>
            </a:r>
            <a:endParaRPr/>
          </a:p>
        </p:txBody>
      </p:sp>
      <p:pic>
        <p:nvPicPr>
          <p:cNvPr id="98" name="Picture 97" descr="sapienza_logo.png"/>
          <p:cNvPicPr>
            <a:picLocks noChangeAspect="1"/>
          </p:cNvPicPr>
          <p:nvPr/>
        </p:nvPicPr>
        <p:blipFill>
          <a:blip r:embed="rId3"/>
          <a:stretch>
            <a:fillRect/>
          </a:stretch>
        </p:blipFill>
        <p:spPr>
          <a:xfrm>
            <a:off x="8000000" y="480000"/>
            <a:ext cx="3400000" cy="1020000"/>
          </a:xfrm>
          <a:prstGeom prst="rect">
            <a:avLst/>
          </a:prstGeom>
        </p:spPr>
      </p:pic>
      <p:sp>
        <p:nvSpPr>
          <p:cNvPr id="9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01"/>
        <p:cNvGrpSpPr/>
        <p:nvPr/>
      </p:nvGrpSpPr>
      <p:grpSpPr>
        <a:xfrm>
          <a:off x="0" y="0"/>
          <a:ext cx="0" cy="0"/>
          <a:chOff x="0" y="0"/>
          <a:chExt cx="0" cy="0"/>
        </a:xfrm>
      </p:grpSpPr>
      <p:sp>
        <p:nvSpPr>
          <p:cNvPr id="102" name="Google Shape;102;p14"/>
          <p:cNvSpPr/>
          <p:nvPr/>
        </p:nvSpPr>
        <p:spPr>
          <a:xfrm>
            <a:off x="609600" y="2200000"/>
            <a:ext cx="3505200" cy="2850000"/>
          </a:xfrm>
          <a:prstGeom prst="roundRect">
            <a:avLst>
              <a:gd name="adj" fmla="val 573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3" name="Google Shape;103;p14"/>
          <p:cNvSpPr/>
          <p:nvPr/>
        </p:nvSpPr>
        <p:spPr>
          <a:xfrm>
            <a:off x="4343400" y="2200000"/>
            <a:ext cx="3505200" cy="2850000"/>
          </a:xfrm>
          <a:prstGeom prst="roundRect">
            <a:avLst>
              <a:gd name="adj" fmla="val 6320"/>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4" name="Google Shape;104;p14"/>
          <p:cNvSpPr/>
          <p:nvPr/>
        </p:nvSpPr>
        <p:spPr>
          <a:xfrm>
            <a:off x="8077200" y="2200000"/>
            <a:ext cx="3505200" cy="2850000"/>
          </a:xfrm>
          <a:prstGeom prst="roundRect">
            <a:avLst>
              <a:gd name="adj" fmla="val 5737"/>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05" name="Google Shape;105;p14" descr="image.png"/>
          <p:cNvPicPr preferRelativeResize="0"/>
          <p:nvPr/>
        </p:nvPicPr>
        <p:blipFill rotWithShape="1">
          <a:blip r:embed="rId3">
            <a:alphaModFix/>
          </a:blip>
          <a:srcRect/>
          <a:stretch/>
        </p:blipFill>
        <p:spPr>
          <a:xfrm>
            <a:off x="847725" y="2470000"/>
            <a:ext cx="419100" cy="419100"/>
          </a:xfrm>
          <a:prstGeom prst="rect">
            <a:avLst/>
          </a:prstGeom>
          <a:noFill/>
          <a:ln>
            <a:noFill/>
          </a:ln>
        </p:spPr>
      </p:pic>
      <p:pic>
        <p:nvPicPr>
          <p:cNvPr id="106" name="Google Shape;106;p14" descr="image.png"/>
          <p:cNvPicPr preferRelativeResize="0"/>
          <p:nvPr/>
        </p:nvPicPr>
        <p:blipFill rotWithShape="1">
          <a:blip r:embed="rId4">
            <a:alphaModFix/>
          </a:blip>
          <a:srcRect/>
          <a:stretch/>
        </p:blipFill>
        <p:spPr>
          <a:xfrm>
            <a:off x="4581525" y="2470000"/>
            <a:ext cx="419100" cy="419100"/>
          </a:xfrm>
          <a:prstGeom prst="rect">
            <a:avLst/>
          </a:prstGeom>
          <a:noFill/>
          <a:ln>
            <a:noFill/>
          </a:ln>
        </p:spPr>
      </p:pic>
      <p:pic>
        <p:nvPicPr>
          <p:cNvPr id="107" name="Google Shape;107;p14" descr="image.png"/>
          <p:cNvPicPr preferRelativeResize="0"/>
          <p:nvPr/>
        </p:nvPicPr>
        <p:blipFill rotWithShape="1">
          <a:blip r:embed="rId5">
            <a:alphaModFix/>
          </a:blip>
          <a:srcRect/>
          <a:stretch/>
        </p:blipFill>
        <p:spPr>
          <a:xfrm>
            <a:off x="8315325" y="2470000"/>
            <a:ext cx="419100" cy="419100"/>
          </a:xfrm>
          <a:prstGeom prst="rect">
            <a:avLst/>
          </a:prstGeom>
          <a:noFill/>
          <a:ln>
            <a:noFill/>
          </a:ln>
        </p:spPr>
      </p:pic>
      <p:pic>
        <p:nvPicPr>
          <p:cNvPr id="108" name="Google Shape;108;p14" descr="image.png"/>
          <p:cNvPicPr preferRelativeResize="0"/>
          <p:nvPr/>
        </p:nvPicPr>
        <p:blipFill rotWithShape="1">
          <a:blip r:embed="rId6">
            <a:alphaModFix/>
          </a:blip>
          <a:srcRect/>
          <a:stretch/>
        </p:blipFill>
        <p:spPr>
          <a:xfrm>
            <a:off x="962025" y="2580000"/>
            <a:ext cx="190500" cy="190500"/>
          </a:xfrm>
          <a:prstGeom prst="rect">
            <a:avLst/>
          </a:prstGeom>
          <a:noFill/>
          <a:ln>
            <a:noFill/>
          </a:ln>
        </p:spPr>
      </p:pic>
      <p:pic>
        <p:nvPicPr>
          <p:cNvPr id="109" name="Google Shape;109;p14" descr="image.png"/>
          <p:cNvPicPr preferRelativeResize="0"/>
          <p:nvPr/>
        </p:nvPicPr>
        <p:blipFill rotWithShape="1">
          <a:blip r:embed="rId7">
            <a:alphaModFix/>
          </a:blip>
          <a:srcRect/>
          <a:stretch/>
        </p:blipFill>
        <p:spPr>
          <a:xfrm>
            <a:off x="4681537" y="2580000"/>
            <a:ext cx="219075" cy="190500"/>
          </a:xfrm>
          <a:prstGeom prst="rect">
            <a:avLst/>
          </a:prstGeom>
          <a:noFill/>
          <a:ln>
            <a:noFill/>
          </a:ln>
        </p:spPr>
      </p:pic>
      <p:pic>
        <p:nvPicPr>
          <p:cNvPr id="110" name="Google Shape;110;p14" descr="image.png"/>
          <p:cNvPicPr preferRelativeResize="0"/>
          <p:nvPr/>
        </p:nvPicPr>
        <p:blipFill rotWithShape="1">
          <a:blip r:embed="rId8">
            <a:alphaModFix/>
          </a:blip>
          <a:srcRect/>
          <a:stretch/>
        </p:blipFill>
        <p:spPr>
          <a:xfrm>
            <a:off x="8405812" y="2580000"/>
            <a:ext cx="238125" cy="190500"/>
          </a:xfrm>
          <a:prstGeom prst="rect">
            <a:avLst/>
          </a:prstGeom>
          <a:noFill/>
          <a:ln>
            <a:noFill/>
          </a:ln>
        </p:spPr>
      </p:pic>
      <p:sp>
        <p:nvSpPr>
          <p:cNvPr id="111" name="Google Shape;111;p1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DOMAIN CONTEXT &amp; RESEARCH MOTIVATION</a:t>
            </a:r>
            <a:endParaRPr/>
          </a:p>
        </p:txBody>
      </p:sp>
      <p:sp>
        <p:nvSpPr>
          <p:cNvPr id="112" name="Google Shape;112;p14"/>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The Campi Flegrei Volcanic Challenge</a:t>
            </a:r>
            <a:endParaRPr/>
          </a:p>
        </p:txBody>
      </p:sp>
      <p:sp>
        <p:nvSpPr>
          <p:cNvPr id="113" name="Google Shape;113;p14"/>
          <p:cNvSpPr txBox="1"/>
          <p:nvPr/>
        </p:nvSpPr>
        <p:spPr>
          <a:xfrm>
            <a:off x="847725" y="3050000"/>
            <a:ext cx="3975496"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B85828"/>
                </a:solidFill>
              </a:defRPr>
            </a:pPr>
            <a:r>
              <a:rPr lang="en-US" sz="1700" b="1" i="0" u="none" strike="noStrike" cap="none">
                <a:solidFill>
                  <a:srgbClr val="B85828"/>
                </a:solidFill>
                <a:latin typeface="Plus Jakarta Sans"/>
                <a:ea typeface="Plus Jakarta Sans"/>
                <a:cs typeface="Plus Jakarta Sans"/>
                <a:sym typeface="Plus Jakarta Sans"/>
              </a:rPr>
              <a:t>Active Volcanic Unrest</a:t>
            </a:r>
            <a:endParaRPr/>
          </a:p>
        </p:txBody>
      </p:sp>
      <p:sp>
        <p:nvSpPr>
          <p:cNvPr id="114" name="Google Shape;114;p14"/>
          <p:cNvSpPr txBox="1"/>
          <p:nvPr/>
        </p:nvSpPr>
        <p:spPr>
          <a:xfrm>
            <a:off x="847725" y="3450000"/>
            <a:ext cx="3124200" cy="14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Ongoing bradyseismic uplift and dense swarm seismicity since 2005 demand continuous, multi-parametric spatial monitoring.</a:t>
            </a:r>
            <a:endParaRPr/>
          </a:p>
        </p:txBody>
      </p:sp>
      <p:sp>
        <p:nvSpPr>
          <p:cNvPr id="115" name="Google Shape;115;p14"/>
          <p:cNvSpPr txBox="1"/>
          <p:nvPr/>
        </p:nvSpPr>
        <p:spPr>
          <a:xfrm>
            <a:off x="4581525" y="3050000"/>
            <a:ext cx="2742819"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Planar Fault Structures</a:t>
            </a:r>
            <a:endParaRPr dirty="0"/>
          </a:p>
        </p:txBody>
      </p:sp>
      <p:sp>
        <p:nvSpPr>
          <p:cNvPr id="116" name="Google Shape;116;p14"/>
          <p:cNvSpPr txBox="1"/>
          <p:nvPr/>
        </p:nvSpPr>
        <p:spPr>
          <a:xfrm>
            <a:off x="4581525" y="3450000"/>
            <a:ext cx="3124200" cy="1500411"/>
          </a:xfrm>
          <a:prstGeom prst="rect">
            <a:avLst/>
          </a:prstGeom>
          <a:noFill/>
          <a:ln>
            <a:noFill/>
          </a:ln>
        </p:spPr>
        <p:txBody>
          <a:bodyPr spcFirstLastPara="1" wrap="square" lIns="0" tIns="0" rIns="0" bIns="0" anchor="t" anchorCtr="0">
            <a:spAutoFit/>
          </a:bodyPr>
          <a:lstStyle/>
          <a:p>
            <a:pPr>
              <a:lnSpc>
                <a:spcPct val="150000"/>
              </a:lnSpc>
              <a:defRPr sz="1300">
                <a:solidFill>
                  <a:srgbClr val="1C1819"/>
                </a:solidFill>
              </a:defRPr>
            </a:pPr>
            <a:r>
              <a:rPr sz="1300" dirty="0">
                <a:solidFill>
                  <a:srgbClr val="1C1819"/>
                </a:solidFill>
                <a:latin typeface="Plus Jakarta Sans" panose="020B0604020202020204" charset="0"/>
                <a:cs typeface="Plus Jakarta Sans" panose="020B0604020202020204" charset="0"/>
              </a:rPr>
              <a:t>Recent studies (Giordano, Alfonsi, Nature Comm. 2025) demonstrate that </a:t>
            </a:r>
            <a:r>
              <a:rPr sz="1300" dirty="0" err="1">
                <a:solidFill>
                  <a:srgbClr val="1C1819"/>
                </a:solidFill>
                <a:latin typeface="Plus Jakarta Sans" panose="020B0604020202020204" charset="0"/>
                <a:cs typeface="Plus Jakarta Sans" panose="020B0604020202020204" charset="0"/>
              </a:rPr>
              <a:t>hypocentres</a:t>
            </a:r>
            <a:r>
              <a:rPr sz="1300" dirty="0">
                <a:solidFill>
                  <a:srgbClr val="1C1819"/>
                </a:solidFill>
                <a:latin typeface="Plus Jakarta Sans" panose="020B0604020202020204" charset="0"/>
                <a:cs typeface="Plus Jakarta Sans" panose="020B0604020202020204" charset="0"/>
              </a:rPr>
              <a:t> delineate growing planar faults rather than diffuse isotropic clusters.</a:t>
            </a:r>
          </a:p>
        </p:txBody>
      </p:sp>
      <p:sp>
        <p:nvSpPr>
          <p:cNvPr id="117" name="Google Shape;117;p14"/>
          <p:cNvSpPr txBox="1"/>
          <p:nvPr/>
        </p:nvSpPr>
        <p:spPr>
          <a:xfrm>
            <a:off x="8315325" y="3050000"/>
            <a:ext cx="2849499"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822433"/>
                </a:solidFill>
              </a:defRPr>
            </a:pPr>
            <a:r>
              <a:rPr lang="en-US" sz="1700" b="1" i="0" u="none" strike="noStrike" cap="none" dirty="0">
                <a:solidFill>
                  <a:srgbClr val="822433"/>
                </a:solidFill>
                <a:latin typeface="Plus Jakarta Sans"/>
                <a:ea typeface="Plus Jakarta Sans"/>
                <a:cs typeface="Plus Jakarta Sans"/>
                <a:sym typeface="Plus Jakarta Sans"/>
              </a:rPr>
              <a:t>INGV Operational Need</a:t>
            </a:r>
            <a:endParaRPr dirty="0"/>
          </a:p>
        </p:txBody>
      </p:sp>
      <p:sp>
        <p:nvSpPr>
          <p:cNvPr id="118" name="Google Shape;118;p14"/>
          <p:cNvSpPr txBox="1"/>
          <p:nvPr/>
        </p:nvSpPr>
        <p:spPr>
          <a:xfrm>
            <a:off x="8315325" y="3450000"/>
            <a:ext cx="3124200" cy="14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Geophysicists require an interactive desktop system bridging raw catalogues, tomography models, and automated fault plane extraction.</a:t>
            </a:r>
            <a:endParaRPr/>
          </a:p>
        </p:txBody>
      </p:sp>
      <p:pic>
        <p:nvPicPr>
          <p:cNvPr id="119" name="Picture 118" descr="sapienza_logo.png"/>
          <p:cNvPicPr>
            <a:picLocks noChangeAspect="1"/>
          </p:cNvPicPr>
          <p:nvPr/>
        </p:nvPicPr>
        <p:blipFill>
          <a:blip r:embed="rId9"/>
          <a:stretch>
            <a:fillRect/>
          </a:stretch>
        </p:blipFill>
        <p:spPr>
          <a:xfrm>
            <a:off x="9750000" y="400000"/>
            <a:ext cx="1900000" cy="570000"/>
          </a:xfrm>
          <a:prstGeom prst="rect">
            <a:avLst/>
          </a:prstGeom>
        </p:spPr>
      </p:pic>
      <p:sp>
        <p:nvSpPr>
          <p:cNvPr id="120"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22"/>
        <p:cNvGrpSpPr/>
        <p:nvPr/>
      </p:nvGrpSpPr>
      <p:grpSpPr>
        <a:xfrm>
          <a:off x="0" y="0"/>
          <a:ext cx="0" cy="0"/>
          <a:chOff x="0" y="0"/>
          <a:chExt cx="0" cy="0"/>
        </a:xfrm>
      </p:grpSpPr>
      <p:sp>
        <p:nvSpPr>
          <p:cNvPr id="123" name="Google Shape;123;p15"/>
          <p:cNvSpPr/>
          <p:nvPr/>
        </p:nvSpPr>
        <p:spPr>
          <a:xfrm>
            <a:off x="609600" y="2200000"/>
            <a:ext cx="3505200" cy="2850000"/>
          </a:xfrm>
          <a:prstGeom prst="roundRect">
            <a:avLst>
              <a:gd name="adj" fmla="val 549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4" name="Google Shape;124;p15"/>
          <p:cNvSpPr/>
          <p:nvPr/>
        </p:nvSpPr>
        <p:spPr>
          <a:xfrm>
            <a:off x="4343400" y="2200000"/>
            <a:ext cx="3505200" cy="2850000"/>
          </a:xfrm>
          <a:prstGeom prst="roundRect">
            <a:avLst>
              <a:gd name="adj" fmla="val 549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5" name="Google Shape;125;p15"/>
          <p:cNvSpPr/>
          <p:nvPr/>
        </p:nvSpPr>
        <p:spPr>
          <a:xfrm>
            <a:off x="8077200" y="2200000"/>
            <a:ext cx="3505200" cy="2850000"/>
          </a:xfrm>
          <a:prstGeom prst="roundRect">
            <a:avLst>
              <a:gd name="adj" fmla="val 5499"/>
            </a:avLst>
          </a:prstGeom>
          <a:solidFill>
            <a:srgbClr val="FBF4F3"/>
          </a:solidFill>
          <a:ln w="19050" cap="flat" cmpd="sng">
            <a:solidFill>
              <a:srgbClr val="82243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6" name="Google Shape;126;p1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STATE OF THE ART &amp; TOOLING COMPARISON</a:t>
            </a:r>
            <a:endParaRPr/>
          </a:p>
        </p:txBody>
      </p:sp>
      <p:sp>
        <p:nvSpPr>
          <p:cNvPr id="127" name="Google Shape;127;p15"/>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Bridging the Seismological Visualisation Gap</a:t>
            </a:r>
            <a:endParaRPr/>
          </a:p>
        </p:txBody>
      </p:sp>
      <p:sp>
        <p:nvSpPr>
          <p:cNvPr id="128" name="Google Shape;128;p15"/>
          <p:cNvSpPr txBox="1"/>
          <p:nvPr/>
        </p:nvSpPr>
        <p:spPr>
          <a:xfrm>
            <a:off x="8667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a:solidFill>
                  <a:srgbClr val="204060"/>
                </a:solidFill>
                <a:latin typeface="Plus Jakarta Sans"/>
                <a:ea typeface="Plus Jakarta Sans"/>
                <a:cs typeface="Plus Jakarta Sans"/>
                <a:sym typeface="Plus Jakarta Sans"/>
              </a:rPr>
              <a:t>GIS PLATFORMS</a:t>
            </a:r>
            <a:endParaRPr/>
          </a:p>
        </p:txBody>
      </p:sp>
      <p:sp>
        <p:nvSpPr>
          <p:cNvPr id="129" name="Google Shape;129;p15"/>
          <p:cNvSpPr txBox="1"/>
          <p:nvPr/>
        </p:nvSpPr>
        <p:spPr>
          <a:xfrm>
            <a:off x="866775" y="2620000"/>
            <a:ext cx="3925490"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dirty="0">
                <a:solidFill>
                  <a:srgbClr val="1C1819"/>
                </a:solidFill>
                <a:latin typeface="Plus Jakarta Sans"/>
                <a:ea typeface="Plus Jakarta Sans"/>
                <a:cs typeface="Plus Jakarta Sans"/>
                <a:sym typeface="Plus Jakarta Sans"/>
              </a:rPr>
              <a:t>QGIS &amp; ArcGIS</a:t>
            </a:r>
            <a:endParaRPr dirty="0"/>
          </a:p>
        </p:txBody>
      </p:sp>
      <p:sp>
        <p:nvSpPr>
          <p:cNvPr id="130" name="Google Shape;130;p15"/>
          <p:cNvSpPr txBox="1"/>
          <p:nvPr/>
        </p:nvSpPr>
        <p:spPr>
          <a:xfrm>
            <a:off x="46005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dirty="0">
                <a:solidFill>
                  <a:srgbClr val="204060"/>
                </a:solidFill>
                <a:latin typeface="Plus Jakarta Sans"/>
                <a:ea typeface="Plus Jakarta Sans"/>
                <a:cs typeface="Plus Jakarta Sans"/>
                <a:sym typeface="Plus Jakarta Sans"/>
              </a:rPr>
              <a:t>SCIENTIFIC CODE</a:t>
            </a:r>
            <a:endParaRPr dirty="0"/>
          </a:p>
        </p:txBody>
      </p:sp>
      <p:sp>
        <p:nvSpPr>
          <p:cNvPr id="131" name="Google Shape;131;p15"/>
          <p:cNvSpPr txBox="1"/>
          <p:nvPr/>
        </p:nvSpPr>
        <p:spPr>
          <a:xfrm>
            <a:off x="4600575" y="2620000"/>
            <a:ext cx="3925490"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ObsPy &amp; GMT</a:t>
            </a:r>
            <a:endParaRPr/>
          </a:p>
        </p:txBody>
      </p:sp>
      <p:sp>
        <p:nvSpPr>
          <p:cNvPr id="132" name="Google Shape;132;p15"/>
          <p:cNvSpPr txBox="1"/>
          <p:nvPr/>
        </p:nvSpPr>
        <p:spPr>
          <a:xfrm>
            <a:off x="8334375" y="2400000"/>
            <a:ext cx="3738562"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822433"/>
                </a:solidFill>
              </a:defRPr>
            </a:pPr>
            <a:r>
              <a:rPr lang="en-US" sz="1050" b="1" i="0" u="none" strike="noStrike" cap="none">
                <a:solidFill>
                  <a:srgbClr val="822433"/>
                </a:solidFill>
                <a:latin typeface="Plus Jakarta Sans"/>
                <a:ea typeface="Plus Jakarta Sans"/>
                <a:cs typeface="Plus Jakarta Sans"/>
                <a:sym typeface="Plus Jakarta Sans"/>
              </a:rPr>
              <a:t>OUR SOLUTION</a:t>
            </a:r>
            <a:endParaRPr/>
          </a:p>
        </p:txBody>
      </p:sp>
      <p:sp>
        <p:nvSpPr>
          <p:cNvPr id="133" name="Google Shape;133;p15"/>
          <p:cNvSpPr txBox="1"/>
          <p:nvPr/>
        </p:nvSpPr>
        <p:spPr>
          <a:xfrm>
            <a:off x="8334375" y="2620000"/>
            <a:ext cx="3857625" cy="22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800" b="1">
                <a:solidFill>
                  <a:srgbClr val="822433"/>
                </a:solidFill>
              </a:defRPr>
            </a:pPr>
            <a:r>
              <a:rPr lang="en-US" sz="1800" b="1" i="0" u="none" strike="noStrike" cap="none" dirty="0">
                <a:solidFill>
                  <a:srgbClr val="822433"/>
                </a:solidFill>
                <a:latin typeface="Plus Jakarta Sans"/>
                <a:ea typeface="Plus Jakarta Sans"/>
                <a:cs typeface="Plus Jakarta Sans"/>
                <a:sym typeface="Plus Jakarta Sans"/>
              </a:rPr>
              <a:t>Seismic Viewer</a:t>
            </a:r>
            <a:endParaRPr dirty="0"/>
          </a:p>
        </p:txBody>
      </p:sp>
      <p:sp>
        <p:nvSpPr>
          <p:cNvPr id="134" name="Google Shape;134;p15"/>
          <p:cNvSpPr txBox="1"/>
          <p:nvPr/>
        </p:nvSpPr>
        <p:spPr>
          <a:xfrm>
            <a:off x="8667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2D Projection Bias: Flattens depth dimension into 2D maps.</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3D Latency: Frame drops with dense </a:t>
            </a:r>
            <a:r>
              <a:rPr lang="en-US" sz="1300" dirty="0" err="1">
                <a:solidFill>
                  <a:srgbClr val="1C1819"/>
                </a:solidFill>
                <a:latin typeface="Plus Jakarta Sans"/>
                <a:ea typeface="Plus Jakarta Sans"/>
                <a:cs typeface="Plus Jakarta Sans"/>
                <a:sym typeface="Plus Jakarta Sans"/>
              </a:rPr>
              <a:t>hypocentral</a:t>
            </a:r>
            <a:r>
              <a:rPr lang="en-US" sz="1300" dirty="0">
                <a:solidFill>
                  <a:srgbClr val="1C1819"/>
                </a:solidFill>
                <a:latin typeface="Plus Jakarta Sans"/>
                <a:ea typeface="Plus Jakarta Sans"/>
                <a:cs typeface="Plus Jakarta Sans"/>
                <a:sym typeface="Plus Jakarta Sans"/>
              </a:rPr>
              <a:t> point clouds.</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No Time Playback: Lacks integrated 4D fault plane tracking.</a:t>
            </a:r>
            <a:endParaRPr lang="en-US" dirty="0"/>
          </a:p>
          <a:p>
            <a:pPr>
              <a:lnSpc>
                <a:spcPct val="140000"/>
              </a:lnSpc>
              <a:defRPr sz="1300" b="0">
                <a:solidFill>
                  <a:srgbClr val="1C1819"/>
                </a:solidFill>
              </a:defRPr>
            </a:pPr>
            <a:endParaRPr lang="en-US" dirty="0"/>
          </a:p>
          <a:p>
            <a:pPr marL="0" marR="0" lvl="0" indent="0" algn="l" rtl="0">
              <a:lnSpc>
                <a:spcPct val="140000"/>
              </a:lnSpc>
              <a:spcBef>
                <a:spcPts val="0"/>
              </a:spcBef>
              <a:spcAft>
                <a:spcPts val="0"/>
              </a:spcAft>
              <a:buNone/>
              <a:defRPr sz="1300" b="0">
                <a:solidFill>
                  <a:srgbClr val="1C1819"/>
                </a:solidFill>
              </a:defRPr>
            </a:pPr>
            <a:endParaRPr dirty="0"/>
          </a:p>
        </p:txBody>
      </p:sp>
      <p:sp>
        <p:nvSpPr>
          <p:cNvPr id="137" name="Google Shape;137;p15"/>
          <p:cNvSpPr txBox="1"/>
          <p:nvPr/>
        </p:nvSpPr>
        <p:spPr>
          <a:xfrm>
            <a:off x="46005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Static Figures: Produces batch PNG/PDF plots without interaction.</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Steep Curve: Requires constant command-line scripting.</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Isolated Steps: No real-time geometric model fitting.</a:t>
            </a:r>
            <a:endParaRPr lang="en-US" dirty="0"/>
          </a:p>
          <a:p>
            <a:pPr>
              <a:lnSpc>
                <a:spcPct val="140000"/>
              </a:lnSpc>
              <a:defRPr sz="1300" b="0">
                <a:solidFill>
                  <a:srgbClr val="1C1819"/>
                </a:solidFill>
              </a:defRPr>
            </a:pPr>
            <a:endParaRPr lang="en-US" dirty="0"/>
          </a:p>
          <a:p>
            <a:pPr marL="0" marR="0" lvl="0" indent="0" algn="l" rtl="0">
              <a:lnSpc>
                <a:spcPct val="140000"/>
              </a:lnSpc>
              <a:spcBef>
                <a:spcPts val="0"/>
              </a:spcBef>
              <a:spcAft>
                <a:spcPts val="0"/>
              </a:spcAft>
              <a:buNone/>
              <a:defRPr sz="1300" b="0">
                <a:solidFill>
                  <a:srgbClr val="1C1819"/>
                </a:solidFill>
              </a:defRPr>
            </a:pPr>
            <a:endParaRPr dirty="0"/>
          </a:p>
        </p:txBody>
      </p:sp>
      <p:sp>
        <p:nvSpPr>
          <p:cNvPr id="140" name="Google Shape;140;p15"/>
          <p:cNvSpPr txBox="1"/>
          <p:nvPr/>
        </p:nvSpPr>
        <p:spPr>
          <a:xfrm>
            <a:off x="8334375" y="2959658"/>
            <a:ext cx="3086100" cy="224061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Interactive 4D: WebGL GPU rendering across space and time.</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Fault Plane Fitting: Automated RANSAC + SVD extraction.</a:t>
            </a:r>
          </a:p>
          <a:p>
            <a:pPr>
              <a:lnSpc>
                <a:spcPct val="140000"/>
              </a:lnSpc>
              <a:defRPr sz="1300" b="0">
                <a:solidFill>
                  <a:srgbClr val="1C1819"/>
                </a:solidFill>
              </a:defRPr>
            </a:pPr>
            <a:r>
              <a:rPr lang="en-US" sz="1300" dirty="0">
                <a:solidFill>
                  <a:srgbClr val="1C1819"/>
                </a:solidFill>
                <a:latin typeface="Plus Jakarta Sans"/>
                <a:ea typeface="Plus Jakarta Sans"/>
                <a:cs typeface="Plus Jakarta Sans"/>
                <a:sym typeface="Plus Jakarta Sans"/>
              </a:rPr>
              <a:t>Sub-Second Response: Float32 binary streaming protocol.</a:t>
            </a:r>
            <a:endParaRPr lang="en-US" dirty="0"/>
          </a:p>
          <a:p>
            <a:pPr>
              <a:lnSpc>
                <a:spcPct val="140000"/>
              </a:lnSpc>
              <a:defRPr sz="1300" b="0">
                <a:solidFill>
                  <a:srgbClr val="1C1819"/>
                </a:solidFill>
              </a:defRPr>
            </a:pPr>
            <a:endParaRPr lang="en-US" dirty="0"/>
          </a:p>
          <a:p>
            <a:pPr marL="0" marR="0" lvl="0" indent="0" algn="l" rtl="0">
              <a:lnSpc>
                <a:spcPct val="140000"/>
              </a:lnSpc>
              <a:spcBef>
                <a:spcPts val="0"/>
              </a:spcBef>
              <a:spcAft>
                <a:spcPts val="0"/>
              </a:spcAft>
              <a:buNone/>
              <a:defRPr sz="1300" b="0">
                <a:solidFill>
                  <a:srgbClr val="1C1819"/>
                </a:solidFill>
              </a:defRPr>
            </a:pPr>
            <a:endParaRPr dirty="0"/>
          </a:p>
        </p:txBody>
      </p:sp>
      <p:pic>
        <p:nvPicPr>
          <p:cNvPr id="143" name="Picture 142"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14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46"/>
        <p:cNvGrpSpPr/>
        <p:nvPr/>
      </p:nvGrpSpPr>
      <p:grpSpPr>
        <a:xfrm>
          <a:off x="0" y="0"/>
          <a:ext cx="0" cy="0"/>
          <a:chOff x="0" y="0"/>
          <a:chExt cx="0" cy="0"/>
        </a:xfrm>
      </p:grpSpPr>
      <p:pic>
        <p:nvPicPr>
          <p:cNvPr id="169" name="Picture 168" descr="sapienza_logo.png"/>
          <p:cNvPicPr>
            <a:picLocks noChangeAspect="1"/>
          </p:cNvPicPr>
          <p:nvPr/>
        </p:nvPicPr>
        <p:blipFill>
          <a:blip r:embed="rId3"/>
          <a:stretch>
            <a:fillRect/>
          </a:stretch>
        </p:blipFill>
        <p:spPr>
          <a:xfrm>
            <a:off x="9750000" y="380000"/>
            <a:ext cx="1900000" cy="570000"/>
          </a:xfrm>
          <a:prstGeom prst="rect">
            <a:avLst/>
          </a:prstGeom>
        </p:spPr>
      </p:pic>
      <p:sp>
        <p:nvSpPr>
          <p:cNvPr id="170" name="Rectangle 169"/>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609600" y="560000"/>
            <a:ext cx="9000000" cy="180000"/>
          </a:xfrm>
          <a:prstGeom prst="rect">
            <a:avLst/>
          </a:prstGeom>
          <a:noFill/>
        </p:spPr>
        <p:txBody>
          <a:bodyPr wrap="square" lIns="0" tIns="0" rIns="0" bIns="0">
            <a:spAutoFit/>
          </a:bodyPr>
          <a:lstStyle/>
          <a:p>
            <a:pPr>
              <a:defRPr sz="1100" b="1">
                <a:solidFill>
                  <a:srgbClr val="204060"/>
                </a:solidFill>
                <a:latin typeface="Arial"/>
              </a:defRPr>
            </a:pPr>
            <a:r>
              <a:t>SYSTEM DESIGN &amp; SPECIFICATIONS</a:t>
            </a:r>
          </a:p>
        </p:txBody>
      </p:sp>
      <p:sp>
        <p:nvSpPr>
          <p:cNvPr id="172" name="TextBox 171"/>
          <p:cNvSpPr txBox="1"/>
          <p:nvPr/>
        </p:nvSpPr>
        <p:spPr>
          <a:xfrm>
            <a:off x="609600" y="800000"/>
            <a:ext cx="9000000" cy="420000"/>
          </a:xfrm>
          <a:prstGeom prst="rect">
            <a:avLst/>
          </a:prstGeom>
          <a:noFill/>
        </p:spPr>
        <p:txBody>
          <a:bodyPr wrap="none" lIns="0" tIns="0" rIns="0" bIns="0">
            <a:spAutoFit/>
          </a:bodyPr>
          <a:lstStyle/>
          <a:p>
            <a:pPr>
              <a:defRPr sz="2500" b="1">
                <a:solidFill>
                  <a:srgbClr val="822433"/>
                </a:solidFill>
                <a:latin typeface="Arial"/>
              </a:defRPr>
            </a:pPr>
            <a:r>
              <a:t>System Requirements &amp; Implementation Timeline</a:t>
            </a:r>
          </a:p>
        </p:txBody>
      </p:sp>
      <p:sp>
        <p:nvSpPr>
          <p:cNvPr id="173" name="Rounded Rectangle 172"/>
          <p:cNvSpPr/>
          <p:nvPr/>
        </p:nvSpPr>
        <p:spPr>
          <a:xfrm>
            <a:off x="609600" y="1420000"/>
            <a:ext cx="5376672" cy="3000000"/>
          </a:xfrm>
          <a:prstGeom prst="roundRect">
            <a:avLst/>
          </a:prstGeom>
          <a:solidFill>
            <a:srgbClr val="FBF4F3"/>
          </a:solidFill>
          <a:ln w="15240">
            <a:solidFill>
              <a:srgbClr val="E8D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893064" y="1722784"/>
            <a:ext cx="4919472" cy="2408352"/>
          </a:xfrm>
          <a:prstGeom prst="rect">
            <a:avLst/>
          </a:prstGeom>
          <a:noFill/>
        </p:spPr>
        <p:txBody>
          <a:bodyPr wrap="square" lIns="0" tIns="0" rIns="0" bIns="0">
            <a:spAutoFit/>
          </a:bodyPr>
          <a:lstStyle/>
          <a:p>
            <a:pPr>
              <a:spcAft>
                <a:spcPts val="1200"/>
              </a:spcAft>
              <a:defRPr sz="1600" b="1">
                <a:solidFill>
                  <a:srgbClr val="641423"/>
                </a:solidFill>
                <a:latin typeface="Arial"/>
              </a:defRPr>
            </a:pPr>
            <a:r>
              <a:rPr dirty="0">
                <a:latin typeface="Plus Jakarta Sans" panose="020B0604020202020204" charset="0"/>
                <a:cs typeface="Plus Jakarta Sans" panose="020B0604020202020204" charset="0"/>
              </a:rPr>
              <a:t>Functional Requirements</a:t>
            </a:r>
          </a:p>
          <a:p>
            <a:pPr>
              <a:spcAft>
                <a:spcPts val="900"/>
              </a:spcAft>
            </a:pPr>
            <a:r>
              <a:rPr sz="1200" b="1" dirty="0">
                <a:solidFill>
                  <a:srgbClr val="641423"/>
                </a:solidFill>
                <a:latin typeface="Plus Jakarta Sans" panose="020B0604020202020204" charset="0"/>
                <a:cs typeface="Plus Jakarta Sans" panose="020B0604020202020204" charset="0"/>
              </a:rPr>
              <a:t>•  Multi-Modal 4D Navigation: </a:t>
            </a:r>
            <a:r>
              <a:rPr sz="1200" dirty="0">
                <a:solidFill>
                  <a:srgbClr val="302A2C"/>
                </a:solidFill>
                <a:latin typeface="Plus Jakarta Sans" panose="020B0604020202020204" charset="0"/>
                <a:cs typeface="Plus Jakarta Sans" panose="020B0604020202020204" charset="0"/>
              </a:rPr>
              <a:t>Real-time toggle between synchronized 2D map, 3D WebGL point cloud, and 4D temporal playback.</a:t>
            </a:r>
          </a:p>
          <a:p>
            <a:pPr>
              <a:spcAft>
                <a:spcPts val="900"/>
              </a:spcAft>
            </a:pPr>
            <a:r>
              <a:rPr sz="1200" b="1" dirty="0">
                <a:solidFill>
                  <a:srgbClr val="641423"/>
                </a:solidFill>
                <a:latin typeface="Plus Jakarta Sans" panose="020B0604020202020204" charset="0"/>
                <a:cs typeface="Plus Jakarta Sans" panose="020B0604020202020204" charset="0"/>
              </a:rPr>
              <a:t>•  Automated Fault Extraction: </a:t>
            </a:r>
            <a:r>
              <a:rPr sz="1200" dirty="0">
                <a:solidFill>
                  <a:srgbClr val="302A2C"/>
                </a:solidFill>
                <a:latin typeface="Plus Jakarta Sans" panose="020B0604020202020204" charset="0"/>
                <a:cs typeface="Plus Jakarta Sans" panose="020B0604020202020204" charset="0"/>
              </a:rPr>
              <a:t>Mathematical plane fitting (RANSAC + SVD) computing Strike, Dip, and planarity ratio.</a:t>
            </a:r>
          </a:p>
          <a:p>
            <a:pPr>
              <a:spcAft>
                <a:spcPts val="900"/>
              </a:spcAft>
            </a:pPr>
            <a:r>
              <a:rPr sz="1200" b="1" dirty="0">
                <a:solidFill>
                  <a:srgbClr val="641423"/>
                </a:solidFill>
                <a:latin typeface="Plus Jakarta Sans" panose="020B0604020202020204" charset="0"/>
                <a:cs typeface="Plus Jakarta Sans" panose="020B0604020202020204" charset="0"/>
              </a:rPr>
              <a:t>•  Multi-Layer Geophysical Fusion: </a:t>
            </a:r>
            <a:r>
              <a:rPr sz="1200" dirty="0">
                <a:solidFill>
                  <a:srgbClr val="302A2C"/>
                </a:solidFill>
                <a:latin typeface="Plus Jakarta Sans" panose="020B0604020202020204" charset="0"/>
                <a:cs typeface="Plus Jakarta Sans" panose="020B0604020202020204" charset="0"/>
              </a:rPr>
              <a:t>Volumetric 3D tomography (</a:t>
            </a:r>
            <a:r>
              <a:rPr sz="1200" dirty="0" err="1">
                <a:solidFill>
                  <a:srgbClr val="302A2C"/>
                </a:solidFill>
                <a:latin typeface="Plus Jakarta Sans" panose="020B0604020202020204" charset="0"/>
                <a:cs typeface="Plus Jakarta Sans" panose="020B0604020202020204" charset="0"/>
              </a:rPr>
              <a:t>Vp</a:t>
            </a:r>
            <a:r>
              <a:rPr sz="1200" dirty="0">
                <a:solidFill>
                  <a:srgbClr val="302A2C"/>
                </a:solidFill>
                <a:latin typeface="Plus Jakarta Sans" panose="020B0604020202020204" charset="0"/>
                <a:cs typeface="Plus Jakarta Sans" panose="020B0604020202020204" charset="0"/>
              </a:rPr>
              <a:t>/Vs), GNSS surface ground uplift, and seismic stations.</a:t>
            </a:r>
          </a:p>
          <a:p>
            <a:pPr>
              <a:spcAft>
                <a:spcPts val="900"/>
              </a:spcAft>
            </a:pPr>
            <a:r>
              <a:rPr sz="1200" b="1" dirty="0">
                <a:solidFill>
                  <a:srgbClr val="641423"/>
                </a:solidFill>
                <a:latin typeface="Plus Jakarta Sans" panose="020B0604020202020204" charset="0"/>
                <a:cs typeface="Plus Jakarta Sans" panose="020B0604020202020204" charset="0"/>
              </a:rPr>
              <a:t>•  Dual Catalogue Ingestion: </a:t>
            </a:r>
            <a:r>
              <a:rPr sz="1200" dirty="0">
                <a:solidFill>
                  <a:srgbClr val="302A2C"/>
                </a:solidFill>
                <a:latin typeface="Plus Jakarta Sans" panose="020B0604020202020204" charset="0"/>
                <a:cs typeface="Plus Jakarta Sans" panose="020B0604020202020204" charset="0"/>
              </a:rPr>
              <a:t>Direct automated queries to INGV GOSSIP API and offline local CSV parsing engine.</a:t>
            </a:r>
          </a:p>
        </p:txBody>
      </p:sp>
      <p:sp>
        <p:nvSpPr>
          <p:cNvPr id="175" name="Rounded Rectangle 174"/>
          <p:cNvSpPr/>
          <p:nvPr/>
        </p:nvSpPr>
        <p:spPr>
          <a:xfrm>
            <a:off x="6205728" y="1420000"/>
            <a:ext cx="5376672" cy="3000000"/>
          </a:xfrm>
          <a:prstGeom prst="roundRect">
            <a:avLst/>
          </a:prstGeom>
          <a:solidFill>
            <a:srgbClr val="F2F6FA"/>
          </a:solidFill>
          <a:ln w="15240">
            <a:solidFill>
              <a:srgbClr val="D0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6489192" y="1722784"/>
            <a:ext cx="4919472" cy="2223686"/>
          </a:xfrm>
          <a:prstGeom prst="rect">
            <a:avLst/>
          </a:prstGeom>
          <a:noFill/>
        </p:spPr>
        <p:txBody>
          <a:bodyPr wrap="square" lIns="0" tIns="0" rIns="0" bIns="0">
            <a:spAutoFit/>
          </a:bodyPr>
          <a:lstStyle/>
          <a:p>
            <a:pPr>
              <a:spcAft>
                <a:spcPts val="1200"/>
              </a:spcAft>
              <a:defRPr sz="1600" b="1">
                <a:solidFill>
                  <a:srgbClr val="204060"/>
                </a:solidFill>
                <a:latin typeface="Arial"/>
              </a:defRPr>
            </a:pPr>
            <a:r>
              <a:rPr dirty="0">
                <a:latin typeface="Plus Jakarta Sans" panose="020B0604020202020204" charset="0"/>
                <a:cs typeface="Plus Jakarta Sans" panose="020B0604020202020204" charset="0"/>
              </a:rPr>
              <a:t>Non-Functional Requirements</a:t>
            </a:r>
          </a:p>
          <a:p>
            <a:pPr>
              <a:spcAft>
                <a:spcPts val="900"/>
              </a:spcAft>
            </a:pPr>
            <a:r>
              <a:rPr sz="1200" b="1" dirty="0">
                <a:solidFill>
                  <a:srgbClr val="204060"/>
                </a:solidFill>
                <a:latin typeface="Plus Jakarta Sans" panose="020B0604020202020204" charset="0"/>
                <a:cs typeface="Plus Jakarta Sans" panose="020B0604020202020204" charset="0"/>
              </a:rPr>
              <a:t>•  Real-Time Rendering: </a:t>
            </a:r>
            <a:r>
              <a:rPr sz="1200" dirty="0">
                <a:solidFill>
                  <a:srgbClr val="302A2C"/>
                </a:solidFill>
                <a:latin typeface="Plus Jakarta Sans" panose="020B0604020202020204" charset="0"/>
                <a:cs typeface="Plus Jakarta Sans" panose="020B0604020202020204" charset="0"/>
              </a:rPr>
              <a:t>Sustained 50–60 FPS with up to 50,000 seismic </a:t>
            </a:r>
            <a:r>
              <a:rPr sz="1200" dirty="0" err="1">
                <a:solidFill>
                  <a:srgbClr val="302A2C"/>
                </a:solidFill>
                <a:latin typeface="Plus Jakarta Sans" panose="020B0604020202020204" charset="0"/>
                <a:cs typeface="Plus Jakarta Sans" panose="020B0604020202020204" charset="0"/>
              </a:rPr>
              <a:t>hypocentres</a:t>
            </a:r>
            <a:r>
              <a:rPr sz="1200" dirty="0">
                <a:solidFill>
                  <a:srgbClr val="302A2C"/>
                </a:solidFill>
                <a:latin typeface="Plus Jakarta Sans" panose="020B0604020202020204" charset="0"/>
                <a:cs typeface="Plus Jakarta Sans" panose="020B0604020202020204" charset="0"/>
              </a:rPr>
              <a:t> via WebGL GPU instancing.</a:t>
            </a:r>
          </a:p>
          <a:p>
            <a:pPr>
              <a:spcAft>
                <a:spcPts val="900"/>
              </a:spcAft>
            </a:pPr>
            <a:r>
              <a:rPr sz="1200" b="1" dirty="0">
                <a:solidFill>
                  <a:srgbClr val="204060"/>
                </a:solidFill>
                <a:latin typeface="Plus Jakarta Sans" panose="020B0604020202020204" charset="0"/>
                <a:cs typeface="Plus Jakarta Sans" panose="020B0604020202020204" charset="0"/>
              </a:rPr>
              <a:t>•  Sub-Second Latency: </a:t>
            </a:r>
            <a:r>
              <a:rPr sz="1200" dirty="0">
                <a:solidFill>
                  <a:srgbClr val="302A2C"/>
                </a:solidFill>
                <a:latin typeface="Plus Jakarta Sans" panose="020B0604020202020204" charset="0"/>
                <a:cs typeface="Plus Jakarta Sans" panose="020B0604020202020204" charset="0"/>
              </a:rPr>
              <a:t>Interactive clustering recalculation under 500 </a:t>
            </a:r>
            <a:r>
              <a:rPr sz="1200" dirty="0" err="1">
                <a:solidFill>
                  <a:srgbClr val="302A2C"/>
                </a:solidFill>
                <a:latin typeface="Plus Jakarta Sans" panose="020B0604020202020204" charset="0"/>
                <a:cs typeface="Plus Jakarta Sans" panose="020B0604020202020204" charset="0"/>
              </a:rPr>
              <a:t>ms</a:t>
            </a:r>
            <a:r>
              <a:rPr sz="1200" dirty="0">
                <a:solidFill>
                  <a:srgbClr val="302A2C"/>
                </a:solidFill>
                <a:latin typeface="Plus Jakarta Sans" panose="020B0604020202020204" charset="0"/>
                <a:cs typeface="Plus Jakarta Sans" panose="020B0604020202020204" charset="0"/>
              </a:rPr>
              <a:t> for instantaneous parameter tuning.</a:t>
            </a:r>
          </a:p>
          <a:p>
            <a:pPr>
              <a:spcAft>
                <a:spcPts val="900"/>
              </a:spcAft>
            </a:pPr>
            <a:r>
              <a:rPr sz="1200" b="1" dirty="0">
                <a:solidFill>
                  <a:srgbClr val="204060"/>
                </a:solidFill>
                <a:latin typeface="Plus Jakarta Sans" panose="020B0604020202020204" charset="0"/>
                <a:cs typeface="Plus Jakarta Sans" panose="020B0604020202020204" charset="0"/>
              </a:rPr>
              <a:t>•  Bounded Memory Footprint: </a:t>
            </a:r>
            <a:r>
              <a:rPr sz="1200" dirty="0">
                <a:solidFill>
                  <a:srgbClr val="302A2C"/>
                </a:solidFill>
                <a:latin typeface="Plus Jakarta Sans" panose="020B0604020202020204" charset="0"/>
                <a:cs typeface="Plus Jakarta Sans" panose="020B0604020202020204" charset="0"/>
              </a:rPr>
              <a:t>Native cross-platform desktop wrapper (</a:t>
            </a:r>
            <a:r>
              <a:rPr sz="1200" dirty="0" err="1">
                <a:solidFill>
                  <a:srgbClr val="302A2C"/>
                </a:solidFill>
                <a:latin typeface="Plus Jakarta Sans" panose="020B0604020202020204" charset="0"/>
                <a:cs typeface="Plus Jakarta Sans" panose="020B0604020202020204" charset="0"/>
              </a:rPr>
              <a:t>pywebview</a:t>
            </a:r>
            <a:r>
              <a:rPr sz="1200" dirty="0">
                <a:solidFill>
                  <a:srgbClr val="302A2C"/>
                </a:solidFill>
                <a:latin typeface="Plus Jakarta Sans" panose="020B0604020202020204" charset="0"/>
                <a:cs typeface="Plus Jakarta Sans" panose="020B0604020202020204" charset="0"/>
              </a:rPr>
              <a:t>) strictly under 500 MB RAM.</a:t>
            </a:r>
          </a:p>
          <a:p>
            <a:pPr>
              <a:spcAft>
                <a:spcPts val="900"/>
              </a:spcAft>
            </a:pPr>
            <a:r>
              <a:rPr sz="1200" b="1" dirty="0">
                <a:solidFill>
                  <a:srgbClr val="204060"/>
                </a:solidFill>
                <a:latin typeface="Plus Jakarta Sans" panose="020B0604020202020204" charset="0"/>
                <a:cs typeface="Plus Jakarta Sans" panose="020B0604020202020204" charset="0"/>
              </a:rPr>
              <a:t>•  Robust Data </a:t>
            </a:r>
            <a:r>
              <a:rPr sz="1200" b="1" dirty="0" err="1">
                <a:solidFill>
                  <a:srgbClr val="204060"/>
                </a:solidFill>
                <a:latin typeface="Plus Jakarta Sans" panose="020B0604020202020204" charset="0"/>
                <a:cs typeface="Plus Jakarta Sans" panose="020B0604020202020204" charset="0"/>
              </a:rPr>
              <a:t>Sanitisation</a:t>
            </a:r>
            <a:r>
              <a:rPr sz="1200" b="1" dirty="0">
                <a:solidFill>
                  <a:srgbClr val="204060"/>
                </a:solidFill>
                <a:latin typeface="Plus Jakarta Sans" panose="020B0604020202020204" charset="0"/>
                <a:cs typeface="Plus Jakarta Sans" panose="020B0604020202020204" charset="0"/>
              </a:rPr>
              <a:t>: </a:t>
            </a:r>
            <a:r>
              <a:rPr sz="1200" dirty="0">
                <a:solidFill>
                  <a:srgbClr val="302A2C"/>
                </a:solidFill>
                <a:latin typeface="Plus Jakarta Sans" panose="020B0604020202020204" charset="0"/>
                <a:cs typeface="Plus Jakarta Sans" panose="020B0604020202020204" charset="0"/>
              </a:rPr>
              <a:t>Safe exclusion of zero-depth and corrupted events to avoid artificial planar fitting artifacts.</a:t>
            </a:r>
          </a:p>
        </p:txBody>
      </p:sp>
      <p:sp>
        <p:nvSpPr>
          <p:cNvPr id="177" name="TextBox 176"/>
          <p:cNvSpPr txBox="1"/>
          <p:nvPr/>
        </p:nvSpPr>
        <p:spPr>
          <a:xfrm>
            <a:off x="609600" y="4680000"/>
            <a:ext cx="10972800" cy="161583"/>
          </a:xfrm>
          <a:prstGeom prst="rect">
            <a:avLst/>
          </a:prstGeom>
          <a:noFill/>
        </p:spPr>
        <p:txBody>
          <a:bodyPr wrap="square" lIns="0" tIns="0" rIns="0" bIns="0">
            <a:spAutoFit/>
          </a:bodyPr>
          <a:lstStyle/>
          <a:p>
            <a:r>
              <a:rPr sz="1050" b="1" dirty="0">
                <a:solidFill>
                  <a:srgbClr val="822433"/>
                </a:solidFill>
                <a:latin typeface="Arial"/>
              </a:rPr>
              <a:t>INTERNSHIP DEVELOPMENT TIMELINE</a:t>
            </a:r>
            <a:endParaRPr sz="950" i="1" dirty="0">
              <a:solidFill>
                <a:srgbClr val="736967"/>
              </a:solidFill>
              <a:latin typeface="Arial"/>
            </a:endParaRPr>
          </a:p>
        </p:txBody>
      </p:sp>
      <p:sp>
        <p:nvSpPr>
          <p:cNvPr id="178" name="Rectangle 177"/>
          <p:cNvSpPr/>
          <p:nvPr/>
        </p:nvSpPr>
        <p:spPr>
          <a:xfrm>
            <a:off x="646176" y="5098593"/>
            <a:ext cx="10936224" cy="45719"/>
          </a:xfrm>
          <a:prstGeom prst="rect">
            <a:avLst/>
          </a:prstGeom>
          <a:solidFill>
            <a:srgbClr val="D2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4142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1</a:t>
            </a:r>
          </a:p>
        </p:txBody>
      </p:sp>
      <p:sp>
        <p:nvSpPr>
          <p:cNvPr id="180" name="TextBox 179"/>
          <p:cNvSpPr txBox="1"/>
          <p:nvPr/>
        </p:nvSpPr>
        <p:spPr>
          <a:xfrm>
            <a:off x="646176" y="5283504"/>
            <a:ext cx="1755648" cy="1351360"/>
          </a:xfrm>
          <a:prstGeom prst="rect">
            <a:avLst/>
          </a:prstGeom>
          <a:noFill/>
        </p:spPr>
        <p:txBody>
          <a:bodyPr wrap="square" lIns="0" tIns="0" rIns="0" bIns="0">
            <a:spAutoFit/>
          </a:bodyPr>
          <a:lstStyle/>
          <a:p>
            <a:pPr>
              <a:spcAft>
                <a:spcPts val="200"/>
              </a:spcAft>
              <a:defRPr sz="850" b="1">
                <a:solidFill>
                  <a:srgbClr val="822433"/>
                </a:solidFill>
                <a:latin typeface="Arial"/>
              </a:defRPr>
            </a:pPr>
            <a:r>
              <a:t>PHASE 1</a:t>
            </a:r>
          </a:p>
          <a:p>
            <a:pPr>
              <a:spcAft>
                <a:spcPts val="300"/>
              </a:spcAft>
              <a:defRPr sz="1000" b="1">
                <a:solidFill>
                  <a:srgbClr val="1C1819"/>
                </a:solidFill>
                <a:latin typeface="Arial"/>
              </a:defRPr>
            </a:pPr>
            <a:r>
              <a:t>3D Prototype &amp; CSV</a:t>
            </a:r>
          </a:p>
          <a:p>
            <a:pPr>
              <a:defRPr sz="880">
                <a:solidFill>
                  <a:srgbClr val="302A2C"/>
                </a:solidFill>
                <a:latin typeface="Arial"/>
              </a:defRPr>
            </a:pPr>
            <a:r>
              <a:t>Hypocentre 3D cloud &amp; local CSV parser.</a:t>
            </a:r>
          </a:p>
        </p:txBody>
      </p:sp>
      <p:sp>
        <p:nvSpPr>
          <p:cNvPr id="181" name="Oval 180"/>
          <p:cNvSpPr/>
          <p:nvPr/>
        </p:nvSpPr>
        <p:spPr>
          <a:xfrm>
            <a:off x="32430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2</a:t>
            </a:r>
          </a:p>
        </p:txBody>
      </p:sp>
      <p:sp>
        <p:nvSpPr>
          <p:cNvPr id="182" name="TextBox 181"/>
          <p:cNvSpPr txBox="1"/>
          <p:nvPr/>
        </p:nvSpPr>
        <p:spPr>
          <a:xfrm>
            <a:off x="2474976" y="5283504"/>
            <a:ext cx="1755648" cy="1351360"/>
          </a:xfrm>
          <a:prstGeom prst="rect">
            <a:avLst/>
          </a:prstGeom>
          <a:noFill/>
        </p:spPr>
        <p:txBody>
          <a:bodyPr wrap="square" lIns="0" tIns="0" rIns="0" bIns="0">
            <a:spAutoFit/>
          </a:bodyPr>
          <a:lstStyle/>
          <a:p>
            <a:pPr>
              <a:spcAft>
                <a:spcPts val="200"/>
              </a:spcAft>
              <a:defRPr sz="850" b="1">
                <a:solidFill>
                  <a:srgbClr val="822433"/>
                </a:solidFill>
                <a:latin typeface="Arial"/>
              </a:defRPr>
            </a:pPr>
            <a:r>
              <a:t>PHASE 2</a:t>
            </a:r>
          </a:p>
          <a:p>
            <a:pPr>
              <a:spcAft>
                <a:spcPts val="300"/>
              </a:spcAft>
              <a:defRPr sz="1000" b="1">
                <a:solidFill>
                  <a:srgbClr val="1C1819"/>
                </a:solidFill>
                <a:latin typeface="Arial"/>
              </a:defRPr>
            </a:pPr>
            <a:r>
              <a:t>K-Means &amp; Bridge</a:t>
            </a:r>
          </a:p>
          <a:p>
            <a:pPr>
              <a:defRPr sz="880">
                <a:solidFill>
                  <a:srgbClr val="302A2C"/>
                </a:solidFill>
                <a:latin typeface="Arial"/>
              </a:defRPr>
            </a:pPr>
            <a:r>
              <a:t>Spatial clustering &amp; Python-WebView bridge.</a:t>
            </a:r>
          </a:p>
        </p:txBody>
      </p:sp>
      <p:sp>
        <p:nvSpPr>
          <p:cNvPr id="183" name="Oval 182"/>
          <p:cNvSpPr/>
          <p:nvPr/>
        </p:nvSpPr>
        <p:spPr>
          <a:xfrm>
            <a:off x="50718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3</a:t>
            </a:r>
          </a:p>
        </p:txBody>
      </p:sp>
      <p:sp>
        <p:nvSpPr>
          <p:cNvPr id="184" name="TextBox 183"/>
          <p:cNvSpPr txBox="1"/>
          <p:nvPr/>
        </p:nvSpPr>
        <p:spPr>
          <a:xfrm>
            <a:off x="4303776" y="5283504"/>
            <a:ext cx="1755648" cy="1351360"/>
          </a:xfrm>
          <a:prstGeom prst="rect">
            <a:avLst/>
          </a:prstGeom>
          <a:noFill/>
        </p:spPr>
        <p:txBody>
          <a:bodyPr wrap="square" lIns="0" tIns="0" rIns="0" bIns="0">
            <a:spAutoFit/>
          </a:bodyPr>
          <a:lstStyle/>
          <a:p>
            <a:pPr>
              <a:spcAft>
                <a:spcPts val="200"/>
              </a:spcAft>
              <a:defRPr sz="850" b="1">
                <a:solidFill>
                  <a:srgbClr val="822433"/>
                </a:solidFill>
                <a:latin typeface="Arial"/>
              </a:defRPr>
            </a:pPr>
            <a:r>
              <a:t>PHASE 3</a:t>
            </a:r>
          </a:p>
          <a:p>
            <a:pPr>
              <a:spcAft>
                <a:spcPts val="300"/>
              </a:spcAft>
              <a:defRPr sz="1000" b="1">
                <a:solidFill>
                  <a:srgbClr val="1C1819"/>
                </a:solidFill>
                <a:latin typeface="Arial"/>
              </a:defRPr>
            </a:pPr>
            <a:r>
              <a:t>UI &amp; GOSSIP API</a:t>
            </a:r>
          </a:p>
          <a:p>
            <a:pPr>
              <a:defRPr sz="880">
                <a:solidFill>
                  <a:srgbClr val="302A2C"/>
                </a:solidFill>
                <a:latin typeface="Arial"/>
              </a:defRPr>
            </a:pPr>
            <a:r>
              <a:t>Analytical dashboard &amp; INGV queries.</a:t>
            </a:r>
          </a:p>
        </p:txBody>
      </p:sp>
      <p:sp>
        <p:nvSpPr>
          <p:cNvPr id="185" name="Oval 184"/>
          <p:cNvSpPr/>
          <p:nvPr/>
        </p:nvSpPr>
        <p:spPr>
          <a:xfrm>
            <a:off x="69006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4</a:t>
            </a:r>
          </a:p>
        </p:txBody>
      </p:sp>
      <p:sp>
        <p:nvSpPr>
          <p:cNvPr id="186" name="TextBox 185"/>
          <p:cNvSpPr txBox="1"/>
          <p:nvPr/>
        </p:nvSpPr>
        <p:spPr>
          <a:xfrm>
            <a:off x="6132576" y="5283504"/>
            <a:ext cx="1755648" cy="1351360"/>
          </a:xfrm>
          <a:prstGeom prst="rect">
            <a:avLst/>
          </a:prstGeom>
          <a:noFill/>
        </p:spPr>
        <p:txBody>
          <a:bodyPr wrap="square" lIns="0" tIns="0" rIns="0" bIns="0">
            <a:spAutoFit/>
          </a:bodyPr>
          <a:lstStyle/>
          <a:p>
            <a:pPr>
              <a:spcAft>
                <a:spcPts val="200"/>
              </a:spcAft>
              <a:defRPr sz="850" b="1">
                <a:solidFill>
                  <a:srgbClr val="822433"/>
                </a:solidFill>
                <a:latin typeface="Arial"/>
              </a:defRPr>
            </a:pPr>
            <a:r>
              <a:t>PHASE 4</a:t>
            </a:r>
          </a:p>
          <a:p>
            <a:pPr>
              <a:spcAft>
                <a:spcPts val="300"/>
              </a:spcAft>
              <a:defRPr sz="1000" b="1">
                <a:solidFill>
                  <a:srgbClr val="1C1819"/>
                </a:solidFill>
                <a:latin typeface="Arial"/>
              </a:defRPr>
            </a:pPr>
            <a:r>
              <a:t>DBSCAN &amp; Cylinders</a:t>
            </a:r>
          </a:p>
          <a:p>
            <a:pPr>
              <a:defRPr sz="880">
                <a:solidFill>
                  <a:srgbClr val="302A2C"/>
                </a:solidFill>
                <a:latin typeface="Arial"/>
              </a:defRPr>
            </a:pPr>
            <a:r>
              <a:t>Knee tuning, 4D slicing &amp; cluster locking.</a:t>
            </a:r>
          </a:p>
        </p:txBody>
      </p:sp>
      <p:sp>
        <p:nvSpPr>
          <p:cNvPr id="187" name="Oval 186"/>
          <p:cNvSpPr/>
          <p:nvPr/>
        </p:nvSpPr>
        <p:spPr>
          <a:xfrm>
            <a:off x="8729472" y="5009184"/>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5</a:t>
            </a:r>
          </a:p>
        </p:txBody>
      </p:sp>
      <p:sp>
        <p:nvSpPr>
          <p:cNvPr id="188" name="TextBox 187"/>
          <p:cNvSpPr txBox="1"/>
          <p:nvPr/>
        </p:nvSpPr>
        <p:spPr>
          <a:xfrm>
            <a:off x="7961376" y="5283504"/>
            <a:ext cx="1447800" cy="619657"/>
          </a:xfrm>
          <a:prstGeom prst="rect">
            <a:avLst/>
          </a:prstGeom>
          <a:noFill/>
        </p:spPr>
        <p:txBody>
          <a:bodyPr wrap="square" lIns="0" tIns="0" rIns="0" bIns="0">
            <a:spAutoFit/>
          </a:bodyPr>
          <a:lstStyle/>
          <a:p>
            <a:pPr>
              <a:spcAft>
                <a:spcPts val="200"/>
              </a:spcAft>
              <a:defRPr sz="850" b="1">
                <a:solidFill>
                  <a:srgbClr val="822433"/>
                </a:solidFill>
                <a:latin typeface="Arial"/>
              </a:defRPr>
            </a:pPr>
            <a:r>
              <a:rPr dirty="0"/>
              <a:t>PHASE 5</a:t>
            </a:r>
          </a:p>
          <a:p>
            <a:pPr>
              <a:spcAft>
                <a:spcPts val="300"/>
              </a:spcAft>
              <a:defRPr sz="1000" b="1">
                <a:solidFill>
                  <a:srgbClr val="1C1819"/>
                </a:solidFill>
                <a:latin typeface="Arial"/>
              </a:defRPr>
            </a:pPr>
            <a:r>
              <a:rPr dirty="0"/>
              <a:t>Geophysical Layers</a:t>
            </a:r>
          </a:p>
          <a:p>
            <a:pPr>
              <a:defRPr sz="880">
                <a:solidFill>
                  <a:srgbClr val="302A2C"/>
                </a:solidFill>
                <a:latin typeface="Arial"/>
              </a:defRPr>
            </a:pPr>
            <a:r>
              <a:rPr dirty="0" err="1"/>
              <a:t>Vp</a:t>
            </a:r>
            <a:r>
              <a:rPr dirty="0"/>
              <a:t>/Vs tomography, GNSS surface &amp; stations.</a:t>
            </a:r>
          </a:p>
        </p:txBody>
      </p:sp>
      <p:sp>
        <p:nvSpPr>
          <p:cNvPr id="189" name="Oval 188"/>
          <p:cNvSpPr/>
          <p:nvPr/>
        </p:nvSpPr>
        <p:spPr>
          <a:xfrm>
            <a:off x="10558272" y="5009184"/>
            <a:ext cx="219456" cy="219456"/>
          </a:xfrm>
          <a:prstGeom prst="ellipse">
            <a:avLst/>
          </a:prstGeom>
          <a:solidFill>
            <a:srgbClr val="64142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6</a:t>
            </a:r>
          </a:p>
        </p:txBody>
      </p:sp>
      <p:sp>
        <p:nvSpPr>
          <p:cNvPr id="190" name="TextBox 189"/>
          <p:cNvSpPr txBox="1"/>
          <p:nvPr/>
        </p:nvSpPr>
        <p:spPr>
          <a:xfrm>
            <a:off x="9790176" y="5283504"/>
            <a:ext cx="1618488" cy="619657"/>
          </a:xfrm>
          <a:prstGeom prst="rect">
            <a:avLst/>
          </a:prstGeom>
          <a:noFill/>
        </p:spPr>
        <p:txBody>
          <a:bodyPr wrap="square" lIns="0" tIns="0" rIns="0" bIns="0">
            <a:spAutoFit/>
          </a:bodyPr>
          <a:lstStyle/>
          <a:p>
            <a:pPr>
              <a:spcAft>
                <a:spcPts val="200"/>
              </a:spcAft>
              <a:defRPr sz="850" b="1">
                <a:solidFill>
                  <a:srgbClr val="822433"/>
                </a:solidFill>
                <a:latin typeface="Arial"/>
              </a:defRPr>
            </a:pPr>
            <a:r>
              <a:rPr dirty="0"/>
              <a:t>PHASE 6</a:t>
            </a:r>
          </a:p>
          <a:p>
            <a:pPr>
              <a:spcAft>
                <a:spcPts val="300"/>
              </a:spcAft>
              <a:defRPr sz="1000" b="1">
                <a:solidFill>
                  <a:srgbClr val="1C1819"/>
                </a:solidFill>
                <a:latin typeface="Arial"/>
              </a:defRPr>
            </a:pPr>
            <a:r>
              <a:rPr dirty="0"/>
              <a:t>Streaming &amp; Async</a:t>
            </a:r>
          </a:p>
          <a:p>
            <a:pPr>
              <a:defRPr sz="880">
                <a:solidFill>
                  <a:srgbClr val="302A2C"/>
                </a:solidFill>
                <a:latin typeface="Arial"/>
              </a:defRPr>
            </a:pPr>
            <a:r>
              <a:rPr dirty="0"/>
              <a:t>Float32 binary streaming &amp; worker pool.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72"/>
        <p:cNvGrpSpPr/>
        <p:nvPr/>
      </p:nvGrpSpPr>
      <p:grpSpPr>
        <a:xfrm>
          <a:off x="0" y="0"/>
          <a:ext cx="0" cy="0"/>
          <a:chOff x="0" y="0"/>
          <a:chExt cx="0" cy="0"/>
        </a:xfrm>
      </p:grpSpPr>
      <p:sp>
        <p:nvSpPr>
          <p:cNvPr id="173" name="Google Shape;173;p17"/>
          <p:cNvSpPr/>
          <p:nvPr/>
        </p:nvSpPr>
        <p:spPr>
          <a:xfrm>
            <a:off x="609600" y="1890013"/>
            <a:ext cx="4785360" cy="1180000"/>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4" name="Google Shape;174;p17"/>
          <p:cNvSpPr/>
          <p:nvPr/>
        </p:nvSpPr>
        <p:spPr>
          <a:xfrm>
            <a:off x="609600" y="3190013"/>
            <a:ext cx="4785360" cy="1180000"/>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5" name="Google Shape;175;p17"/>
          <p:cNvSpPr/>
          <p:nvPr/>
        </p:nvSpPr>
        <p:spPr>
          <a:xfrm>
            <a:off x="609600" y="4490013"/>
            <a:ext cx="4785360" cy="1180000"/>
          </a:xfrm>
          <a:prstGeom prst="roundRect">
            <a:avLst>
              <a:gd name="adj" fmla="val 18421"/>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76" name="Google Shape;176;p17" descr="image.png"/>
          <p:cNvPicPr preferRelativeResize="0"/>
          <p:nvPr/>
        </p:nvPicPr>
        <p:blipFill rotWithShape="1">
          <a:blip r:embed="rId3">
            <a:alphaModFix/>
          </a:blip>
          <a:srcRect/>
          <a:stretch/>
        </p:blipFill>
        <p:spPr>
          <a:xfrm>
            <a:off x="5706367"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77" name="Google Shape;177;p17" descr="image.png"/>
          <p:cNvPicPr preferRelativeResize="0"/>
          <p:nvPr/>
        </p:nvPicPr>
        <p:blipFill rotWithShape="1">
          <a:blip r:embed="rId4">
            <a:alphaModFix/>
          </a:blip>
          <a:srcRect/>
          <a:stretch/>
        </p:blipFill>
        <p:spPr>
          <a:xfrm>
            <a:off x="5851547" y="2083122"/>
            <a:ext cx="5585671" cy="3586892"/>
          </a:xfrm>
          <a:prstGeom prst="rect">
            <a:avLst/>
          </a:prstGeom>
          <a:noFill/>
          <a:ln>
            <a:noFill/>
          </a:ln>
        </p:spPr>
      </p:pic>
      <p:sp>
        <p:nvSpPr>
          <p:cNvPr id="178" name="Google Shape;178;p17"/>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APPLICATION WORKSPACE • 2D MODE</a:t>
            </a:r>
            <a:endParaRPr/>
          </a:p>
        </p:txBody>
      </p:sp>
      <p:sp>
        <p:nvSpPr>
          <p:cNvPr id="179" name="Google Shape;179;p17"/>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2D Geospatial Map &amp; In-Browser Filtering</a:t>
            </a:r>
            <a:endParaRPr/>
          </a:p>
        </p:txBody>
      </p:sp>
      <p:sp>
        <p:nvSpPr>
          <p:cNvPr id="180" name="Google Shape;180;p17"/>
          <p:cNvSpPr txBox="1"/>
          <p:nvPr/>
        </p:nvSpPr>
        <p:spPr>
          <a:xfrm>
            <a:off x="754782" y="1890013"/>
            <a:ext cx="4594960" cy="123880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204060"/>
                </a:solidFill>
              </a:defRPr>
            </a:pPr>
            <a:r>
              <a:rPr lang="en-US" sz="1600" b="1" i="0" u="none" strike="noStrike" cap="none" dirty="0">
                <a:solidFill>
                  <a:srgbClr val="204060"/>
                </a:solidFill>
                <a:latin typeface="Plus Jakarta Sans"/>
                <a:ea typeface="Plus Jakarta Sans"/>
                <a:cs typeface="Plus Jakarta Sans"/>
                <a:sym typeface="Plus Jakarta Sans"/>
              </a:rPr>
              <a:t>Zero-Latency Local Filtering</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Magnitude, depth, and chronological slicing processed directly in JavaScript without backend roundtrips.</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204060"/>
                </a:solidFill>
              </a:defRPr>
            </a:pPr>
            <a:endParaRPr dirty="0"/>
          </a:p>
        </p:txBody>
      </p:sp>
      <p:sp>
        <p:nvSpPr>
          <p:cNvPr id="182" name="Google Shape;182;p17"/>
          <p:cNvSpPr txBox="1"/>
          <p:nvPr/>
        </p:nvSpPr>
        <p:spPr>
          <a:xfrm>
            <a:off x="800000" y="3194940"/>
            <a:ext cx="4050000" cy="1731243"/>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822433"/>
                </a:solidFill>
              </a:defRPr>
            </a:pPr>
            <a:r>
              <a:rPr lang="en-US" sz="1600" b="1" i="0" u="none" strike="noStrike" cap="none" dirty="0">
                <a:solidFill>
                  <a:srgbClr val="822433"/>
                </a:solidFill>
                <a:latin typeface="Plus Jakarta Sans"/>
                <a:ea typeface="Plus Jakarta Sans"/>
                <a:cs typeface="Plus Jakarta Sans"/>
                <a:sym typeface="Plus Jakarta Sans"/>
              </a:rPr>
              <a:t>Dual Layer </a:t>
            </a:r>
            <a:r>
              <a:rPr lang="en-US" sz="1600" b="1" i="0" u="none" strike="noStrike" cap="none" dirty="0" err="1">
                <a:solidFill>
                  <a:srgbClr val="822433"/>
                </a:solidFill>
                <a:latin typeface="Plus Jakarta Sans"/>
                <a:ea typeface="Plus Jakarta Sans"/>
                <a:cs typeface="Plus Jakarta Sans"/>
                <a:sym typeface="Plus Jakarta Sans"/>
              </a:rPr>
              <a:t>Visualisation</a:t>
            </a:r>
            <a:endParaRPr lang="en-US" sz="1600" b="1" i="0" u="none" strike="noStrike" cap="none" dirty="0">
              <a:solidFill>
                <a:srgbClr val="822433"/>
              </a:solidFill>
              <a:latin typeface="Plus Jakarta Sans"/>
              <a:ea typeface="Plus Jakarta Sans"/>
              <a:cs typeface="Plus Jakarta Sans"/>
              <a:sym typeface="Plus Jakarta Sans"/>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Switch seamlessly between proportional scatter markers and continuous kernel density heatmaps.</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lnSpc>
                <a:spcPct val="150000"/>
              </a:lnSpc>
              <a:spcBef>
                <a:spcPts val="0"/>
              </a:spcBef>
              <a:spcAft>
                <a:spcPts val="0"/>
              </a:spcAft>
              <a:buNone/>
              <a:defRPr sz="1600" b="1">
                <a:solidFill>
                  <a:srgbClr val="822433"/>
                </a:solidFill>
              </a:defRPr>
            </a:pPr>
            <a:endParaRPr lang="en-US" sz="1600" b="1" i="0" u="none" strike="noStrike" cap="none" dirty="0">
              <a:solidFill>
                <a:srgbClr val="822433"/>
              </a:solidFill>
              <a:latin typeface="Plus Jakarta Sans"/>
              <a:ea typeface="Plus Jakarta Sans"/>
              <a:cs typeface="Plus Jakarta Sans"/>
              <a:sym typeface="Plus Jakarta Sans"/>
            </a:endParaRPr>
          </a:p>
          <a:p>
            <a:pPr marL="0" marR="0" lvl="0" indent="0" algn="l" rtl="0">
              <a:lnSpc>
                <a:spcPct val="150000"/>
              </a:lnSpc>
              <a:spcBef>
                <a:spcPts val="0"/>
              </a:spcBef>
              <a:spcAft>
                <a:spcPts val="0"/>
              </a:spcAft>
              <a:buNone/>
              <a:defRPr sz="1600" b="1">
                <a:solidFill>
                  <a:srgbClr val="822433"/>
                </a:solidFill>
              </a:defRPr>
            </a:pPr>
            <a:endParaRPr dirty="0"/>
          </a:p>
        </p:txBody>
      </p:sp>
      <p:sp>
        <p:nvSpPr>
          <p:cNvPr id="184" name="Google Shape;184;p17"/>
          <p:cNvSpPr txBox="1"/>
          <p:nvPr/>
        </p:nvSpPr>
        <p:spPr>
          <a:xfrm>
            <a:off x="800000" y="4490013"/>
            <a:ext cx="4594960" cy="136191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236B5E"/>
                </a:solidFill>
              </a:defRPr>
            </a:pPr>
            <a:r>
              <a:rPr dirty="0" err="1">
                <a:latin typeface="Plus Jakarta Sans" panose="020B0604020202020204" charset="0"/>
                <a:cs typeface="Plus Jakarta Sans" panose="020B0604020202020204" charset="0"/>
              </a:rPr>
              <a:t>Spatio</a:t>
            </a:r>
            <a:r>
              <a:rPr dirty="0">
                <a:latin typeface="Plus Jakarta Sans" panose="020B0604020202020204" charset="0"/>
                <a:cs typeface="Plus Jakarta Sans" panose="020B0604020202020204" charset="0"/>
              </a:rPr>
              <a:t>-Temporal Swarm Isolation</a:t>
            </a:r>
            <a:endParaRPr lang="it-IT" dirty="0">
              <a:latin typeface="Plus Jakarta Sans" panose="020B0604020202020204" charset="0"/>
              <a:cs typeface="Plus Jakarta Sans" panose="020B0604020202020204" charset="0"/>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sz="135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panose="020B0604020202020204" charset="0"/>
                <a:cs typeface="Plus Jakarta Sans" panose="020B0604020202020204" charset="0"/>
                <a:sym typeface="Arial"/>
              </a:rPr>
              <a:t>Immediate epicentral clustering identification across Pozzuoli and Solfatara crater zones.</a:t>
            </a:r>
          </a:p>
          <a:p>
            <a:pPr marL="0" marR="0" lvl="0" indent="0" algn="l" rtl="0">
              <a:lnSpc>
                <a:spcPct val="150000"/>
              </a:lnSpc>
              <a:spcBef>
                <a:spcPts val="0"/>
              </a:spcBef>
              <a:spcAft>
                <a:spcPts val="0"/>
              </a:spcAft>
              <a:buNone/>
              <a:defRPr sz="1600" b="1">
                <a:solidFill>
                  <a:srgbClr val="236B5E"/>
                </a:solidFill>
              </a:defRPr>
            </a:pPr>
            <a:endParaRPr lang="en-US" dirty="0">
              <a:latin typeface="Plus Jakarta Sans" panose="020B0604020202020204" charset="0"/>
              <a:cs typeface="Plus Jakarta Sans" panose="020B0604020202020204" charset="0"/>
            </a:endParaRPr>
          </a:p>
        </p:txBody>
      </p:sp>
      <p:pic>
        <p:nvPicPr>
          <p:cNvPr id="185" name="Picture 184"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186"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88"/>
        <p:cNvGrpSpPr/>
        <p:nvPr/>
      </p:nvGrpSpPr>
      <p:grpSpPr>
        <a:xfrm>
          <a:off x="0" y="0"/>
          <a:ext cx="0" cy="0"/>
          <a:chOff x="0" y="0"/>
          <a:chExt cx="0" cy="0"/>
        </a:xfrm>
      </p:grpSpPr>
      <p:sp>
        <p:nvSpPr>
          <p:cNvPr id="189" name="Google Shape;189;p18"/>
          <p:cNvSpPr/>
          <p:nvPr/>
        </p:nvSpPr>
        <p:spPr>
          <a:xfrm>
            <a:off x="6687837" y="2007232"/>
            <a:ext cx="4791967" cy="1114425"/>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8"/>
          <p:cNvSpPr/>
          <p:nvPr/>
        </p:nvSpPr>
        <p:spPr>
          <a:xfrm>
            <a:off x="6687836" y="3245863"/>
            <a:ext cx="4791967" cy="1114425"/>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191" name="Google Shape;191;p18"/>
          <p:cNvSpPr/>
          <p:nvPr/>
        </p:nvSpPr>
        <p:spPr>
          <a:xfrm>
            <a:off x="6697361" y="4521832"/>
            <a:ext cx="4791967" cy="1112393"/>
          </a:xfrm>
          <a:prstGeom prst="roundRect">
            <a:avLst>
              <a:gd name="adj" fmla="val 18421"/>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pic>
        <p:nvPicPr>
          <p:cNvPr id="192" name="Google Shape;192;p18" descr="image.png"/>
          <p:cNvPicPr preferRelativeResize="0"/>
          <p:nvPr/>
        </p:nvPicPr>
        <p:blipFill rotWithShape="1">
          <a:blip r:embed="rId3">
            <a:alphaModFix/>
          </a:blip>
          <a:srcRect/>
          <a:stretch/>
        </p:blipFill>
        <p:spPr>
          <a:xfrm>
            <a:off x="609600"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3" name="Google Shape;193;p18" descr="image.png"/>
          <p:cNvPicPr preferRelativeResize="0"/>
          <p:nvPr/>
        </p:nvPicPr>
        <p:blipFill rotWithShape="1">
          <a:blip r:embed="rId4">
            <a:alphaModFix/>
          </a:blip>
          <a:srcRect/>
          <a:stretch/>
        </p:blipFill>
        <p:spPr>
          <a:xfrm>
            <a:off x="712196" y="1954655"/>
            <a:ext cx="5670839" cy="3758312"/>
          </a:xfrm>
          <a:prstGeom prst="rect">
            <a:avLst/>
          </a:prstGeom>
          <a:noFill/>
          <a:ln>
            <a:noFill/>
          </a:ln>
        </p:spPr>
      </p:pic>
      <p:sp>
        <p:nvSpPr>
          <p:cNvPr id="194" name="Google Shape;194;p18"/>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APPLICATION WORKSPACE • 3D MODE</a:t>
            </a:r>
            <a:endParaRPr/>
          </a:p>
        </p:txBody>
      </p:sp>
      <p:sp>
        <p:nvSpPr>
          <p:cNvPr id="195" name="Google Shape;195;p18"/>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3D Static </a:t>
            </a:r>
            <a:r>
              <a:rPr lang="en-US" sz="2600" b="1" i="0" u="none" strike="noStrike" cap="none" dirty="0" err="1">
                <a:solidFill>
                  <a:srgbClr val="822433"/>
                </a:solidFill>
                <a:latin typeface="Cinzel"/>
                <a:ea typeface="Cinzel"/>
                <a:cs typeface="Cinzel"/>
                <a:sym typeface="Cinzel"/>
              </a:rPr>
              <a:t>Hypocentral</a:t>
            </a:r>
            <a:r>
              <a:rPr lang="en-US" sz="2600" b="1" i="0" u="none" strike="noStrike" cap="none" dirty="0">
                <a:solidFill>
                  <a:srgbClr val="822433"/>
                </a:solidFill>
                <a:latin typeface="Cinzel"/>
                <a:ea typeface="Cinzel"/>
                <a:cs typeface="Cinzel"/>
                <a:sym typeface="Cinzel"/>
              </a:rPr>
              <a:t> Point Cloud</a:t>
            </a:r>
            <a:endParaRPr dirty="0"/>
          </a:p>
        </p:txBody>
      </p:sp>
      <p:sp>
        <p:nvSpPr>
          <p:cNvPr id="196" name="Google Shape;196;p18"/>
          <p:cNvSpPr txBox="1"/>
          <p:nvPr/>
        </p:nvSpPr>
        <p:spPr>
          <a:xfrm>
            <a:off x="6868812" y="2173919"/>
            <a:ext cx="4524612" cy="10741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822433"/>
                </a:solidFill>
              </a:defRPr>
            </a:pPr>
            <a:r>
              <a:rPr lang="en-US" sz="1600" b="1" i="0" u="none" strike="noStrike" cap="none" dirty="0">
                <a:solidFill>
                  <a:srgbClr val="822433"/>
                </a:solidFill>
                <a:latin typeface="Plus Jakarta Sans"/>
                <a:ea typeface="Plus Jakarta Sans"/>
                <a:cs typeface="Plus Jakarta Sans"/>
                <a:sym typeface="Plus Jakarta Sans"/>
              </a:rPr>
              <a:t>True Depth Scaling</a:t>
            </a:r>
          </a:p>
          <a:p>
            <a:pPr marL="0" marR="0" lvl="0" indent="0" algn="l" defTabSz="914400" rtl="0" eaLnBrk="1" fontAlgn="auto" latinLnBrk="0" hangingPunct="1">
              <a:lnSpc>
                <a:spcPct val="14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err="1">
                <a:ln>
                  <a:noFill/>
                </a:ln>
                <a:solidFill>
                  <a:srgbClr val="1C1819"/>
                </a:solidFill>
                <a:effectLst/>
                <a:uLnTx/>
                <a:uFillTx/>
                <a:latin typeface="Plus Jakarta Sans"/>
                <a:ea typeface="Plus Jakarta Sans"/>
                <a:cs typeface="Plus Jakarta Sans"/>
                <a:sym typeface="Plus Jakarta Sans"/>
              </a:rPr>
              <a:t>Hypocentres</a:t>
            </a: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 positioned in physical </a:t>
            </a:r>
            <a:r>
              <a:rPr kumimoji="0" lang="en-US" sz="1350" b="0" i="0" u="none" strike="noStrike" kern="0" cap="none" spc="0" normalizeH="0" baseline="0" noProof="0" dirty="0" err="1">
                <a:ln>
                  <a:noFill/>
                </a:ln>
                <a:solidFill>
                  <a:srgbClr val="1C1819"/>
                </a:solidFill>
                <a:effectLst/>
                <a:uLnTx/>
                <a:uFillTx/>
                <a:latin typeface="Plus Jakarta Sans"/>
                <a:ea typeface="Plus Jakarta Sans"/>
                <a:cs typeface="Plus Jakarta Sans"/>
                <a:sym typeface="Plus Jakarta Sans"/>
              </a:rPr>
              <a:t>kilometres</a:t>
            </a: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 beneath an OpenStreetMap surface tile mesh.</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822433"/>
                </a:solidFill>
              </a:defRPr>
            </a:pPr>
            <a:endParaRPr dirty="0"/>
          </a:p>
        </p:txBody>
      </p:sp>
      <p:sp>
        <p:nvSpPr>
          <p:cNvPr id="198" name="Google Shape;198;p18"/>
          <p:cNvSpPr txBox="1"/>
          <p:nvPr/>
        </p:nvSpPr>
        <p:spPr>
          <a:xfrm>
            <a:off x="6868811" y="3411979"/>
            <a:ext cx="4610991" cy="10741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204060"/>
                </a:solidFill>
              </a:defRPr>
            </a:pPr>
            <a:r>
              <a:rPr lang="en-US" sz="1600" b="1" i="0" u="none" strike="noStrike" cap="none" dirty="0">
                <a:solidFill>
                  <a:srgbClr val="204060"/>
                </a:solidFill>
                <a:latin typeface="Plus Jakarta Sans"/>
                <a:ea typeface="Plus Jakarta Sans"/>
                <a:cs typeface="Plus Jakarta Sans"/>
                <a:sym typeface="Plus Jakarta Sans"/>
              </a:rPr>
              <a:t>Aspect Ratio Correction</a:t>
            </a:r>
          </a:p>
          <a:p>
            <a:pPr marL="0" marR="0" lvl="0" indent="0" algn="l" defTabSz="914400" rtl="0" eaLnBrk="1" fontAlgn="auto" latinLnBrk="0" hangingPunct="1">
              <a:lnSpc>
                <a:spcPct val="140000"/>
              </a:lnSpc>
              <a:spcBef>
                <a:spcPts val="0"/>
              </a:spcBef>
              <a:spcAft>
                <a:spcPts val="0"/>
              </a:spcAft>
              <a:buClr>
                <a:srgbClr val="000000"/>
              </a:buClr>
              <a:buSzTx/>
              <a:buFont typeface="Arial"/>
              <a:buNone/>
              <a:tabLst/>
              <a:defRPr sz="1350" b="0">
                <a:solidFill>
                  <a:srgbClr val="1C1819"/>
                </a:solidFill>
              </a:defRPr>
            </a:pPr>
            <a:r>
              <a:rPr kumimoji="0" lang="en-US" sz="1350" b="0" i="0" u="none" strike="noStrike" kern="0" cap="none" spc="0" normalizeH="0" baseline="0" noProof="0" dirty="0">
                <a:ln>
                  <a:noFill/>
                </a:ln>
                <a:solidFill>
                  <a:srgbClr val="1C1819"/>
                </a:solidFill>
                <a:effectLst/>
                <a:uLnTx/>
                <a:uFillTx/>
                <a:latin typeface="Plus Jakarta Sans"/>
                <a:ea typeface="Plus Jakarta Sans"/>
                <a:cs typeface="Plus Jakarta Sans"/>
                <a:sym typeface="Plus Jakarta Sans"/>
              </a:rPr>
              <a:t>Compensates for meridional convergence using equatorial factor K = 111.32 km/° and mean latitude.</a:t>
            </a:r>
            <a:endParaRPr kumimoji="0" lang="en-US" sz="1350" b="0" i="0" u="none" strike="noStrike" kern="0" cap="none" spc="0" normalizeH="0" baseline="0" noProof="0" dirty="0">
              <a:ln>
                <a:noFill/>
              </a:ln>
              <a:solidFill>
                <a:srgbClr val="1C1819"/>
              </a:solidFill>
              <a:effectLst/>
              <a:uLnTx/>
              <a:uFillTx/>
              <a:latin typeface="Arial"/>
              <a:cs typeface="Arial"/>
              <a:sym typeface="Arial"/>
            </a:endParaRPr>
          </a:p>
          <a:p>
            <a:pPr marL="0" marR="0" lvl="0" indent="0" algn="l" rtl="0">
              <a:spcBef>
                <a:spcPts val="0"/>
              </a:spcBef>
              <a:spcAft>
                <a:spcPts val="0"/>
              </a:spcAft>
              <a:buNone/>
              <a:defRPr sz="1600" b="1">
                <a:solidFill>
                  <a:srgbClr val="204060"/>
                </a:solidFill>
              </a:defRPr>
            </a:pPr>
            <a:endParaRPr dirty="0"/>
          </a:p>
        </p:txBody>
      </p:sp>
      <p:sp>
        <p:nvSpPr>
          <p:cNvPr id="200" name="Google Shape;200;p18"/>
          <p:cNvSpPr txBox="1"/>
          <p:nvPr/>
        </p:nvSpPr>
        <p:spPr>
          <a:xfrm>
            <a:off x="6868812" y="4645657"/>
            <a:ext cx="4610991" cy="86946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00" b="1">
                <a:solidFill>
                  <a:srgbClr val="236B5E"/>
                </a:solidFill>
              </a:defRPr>
            </a:pPr>
            <a:r>
              <a:rPr dirty="0"/>
              <a:t>Stateful Camera Retention</a:t>
            </a:r>
          </a:p>
          <a:p>
            <a:pPr>
              <a:lnSpc>
                <a:spcPct val="150000"/>
              </a:lnSpc>
              <a:defRPr sz="1350">
                <a:solidFill>
                  <a:srgbClr val="1C1819"/>
                </a:solidFill>
              </a:defRPr>
            </a:pPr>
            <a:r>
              <a:rPr dirty="0">
                <a:latin typeface="Plus Jakarta Sans" panose="020B0604020202020204" charset="0"/>
                <a:cs typeface="Plus Jakarta Sans" panose="020B0604020202020204" charset="0"/>
              </a:rPr>
              <a:t>Camera viewpoint preserved across filter updates via</a:t>
            </a:r>
            <a:endParaRPr lang="it-IT" dirty="0">
              <a:latin typeface="Plus Jakarta Sans" panose="020B0604020202020204" charset="0"/>
              <a:cs typeface="Plus Jakarta Sans" panose="020B0604020202020204" charset="0"/>
            </a:endParaRPr>
          </a:p>
          <a:p>
            <a:pPr>
              <a:lnSpc>
                <a:spcPct val="150000"/>
              </a:lnSpc>
              <a:defRPr sz="1350">
                <a:solidFill>
                  <a:srgbClr val="1C1819"/>
                </a:solidFill>
              </a:defRPr>
            </a:pPr>
            <a:r>
              <a:rPr dirty="0" err="1">
                <a:latin typeface="Plus Jakarta Sans" panose="020B0604020202020204" charset="0"/>
                <a:cs typeface="Plus Jakarta Sans" panose="020B0604020202020204" charset="0"/>
              </a:rPr>
              <a:t>Plotly</a:t>
            </a:r>
            <a:r>
              <a:rPr dirty="0">
                <a:latin typeface="Plus Jakarta Sans" panose="020B0604020202020204" charset="0"/>
                <a:cs typeface="Plus Jakarta Sans" panose="020B0604020202020204" charset="0"/>
              </a:rPr>
              <a:t> </a:t>
            </a:r>
            <a:r>
              <a:rPr dirty="0" err="1">
                <a:latin typeface="Plus Jakarta Sans" panose="020B0604020202020204" charset="0"/>
                <a:cs typeface="Plus Jakarta Sans" panose="020B0604020202020204" charset="0"/>
              </a:rPr>
              <a:t>uirevision</a:t>
            </a:r>
            <a:r>
              <a:rPr dirty="0">
                <a:latin typeface="Plus Jakarta Sans" panose="020B0604020202020204" charset="0"/>
                <a:cs typeface="Plus Jakarta Sans" panose="020B0604020202020204" charset="0"/>
              </a:rPr>
              <a:t>='constant'.</a:t>
            </a:r>
          </a:p>
        </p:txBody>
      </p:sp>
      <p:pic>
        <p:nvPicPr>
          <p:cNvPr id="201" name="Picture 200"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02"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04"/>
        <p:cNvGrpSpPr/>
        <p:nvPr/>
      </p:nvGrpSpPr>
      <p:grpSpPr>
        <a:xfrm>
          <a:off x="0" y="0"/>
          <a:ext cx="0" cy="0"/>
          <a:chOff x="0" y="0"/>
          <a:chExt cx="0" cy="0"/>
        </a:xfrm>
      </p:grpSpPr>
      <p:sp>
        <p:nvSpPr>
          <p:cNvPr id="205" name="Google Shape;205;p19"/>
          <p:cNvSpPr/>
          <p:nvPr/>
        </p:nvSpPr>
        <p:spPr>
          <a:xfrm>
            <a:off x="609600" y="4150000"/>
            <a:ext cx="10972800" cy="1250000"/>
          </a:xfrm>
          <a:prstGeom prst="roundRect">
            <a:avLst>
              <a:gd name="adj" fmla="val 14893"/>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6" name="Google Shape;206;p19"/>
          <p:cNvSpPr/>
          <p:nvPr/>
        </p:nvSpPr>
        <p:spPr>
          <a:xfrm>
            <a:off x="609600" y="2150000"/>
            <a:ext cx="3530649" cy="1750000"/>
          </a:xfrm>
          <a:prstGeom prst="roundRect">
            <a:avLst>
              <a:gd name="adj" fmla="val 1068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7" name="Google Shape;207;p19"/>
          <p:cNvSpPr/>
          <p:nvPr/>
        </p:nvSpPr>
        <p:spPr>
          <a:xfrm>
            <a:off x="4330749" y="2150000"/>
            <a:ext cx="3530649" cy="1750000"/>
          </a:xfrm>
          <a:prstGeom prst="roundRect">
            <a:avLst>
              <a:gd name="adj" fmla="val 1068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8" name="Google Shape;208;p19"/>
          <p:cNvSpPr/>
          <p:nvPr/>
        </p:nvSpPr>
        <p:spPr>
          <a:xfrm>
            <a:off x="8051899" y="2150000"/>
            <a:ext cx="3530649" cy="1750000"/>
          </a:xfrm>
          <a:prstGeom prst="roundRect">
            <a:avLst>
              <a:gd name="adj" fmla="val 1068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09" name="Google Shape;209;p19" descr="image.png"/>
          <p:cNvPicPr preferRelativeResize="0"/>
          <p:nvPr/>
        </p:nvPicPr>
        <p:blipFill rotWithShape="1">
          <a:blip r:embed="rId3">
            <a:alphaModFix/>
          </a:blip>
          <a:srcRect/>
          <a:stretch/>
        </p:blipFill>
        <p:spPr>
          <a:xfrm>
            <a:off x="892874" y="4416402"/>
            <a:ext cx="457200" cy="457200"/>
          </a:xfrm>
          <a:prstGeom prst="rect">
            <a:avLst/>
          </a:prstGeom>
          <a:noFill/>
          <a:ln>
            <a:noFill/>
          </a:ln>
        </p:spPr>
      </p:pic>
      <p:pic>
        <p:nvPicPr>
          <p:cNvPr id="210" name="Google Shape;210;p19" descr="image.png"/>
          <p:cNvPicPr preferRelativeResize="0"/>
          <p:nvPr/>
        </p:nvPicPr>
        <p:blipFill rotWithShape="1">
          <a:blip r:embed="rId4">
            <a:alphaModFix/>
          </a:blip>
          <a:srcRect/>
          <a:stretch/>
        </p:blipFill>
        <p:spPr>
          <a:xfrm>
            <a:off x="1028700" y="4540227"/>
            <a:ext cx="209550" cy="209550"/>
          </a:xfrm>
          <a:prstGeom prst="rect">
            <a:avLst/>
          </a:prstGeom>
          <a:noFill/>
          <a:ln>
            <a:noFill/>
          </a:ln>
        </p:spPr>
      </p:pic>
      <p:pic>
        <p:nvPicPr>
          <p:cNvPr id="211" name="Google Shape;211;p19" descr="image.png"/>
          <p:cNvPicPr preferRelativeResize="0"/>
          <p:nvPr/>
        </p:nvPicPr>
        <p:blipFill rotWithShape="1">
          <a:blip r:embed="rId5">
            <a:alphaModFix/>
          </a:blip>
          <a:srcRect/>
          <a:stretch/>
        </p:blipFill>
        <p:spPr>
          <a:xfrm>
            <a:off x="828675" y="2370000"/>
            <a:ext cx="171450" cy="171450"/>
          </a:xfrm>
          <a:prstGeom prst="rect">
            <a:avLst/>
          </a:prstGeom>
          <a:noFill/>
          <a:ln>
            <a:noFill/>
          </a:ln>
        </p:spPr>
      </p:pic>
      <p:pic>
        <p:nvPicPr>
          <p:cNvPr id="212" name="Google Shape;212;p19" descr="image.png"/>
          <p:cNvPicPr preferRelativeResize="0"/>
          <p:nvPr/>
        </p:nvPicPr>
        <p:blipFill rotWithShape="1">
          <a:blip r:embed="rId6">
            <a:alphaModFix/>
          </a:blip>
          <a:srcRect/>
          <a:stretch/>
        </p:blipFill>
        <p:spPr>
          <a:xfrm>
            <a:off x="4549824" y="2370000"/>
            <a:ext cx="171450" cy="171450"/>
          </a:xfrm>
          <a:prstGeom prst="rect">
            <a:avLst/>
          </a:prstGeom>
          <a:noFill/>
          <a:ln>
            <a:noFill/>
          </a:ln>
        </p:spPr>
      </p:pic>
      <p:pic>
        <p:nvPicPr>
          <p:cNvPr id="213" name="Google Shape;213;p19" descr="image.png"/>
          <p:cNvPicPr preferRelativeResize="0"/>
          <p:nvPr/>
        </p:nvPicPr>
        <p:blipFill rotWithShape="1">
          <a:blip r:embed="rId7">
            <a:alphaModFix/>
          </a:blip>
          <a:srcRect/>
          <a:stretch/>
        </p:blipFill>
        <p:spPr>
          <a:xfrm>
            <a:off x="8270974" y="2370000"/>
            <a:ext cx="190500" cy="171450"/>
          </a:xfrm>
          <a:prstGeom prst="rect">
            <a:avLst/>
          </a:prstGeom>
          <a:noFill/>
          <a:ln>
            <a:noFill/>
          </a:ln>
        </p:spPr>
      </p:pic>
      <p:sp>
        <p:nvSpPr>
          <p:cNvPr id="214" name="Google Shape;214;p19"/>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dirty="0">
                <a:solidFill>
                  <a:srgbClr val="204060"/>
                </a:solidFill>
                <a:latin typeface="Plus Jakarta Sans"/>
                <a:ea typeface="Plus Jakarta Sans"/>
                <a:cs typeface="Plus Jakarta Sans"/>
                <a:sym typeface="Plus Jakarta Sans"/>
              </a:rPr>
              <a:t>APPLICATION WORKSPACE • 4D MODE</a:t>
            </a:r>
            <a:endParaRPr dirty="0"/>
          </a:p>
        </p:txBody>
      </p:sp>
      <p:sp>
        <p:nvSpPr>
          <p:cNvPr id="215" name="Google Shape;215;p19"/>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4D Temporal Animation &amp; Sequence Slicing</a:t>
            </a:r>
            <a:endParaRPr/>
          </a:p>
        </p:txBody>
      </p:sp>
      <p:sp>
        <p:nvSpPr>
          <p:cNvPr id="216" name="Google Shape;216;p19"/>
          <p:cNvSpPr txBox="1"/>
          <p:nvPr/>
        </p:nvSpPr>
        <p:spPr>
          <a:xfrm>
            <a:off x="828675" y="2750000"/>
            <a:ext cx="3187749" cy="9500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Shows seismic buildup from initial event to current timestamp, tracking cumulative stress release.</a:t>
            </a:r>
            <a:endParaRPr dirty="0"/>
          </a:p>
        </p:txBody>
      </p:sp>
      <p:sp>
        <p:nvSpPr>
          <p:cNvPr id="217" name="Google Shape;217;p19"/>
          <p:cNvSpPr txBox="1"/>
          <p:nvPr/>
        </p:nvSpPr>
        <p:spPr>
          <a:xfrm>
            <a:off x="4549824" y="2750000"/>
            <a:ext cx="3187749" cy="9500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Moves a window of width W across time, isolating active </a:t>
            </a:r>
            <a:r>
              <a:rPr lang="en-US" sz="1350" b="0" i="0" u="none" strike="noStrike" cap="none" dirty="0" err="1">
                <a:solidFill>
                  <a:srgbClr val="1C1819"/>
                </a:solidFill>
                <a:latin typeface="Plus Jakarta Sans"/>
                <a:ea typeface="Plus Jakarta Sans"/>
                <a:cs typeface="Plus Jakarta Sans"/>
                <a:sym typeface="Plus Jakarta Sans"/>
              </a:rPr>
              <a:t>hypocentral</a:t>
            </a:r>
            <a:r>
              <a:rPr lang="en-US" sz="1350" b="0" i="0" u="none" strike="noStrike" cap="none" dirty="0">
                <a:solidFill>
                  <a:srgbClr val="1C1819"/>
                </a:solidFill>
                <a:latin typeface="Plus Jakarta Sans"/>
                <a:ea typeface="Plus Jakarta Sans"/>
                <a:cs typeface="Plus Jakarta Sans"/>
                <a:sym typeface="Plus Jakarta Sans"/>
              </a:rPr>
              <a:t> migration fronts.</a:t>
            </a:r>
            <a:endParaRPr dirty="0"/>
          </a:p>
        </p:txBody>
      </p:sp>
      <p:sp>
        <p:nvSpPr>
          <p:cNvPr id="218" name="Google Shape;218;p19"/>
          <p:cNvSpPr txBox="1"/>
          <p:nvPr/>
        </p:nvSpPr>
        <p:spPr>
          <a:xfrm>
            <a:off x="8270974" y="2750000"/>
            <a:ext cx="3187749" cy="9500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Partitions the sequence into non-overlapping chronological chunks for comparative analysis.</a:t>
            </a:r>
            <a:endParaRPr dirty="0"/>
          </a:p>
        </p:txBody>
      </p:sp>
      <p:sp>
        <p:nvSpPr>
          <p:cNvPr id="219" name="Google Shape;219;p19"/>
          <p:cNvSpPr txBox="1"/>
          <p:nvPr/>
        </p:nvSpPr>
        <p:spPr>
          <a:xfrm>
            <a:off x="1552575" y="4320000"/>
            <a:ext cx="10301287"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a:solidFill>
                  <a:srgbClr val="822433"/>
                </a:solidFill>
                <a:latin typeface="Plus Jakarta Sans"/>
                <a:ea typeface="Plus Jakarta Sans"/>
                <a:cs typeface="Plus Jakarta Sans"/>
                <a:sym typeface="Plus Jakarta Sans"/>
              </a:rPr>
              <a:t>Interactive Timeline Histogram &amp; Energy Meter</a:t>
            </a:r>
            <a:endParaRPr/>
          </a:p>
        </p:txBody>
      </p:sp>
      <p:sp>
        <p:nvSpPr>
          <p:cNvPr id="220" name="Google Shape;220;p19"/>
          <p:cNvSpPr txBox="1"/>
          <p:nvPr/>
        </p:nvSpPr>
        <p:spPr>
          <a:xfrm>
            <a:off x="1552575" y="4700000"/>
            <a:ext cx="9810750" cy="5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Real-time playback scrubbing coupled with simultaneous cumulative seismic energy tracking (kJ) and peak magnitude readout.</a:t>
            </a:r>
            <a:endParaRPr/>
          </a:p>
        </p:txBody>
      </p:sp>
      <p:sp>
        <p:nvSpPr>
          <p:cNvPr id="221" name="Google Shape;221;p19"/>
          <p:cNvSpPr txBox="1"/>
          <p:nvPr/>
        </p:nvSpPr>
        <p:spPr>
          <a:xfrm>
            <a:off x="1095375" y="2350000"/>
            <a:ext cx="2225278"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650" b="1" i="0" u="none" strike="noStrike" cap="none">
                <a:solidFill>
                  <a:srgbClr val="B85828"/>
                </a:solidFill>
                <a:latin typeface="Plus Jakarta Sans"/>
                <a:ea typeface="Plus Jakarta Sans"/>
                <a:cs typeface="Plus Jakarta Sans"/>
                <a:sym typeface="Plus Jakarta Sans"/>
              </a:rPr>
              <a:t>Accumulation Mode</a:t>
            </a:r>
            <a:endParaRPr/>
          </a:p>
        </p:txBody>
      </p:sp>
      <p:sp>
        <p:nvSpPr>
          <p:cNvPr id="222" name="Google Shape;222;p19"/>
          <p:cNvSpPr txBox="1"/>
          <p:nvPr/>
        </p:nvSpPr>
        <p:spPr>
          <a:xfrm>
            <a:off x="4816524" y="2350000"/>
            <a:ext cx="1737717"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04060"/>
                </a:solidFill>
              </a:defRPr>
            </a:pPr>
            <a:r>
              <a:rPr lang="en-US" sz="1650" b="1" i="0" u="none" strike="noStrike" cap="none">
                <a:solidFill>
                  <a:srgbClr val="204060"/>
                </a:solidFill>
                <a:latin typeface="Plus Jakarta Sans"/>
                <a:ea typeface="Plus Jakarta Sans"/>
                <a:cs typeface="Plus Jakarta Sans"/>
                <a:sym typeface="Plus Jakarta Sans"/>
              </a:rPr>
              <a:t>Sliding Window</a:t>
            </a:r>
            <a:endParaRPr/>
          </a:p>
        </p:txBody>
      </p:sp>
      <p:sp>
        <p:nvSpPr>
          <p:cNvPr id="223" name="Google Shape;223;p19"/>
          <p:cNvSpPr txBox="1"/>
          <p:nvPr/>
        </p:nvSpPr>
        <p:spPr>
          <a:xfrm>
            <a:off x="8556724" y="2350000"/>
            <a:ext cx="2262782"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650" b="1" i="0" u="none" strike="noStrike" cap="none">
                <a:solidFill>
                  <a:srgbClr val="236B5E"/>
                </a:solidFill>
                <a:latin typeface="Plus Jakarta Sans"/>
                <a:ea typeface="Plus Jakarta Sans"/>
                <a:cs typeface="Plus Jakarta Sans"/>
                <a:sym typeface="Plus Jakarta Sans"/>
              </a:rPr>
              <a:t>Discrete Block Mode</a:t>
            </a:r>
            <a:endParaRPr/>
          </a:p>
        </p:txBody>
      </p:sp>
      <p:pic>
        <p:nvPicPr>
          <p:cNvPr id="224" name="Picture 223" descr="sapienza_logo.png"/>
          <p:cNvPicPr>
            <a:picLocks noChangeAspect="1"/>
          </p:cNvPicPr>
          <p:nvPr/>
        </p:nvPicPr>
        <p:blipFill>
          <a:blip r:embed="rId8"/>
          <a:stretch>
            <a:fillRect/>
          </a:stretch>
        </p:blipFill>
        <p:spPr>
          <a:xfrm>
            <a:off x="9750000" y="400000"/>
            <a:ext cx="1900000" cy="570000"/>
          </a:xfrm>
          <a:prstGeom prst="rect">
            <a:avLst/>
          </a:prstGeom>
        </p:spPr>
      </p:pic>
      <p:sp>
        <p:nvSpPr>
          <p:cNvPr id="22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27"/>
        <p:cNvGrpSpPr/>
        <p:nvPr/>
      </p:nvGrpSpPr>
      <p:grpSpPr>
        <a:xfrm>
          <a:off x="0" y="0"/>
          <a:ext cx="0" cy="0"/>
          <a:chOff x="0" y="0"/>
          <a:chExt cx="0" cy="0"/>
        </a:xfrm>
      </p:grpSpPr>
      <p:sp>
        <p:nvSpPr>
          <p:cNvPr id="228" name="Google Shape;228;p20"/>
          <p:cNvSpPr/>
          <p:nvPr/>
        </p:nvSpPr>
        <p:spPr>
          <a:xfrm>
            <a:off x="609600" y="22717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9" name="Google Shape;229;p20"/>
          <p:cNvSpPr/>
          <p:nvPr/>
        </p:nvSpPr>
        <p:spPr>
          <a:xfrm>
            <a:off x="609600" y="34909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20"/>
          <p:cNvSpPr/>
          <p:nvPr/>
        </p:nvSpPr>
        <p:spPr>
          <a:xfrm>
            <a:off x="609600" y="4710112"/>
            <a:ext cx="4791967" cy="68580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31" name="Google Shape;231;p20" descr="image.png"/>
          <p:cNvPicPr preferRelativeResize="0"/>
          <p:nvPr/>
        </p:nvPicPr>
        <p:blipFill rotWithShape="1">
          <a:blip r:embed="rId3">
            <a:alphaModFix/>
          </a:blip>
          <a:srcRect/>
          <a:stretch/>
        </p:blipFill>
        <p:spPr>
          <a:xfrm>
            <a:off x="5706367"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32" name="Google Shape;232;p20" descr="image.png"/>
          <p:cNvPicPr preferRelativeResize="0"/>
          <p:nvPr/>
        </p:nvPicPr>
        <p:blipFill rotWithShape="1">
          <a:blip r:embed="rId4">
            <a:alphaModFix/>
          </a:blip>
          <a:srcRect/>
          <a:stretch/>
        </p:blipFill>
        <p:spPr>
          <a:xfrm>
            <a:off x="5794132" y="1975794"/>
            <a:ext cx="5700502" cy="3716036"/>
          </a:xfrm>
          <a:prstGeom prst="rect">
            <a:avLst/>
          </a:prstGeom>
          <a:noFill/>
          <a:ln>
            <a:noFill/>
          </a:ln>
        </p:spPr>
      </p:pic>
      <p:sp>
        <p:nvSpPr>
          <p:cNvPr id="233" name="Google Shape;233;p20"/>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MULTI-LAYER GEOPHYSICS</a:t>
            </a:r>
            <a:endParaRPr/>
          </a:p>
        </p:txBody>
      </p:sp>
      <p:sp>
        <p:nvSpPr>
          <p:cNvPr id="234" name="Google Shape;234;p20"/>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Tomography, Ground Uplift &amp; Stations</a:t>
            </a:r>
            <a:endParaRPr/>
          </a:p>
        </p:txBody>
      </p:sp>
      <p:sp>
        <p:nvSpPr>
          <p:cNvPr id="235" name="Google Shape;235;p20"/>
          <p:cNvSpPr txBox="1"/>
          <p:nvPr/>
        </p:nvSpPr>
        <p:spPr>
          <a:xfrm>
            <a:off x="809625" y="24717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a:solidFill>
                  <a:srgbClr val="822433"/>
                </a:solidFill>
                <a:latin typeface="Plus Jakarta Sans"/>
                <a:ea typeface="Plus Jakarta Sans"/>
                <a:cs typeface="Plus Jakarta Sans"/>
                <a:sym typeface="Plus Jakarta Sans"/>
              </a:rPr>
              <a:t>Vp/Vs Seismic Tomography</a:t>
            </a:r>
            <a:endParaRPr/>
          </a:p>
        </p:txBody>
      </p:sp>
      <p:sp>
        <p:nvSpPr>
          <p:cNvPr id="236" name="Google Shape;236;p20"/>
          <p:cNvSpPr txBox="1"/>
          <p:nvPr/>
        </p:nvSpPr>
        <p:spPr>
          <a:xfrm>
            <a:off x="809625" y="27384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a:solidFill>
                  <a:srgbClr val="2D2628"/>
                </a:solidFill>
                <a:latin typeface="Plus Jakarta Sans"/>
                <a:ea typeface="Plus Jakarta Sans"/>
                <a:cs typeface="Plus Jakarta Sans"/>
                <a:sym typeface="Plus Jakarta Sans"/>
              </a:rPr>
              <a:t>3D IDW volumetric grid (30×22×16) with Gaussian decay blending toward crustal baseline (1.75).</a:t>
            </a:r>
            <a:endParaRPr/>
          </a:p>
        </p:txBody>
      </p:sp>
      <p:sp>
        <p:nvSpPr>
          <p:cNvPr id="237" name="Google Shape;237;p20"/>
          <p:cNvSpPr txBox="1"/>
          <p:nvPr/>
        </p:nvSpPr>
        <p:spPr>
          <a:xfrm>
            <a:off x="809625" y="36909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a:solidFill>
                  <a:srgbClr val="822433"/>
                </a:solidFill>
                <a:latin typeface="Plus Jakarta Sans"/>
                <a:ea typeface="Plus Jakarta Sans"/>
                <a:cs typeface="Plus Jakarta Sans"/>
                <a:sym typeface="Plus Jakarta Sans"/>
              </a:rPr>
              <a:t>GNSS Ground Uplift Columns</a:t>
            </a:r>
            <a:endParaRPr/>
          </a:p>
        </p:txBody>
      </p:sp>
      <p:sp>
        <p:nvSpPr>
          <p:cNvPr id="238" name="Google Shape;238;p20"/>
          <p:cNvSpPr txBox="1"/>
          <p:nvPr/>
        </p:nvSpPr>
        <p:spPr>
          <a:xfrm>
            <a:off x="809625" y="39576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a:solidFill>
                  <a:srgbClr val="2D2628"/>
                </a:solidFill>
                <a:latin typeface="Plus Jakarta Sans"/>
                <a:ea typeface="Plus Jakarta Sans"/>
                <a:cs typeface="Plus Jakarta Sans"/>
                <a:sym typeface="Plus Jakarta Sans"/>
              </a:rPr>
              <a:t>Vertical deformation columns from GPS stations correlated with underlying swarm clusters.</a:t>
            </a:r>
            <a:endParaRPr/>
          </a:p>
        </p:txBody>
      </p:sp>
      <p:sp>
        <p:nvSpPr>
          <p:cNvPr id="239" name="Google Shape;239;p20"/>
          <p:cNvSpPr txBox="1"/>
          <p:nvPr/>
        </p:nvSpPr>
        <p:spPr>
          <a:xfrm>
            <a:off x="771525" y="4872037"/>
            <a:ext cx="4563367"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0">
                <a:solidFill>
                  <a:srgbClr val="2D2628"/>
                </a:solidFill>
              </a:defRPr>
            </a:pPr>
            <a:r>
              <a:rPr lang="en-US" sz="1125" b="0" i="0" u="none" strike="noStrike" cap="none">
                <a:solidFill>
                  <a:srgbClr val="2D2628"/>
                </a:solidFill>
                <a:latin typeface="Plus Jakarta Sans"/>
                <a:ea typeface="Plus Jakarta Sans"/>
                <a:cs typeface="Plus Jakarta Sans"/>
                <a:sym typeface="Plus Jakarta Sans"/>
              </a:rPr>
              <a:t>Direct spatial visual alignment between deep fluid pockets and surface bradyseism.</a:t>
            </a:r>
            <a:endParaRPr/>
          </a:p>
        </p:txBody>
      </p:sp>
      <p:pic>
        <p:nvPicPr>
          <p:cNvPr id="240" name="Picture 239"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4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43"/>
        <p:cNvGrpSpPr/>
        <p:nvPr/>
      </p:nvGrpSpPr>
      <p:grpSpPr>
        <a:xfrm>
          <a:off x="0" y="0"/>
          <a:ext cx="0" cy="0"/>
          <a:chOff x="0" y="0"/>
          <a:chExt cx="0" cy="0"/>
        </a:xfrm>
      </p:grpSpPr>
      <p:sp>
        <p:nvSpPr>
          <p:cNvPr id="244" name="Google Shape;244;p21"/>
          <p:cNvSpPr/>
          <p:nvPr/>
        </p:nvSpPr>
        <p:spPr>
          <a:xfrm>
            <a:off x="609600" y="4280000"/>
            <a:ext cx="10972800" cy="1100000"/>
          </a:xfrm>
          <a:prstGeom prst="roundRect">
            <a:avLst>
              <a:gd name="adj" fmla="val 16950"/>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1"/>
          <p:cNvSpPr/>
          <p:nvPr/>
        </p:nvSpPr>
        <p:spPr>
          <a:xfrm>
            <a:off x="609600" y="2050000"/>
            <a:ext cx="3530649" cy="2050000"/>
          </a:xfrm>
          <a:prstGeom prst="roundRect">
            <a:avLst>
              <a:gd name="adj" fmla="val 791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6" name="Google Shape;246;p21"/>
          <p:cNvSpPr/>
          <p:nvPr/>
        </p:nvSpPr>
        <p:spPr>
          <a:xfrm>
            <a:off x="4330749" y="2050000"/>
            <a:ext cx="3530649" cy="2050000"/>
          </a:xfrm>
          <a:prstGeom prst="roundRect">
            <a:avLst>
              <a:gd name="adj" fmla="val 791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7" name="Google Shape;247;p21"/>
          <p:cNvSpPr/>
          <p:nvPr/>
        </p:nvSpPr>
        <p:spPr>
          <a:xfrm>
            <a:off x="8051899" y="2050000"/>
            <a:ext cx="3530649" cy="2050000"/>
          </a:xfrm>
          <a:prstGeom prst="roundRect">
            <a:avLst>
              <a:gd name="adj" fmla="val 7919"/>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48" name="Google Shape;248;p21" descr="image.png"/>
          <p:cNvPicPr preferRelativeResize="0"/>
          <p:nvPr/>
        </p:nvPicPr>
        <p:blipFill rotWithShape="1">
          <a:blip r:embed="rId3">
            <a:alphaModFix/>
          </a:blip>
          <a:srcRect/>
          <a:stretch/>
        </p:blipFill>
        <p:spPr>
          <a:xfrm>
            <a:off x="828675" y="2220000"/>
            <a:ext cx="171450" cy="171450"/>
          </a:xfrm>
          <a:prstGeom prst="rect">
            <a:avLst/>
          </a:prstGeom>
          <a:noFill/>
          <a:ln>
            <a:noFill/>
          </a:ln>
        </p:spPr>
      </p:pic>
      <p:pic>
        <p:nvPicPr>
          <p:cNvPr id="249" name="Google Shape;249;p21" descr="image.png"/>
          <p:cNvPicPr preferRelativeResize="0"/>
          <p:nvPr/>
        </p:nvPicPr>
        <p:blipFill rotWithShape="1">
          <a:blip r:embed="rId4">
            <a:alphaModFix/>
          </a:blip>
          <a:srcRect/>
          <a:stretch/>
        </p:blipFill>
        <p:spPr>
          <a:xfrm>
            <a:off x="4549824" y="2220000"/>
            <a:ext cx="171450" cy="171450"/>
          </a:xfrm>
          <a:prstGeom prst="rect">
            <a:avLst/>
          </a:prstGeom>
          <a:noFill/>
          <a:ln>
            <a:noFill/>
          </a:ln>
        </p:spPr>
      </p:pic>
      <p:pic>
        <p:nvPicPr>
          <p:cNvPr id="250" name="Google Shape;250;p21" descr="image.png"/>
          <p:cNvPicPr preferRelativeResize="0"/>
          <p:nvPr/>
        </p:nvPicPr>
        <p:blipFill rotWithShape="1">
          <a:blip r:embed="rId5">
            <a:alphaModFix/>
          </a:blip>
          <a:srcRect/>
          <a:stretch/>
        </p:blipFill>
        <p:spPr>
          <a:xfrm>
            <a:off x="8270974" y="2220000"/>
            <a:ext cx="152400" cy="171450"/>
          </a:xfrm>
          <a:prstGeom prst="rect">
            <a:avLst/>
          </a:prstGeom>
          <a:noFill/>
          <a:ln>
            <a:noFill/>
          </a:ln>
        </p:spPr>
      </p:pic>
      <p:sp>
        <p:nvSpPr>
          <p:cNvPr id="251" name="Google Shape;251;p21"/>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MACHINE LEARNING ENGINE</a:t>
            </a:r>
            <a:endParaRPr/>
          </a:p>
        </p:txBody>
      </p:sp>
      <p:sp>
        <p:nvSpPr>
          <p:cNvPr id="252" name="Google Shape;252;p21"/>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Clustering Paradigms: Why &amp; How We Adapted Them</a:t>
            </a:r>
            <a:endParaRPr/>
          </a:p>
        </p:txBody>
      </p:sp>
      <p:sp>
        <p:nvSpPr>
          <p:cNvPr id="253" name="Google Shape;253;p21"/>
          <p:cNvSpPr txBox="1"/>
          <p:nvPr/>
        </p:nvSpPr>
        <p:spPr>
          <a:xfrm>
            <a:off x="866775" y="4478987"/>
            <a:ext cx="11325225" cy="2000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dirty="0">
                <a:solidFill>
                  <a:srgbClr val="822433"/>
                </a:solidFill>
                <a:latin typeface="Plus Jakarta Sans"/>
                <a:ea typeface="Plus Jakarta Sans"/>
                <a:cs typeface="Plus Jakarta Sans"/>
                <a:sym typeface="Plus Jakarta Sans"/>
              </a:rPr>
              <a:t>Hierarchical Sub-Clustering &amp; Lock Mechanism</a:t>
            </a:r>
            <a:endParaRPr dirty="0"/>
          </a:p>
        </p:txBody>
      </p:sp>
      <p:sp>
        <p:nvSpPr>
          <p:cNvPr id="254" name="Google Shape;254;p21"/>
          <p:cNvSpPr txBox="1"/>
          <p:nvPr/>
        </p:nvSpPr>
        <p:spPr>
          <a:xfrm>
            <a:off x="866775" y="4780000"/>
            <a:ext cx="11325225" cy="5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50" b="0">
                <a:solidFill>
                  <a:srgbClr val="1C1819"/>
                </a:solidFill>
              </a:defRPr>
            </a:pPr>
            <a:r>
              <a:rPr lang="en-US" sz="1350" b="0" i="0" u="none" strike="noStrike" cap="none">
                <a:solidFill>
                  <a:srgbClr val="1C1819"/>
                </a:solidFill>
                <a:latin typeface="Plus Jakarta Sans"/>
                <a:ea typeface="Plus Jakarta Sans"/>
                <a:cs typeface="Plus Jakarta Sans"/>
                <a:sym typeface="Plus Jakarta Sans"/>
              </a:rPr>
              <a:t>Researchers can lock confirmed geological clusters and re-partition only unresolved swarms with refined parameters.</a:t>
            </a:r>
            <a:endParaRPr/>
          </a:p>
        </p:txBody>
      </p:sp>
      <p:sp>
        <p:nvSpPr>
          <p:cNvPr id="255" name="Google Shape;255;p21"/>
          <p:cNvSpPr txBox="1"/>
          <p:nvPr/>
        </p:nvSpPr>
        <p:spPr>
          <a:xfrm>
            <a:off x="828675"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Why chosen: Detects non-planar, arbitrary fault shapes without prior K count; isolates background noise (label -1).</a:t>
            </a:r>
            <a:endParaRPr dirty="0"/>
          </a:p>
        </p:txBody>
      </p:sp>
      <p:sp>
        <p:nvSpPr>
          <p:cNvPr id="256" name="Google Shape;256;p21"/>
          <p:cNvSpPr txBox="1"/>
          <p:nvPr/>
        </p:nvSpPr>
        <p:spPr>
          <a:xfrm>
            <a:off x="828674" y="3450000"/>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Auto-Tuning: Radius ε* estimated from k-distance knee via </a:t>
            </a:r>
            <a:r>
              <a:rPr lang="en-US" sz="1150" b="0" i="0" u="none" strike="noStrike" cap="none" dirty="0" err="1">
                <a:solidFill>
                  <a:srgbClr val="1C1819"/>
                </a:solidFill>
                <a:latin typeface="Plus Jakarta Sans"/>
                <a:ea typeface="Plus Jakarta Sans"/>
                <a:cs typeface="Plus Jakarta Sans"/>
                <a:sym typeface="Plus Jakarta Sans"/>
              </a:rPr>
              <a:t>Kneedle</a:t>
            </a:r>
            <a:r>
              <a:rPr lang="en-US" sz="1150" b="0" i="0" u="none" strike="noStrike" cap="none" dirty="0">
                <a:solidFill>
                  <a:srgbClr val="1C1819"/>
                </a:solidFill>
                <a:latin typeface="Plus Jakarta Sans"/>
                <a:ea typeface="Plus Jakarta Sans"/>
                <a:cs typeface="Plus Jakarta Sans"/>
                <a:sym typeface="Plus Jakarta Sans"/>
              </a:rPr>
              <a:t> algorithm.</a:t>
            </a:r>
            <a:endParaRPr dirty="0"/>
          </a:p>
        </p:txBody>
      </p:sp>
      <p:sp>
        <p:nvSpPr>
          <p:cNvPr id="257" name="Google Shape;257;p21"/>
          <p:cNvSpPr txBox="1"/>
          <p:nvPr/>
        </p:nvSpPr>
        <p:spPr>
          <a:xfrm>
            <a:off x="4549824"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a:solidFill>
                  <a:srgbClr val="1C1819"/>
                </a:solidFill>
                <a:latin typeface="Plus Jakarta Sans"/>
                <a:ea typeface="Plus Jakarta Sans"/>
                <a:cs typeface="Plus Jakarta Sans"/>
                <a:sym typeface="Plus Jakarta Sans"/>
              </a:rPr>
              <a:t>Why chosen: Scalable centroid partitioning across random batches (b=1024) for instant parameter slider response.</a:t>
            </a:r>
            <a:endParaRPr/>
          </a:p>
        </p:txBody>
      </p:sp>
      <p:sp>
        <p:nvSpPr>
          <p:cNvPr id="258" name="Google Shape;258;p21"/>
          <p:cNvSpPr txBox="1"/>
          <p:nvPr/>
        </p:nvSpPr>
        <p:spPr>
          <a:xfrm>
            <a:off x="4549824" y="3448016"/>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Adaptation: Post-distance filter (</a:t>
            </a:r>
            <a:r>
              <a:rPr lang="en-US" sz="1150" b="0" i="0" u="none" strike="noStrike" cap="none" dirty="0" err="1">
                <a:solidFill>
                  <a:srgbClr val="1C1819"/>
                </a:solidFill>
                <a:latin typeface="Plus Jakarta Sans"/>
                <a:ea typeface="Plus Jakarta Sans"/>
                <a:cs typeface="Plus Jakarta Sans"/>
                <a:sym typeface="Plus Jakarta Sans"/>
              </a:rPr>
              <a:t>d_max</a:t>
            </a:r>
            <a:r>
              <a:rPr lang="en-US" sz="1150" b="0" i="0" u="none" strike="noStrike" cap="none" dirty="0">
                <a:solidFill>
                  <a:srgbClr val="1C1819"/>
                </a:solidFill>
                <a:latin typeface="Plus Jakarta Sans"/>
                <a:ea typeface="Plus Jakarta Sans"/>
                <a:cs typeface="Plus Jakarta Sans"/>
                <a:sym typeface="Plus Jakarta Sans"/>
              </a:rPr>
              <a:t>) eliminates outliers forced into clusters.</a:t>
            </a:r>
            <a:endParaRPr dirty="0"/>
          </a:p>
        </p:txBody>
      </p:sp>
      <p:sp>
        <p:nvSpPr>
          <p:cNvPr id="259" name="Google Shape;259;p21"/>
          <p:cNvSpPr txBox="1"/>
          <p:nvPr/>
        </p:nvSpPr>
        <p:spPr>
          <a:xfrm>
            <a:off x="8270974" y="2580000"/>
            <a:ext cx="3187749"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150" b="0" i="0" u="none" strike="noStrike" cap="none">
                <a:solidFill>
                  <a:srgbClr val="1C1819"/>
                </a:solidFill>
                <a:latin typeface="Plus Jakarta Sans"/>
                <a:ea typeface="Plus Jakarta Sans"/>
                <a:cs typeface="Plus Jakarta Sans"/>
                <a:sym typeface="Plus Jakarta Sans"/>
              </a:rPr>
              <a:t>Why chosen: Regular vertical partitioning (r=0.5 km) breaking complex geometries into planar segments.</a:t>
            </a:r>
            <a:endParaRPr/>
          </a:p>
        </p:txBody>
      </p:sp>
      <p:sp>
        <p:nvSpPr>
          <p:cNvPr id="260" name="Google Shape;260;p21"/>
          <p:cNvSpPr txBox="1"/>
          <p:nvPr/>
        </p:nvSpPr>
        <p:spPr>
          <a:xfrm>
            <a:off x="8270973" y="3429000"/>
            <a:ext cx="3187749" cy="6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1C1819"/>
                </a:solidFill>
              </a:defRPr>
            </a:pPr>
            <a:r>
              <a:rPr lang="en-US" sz="1150" b="0" i="0" u="none" strike="noStrike" cap="none" dirty="0">
                <a:solidFill>
                  <a:srgbClr val="1C1819"/>
                </a:solidFill>
                <a:latin typeface="Plus Jakarta Sans"/>
                <a:ea typeface="Plus Jakarta Sans"/>
                <a:cs typeface="Plus Jakarta Sans"/>
                <a:sym typeface="Plus Jakarta Sans"/>
              </a:rPr>
              <a:t>Adaptation: Enforces spatial continuity across 4D animation frames.</a:t>
            </a:r>
            <a:endParaRPr dirty="0"/>
          </a:p>
        </p:txBody>
      </p:sp>
      <p:sp>
        <p:nvSpPr>
          <p:cNvPr id="261" name="Google Shape;261;p21"/>
          <p:cNvSpPr txBox="1"/>
          <p:nvPr/>
        </p:nvSpPr>
        <p:spPr>
          <a:xfrm>
            <a:off x="1095375"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36B5E"/>
                </a:solidFill>
              </a:defRPr>
            </a:pPr>
            <a:r>
              <a:rPr lang="en-US" sz="1550" b="1" i="0" u="none" strike="noStrike" cap="none">
                <a:solidFill>
                  <a:srgbClr val="236B5E"/>
                </a:solidFill>
                <a:latin typeface="Plus Jakarta Sans"/>
                <a:ea typeface="Plus Jakarta Sans"/>
                <a:cs typeface="Plus Jakarta Sans"/>
                <a:sym typeface="Plus Jakarta Sans"/>
              </a:rPr>
              <a:t>DBSCAN</a:t>
            </a:r>
            <a:endParaRPr/>
          </a:p>
        </p:txBody>
      </p:sp>
      <p:sp>
        <p:nvSpPr>
          <p:cNvPr id="262" name="Google Shape;262;p21"/>
          <p:cNvSpPr txBox="1"/>
          <p:nvPr/>
        </p:nvSpPr>
        <p:spPr>
          <a:xfrm>
            <a:off x="4816524"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04060"/>
                </a:solidFill>
              </a:defRPr>
            </a:pPr>
            <a:r>
              <a:rPr lang="en-US" sz="1550" b="1" i="0" u="none" strike="noStrike" cap="none">
                <a:solidFill>
                  <a:srgbClr val="204060"/>
                </a:solidFill>
                <a:latin typeface="Plus Jakarta Sans"/>
                <a:ea typeface="Plus Jakarta Sans"/>
                <a:cs typeface="Plus Jakarta Sans"/>
                <a:sym typeface="Plus Jakarta Sans"/>
              </a:rPr>
              <a:t>MiniBatchKMeans</a:t>
            </a:r>
            <a:endParaRPr/>
          </a:p>
        </p:txBody>
      </p:sp>
      <p:sp>
        <p:nvSpPr>
          <p:cNvPr id="263" name="Google Shape;263;p21"/>
          <p:cNvSpPr txBox="1"/>
          <p:nvPr/>
        </p:nvSpPr>
        <p:spPr>
          <a:xfrm>
            <a:off x="8518624" y="2200000"/>
            <a:ext cx="2500000"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B85828"/>
                </a:solidFill>
              </a:defRPr>
            </a:pPr>
            <a:r>
              <a:rPr lang="en-US" sz="1550" b="1" i="0" u="none" strike="noStrike" cap="none">
                <a:solidFill>
                  <a:srgbClr val="B85828"/>
                </a:solidFill>
                <a:latin typeface="Plus Jakarta Sans"/>
                <a:ea typeface="Plus Jakarta Sans"/>
                <a:cs typeface="Plus Jakarta Sans"/>
                <a:sym typeface="Plus Jakarta Sans"/>
              </a:rPr>
              <a:t>Cylinder Grid</a:t>
            </a:r>
            <a:endParaRPr/>
          </a:p>
        </p:txBody>
      </p:sp>
      <p:pic>
        <p:nvPicPr>
          <p:cNvPr id="264" name="Picture 263" descr="sapienza_logo.png"/>
          <p:cNvPicPr>
            <a:picLocks noChangeAspect="1"/>
          </p:cNvPicPr>
          <p:nvPr/>
        </p:nvPicPr>
        <p:blipFill>
          <a:blip r:embed="rId6"/>
          <a:stretch>
            <a:fillRect/>
          </a:stretch>
        </p:blipFill>
        <p:spPr>
          <a:xfrm>
            <a:off x="9750000" y="400000"/>
            <a:ext cx="1900000" cy="570000"/>
          </a:xfrm>
          <a:prstGeom prst="rect">
            <a:avLst/>
          </a:prstGeom>
        </p:spPr>
      </p:pic>
      <p:sp>
        <p:nvSpPr>
          <p:cNvPr id="26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67"/>
        <p:cNvGrpSpPr/>
        <p:nvPr/>
      </p:nvGrpSpPr>
      <p:grpSpPr>
        <a:xfrm>
          <a:off x="0" y="0"/>
          <a:ext cx="0" cy="0"/>
          <a:chOff x="0" y="0"/>
          <a:chExt cx="0" cy="0"/>
        </a:xfrm>
      </p:grpSpPr>
      <p:sp>
        <p:nvSpPr>
          <p:cNvPr id="268" name="Google Shape;268;p22"/>
          <p:cNvSpPr/>
          <p:nvPr/>
        </p:nvSpPr>
        <p:spPr>
          <a:xfrm>
            <a:off x="609600" y="22717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9" name="Google Shape;269;p22"/>
          <p:cNvSpPr/>
          <p:nvPr/>
        </p:nvSpPr>
        <p:spPr>
          <a:xfrm>
            <a:off x="609600" y="34909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0" name="Google Shape;270;p22"/>
          <p:cNvSpPr/>
          <p:nvPr/>
        </p:nvSpPr>
        <p:spPr>
          <a:xfrm>
            <a:off x="609600" y="4710112"/>
            <a:ext cx="4791967" cy="68580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71" name="Google Shape;271;p22" descr="image.png"/>
          <p:cNvPicPr preferRelativeResize="0"/>
          <p:nvPr/>
        </p:nvPicPr>
        <p:blipFill rotWithShape="1">
          <a:blip r:embed="rId3">
            <a:alphaModFix/>
          </a:blip>
          <a:srcRect/>
          <a:stretch/>
        </p:blipFill>
        <p:spPr>
          <a:xfrm>
            <a:off x="5706367"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72" name="Google Shape;272;p22" descr="image.png"/>
          <p:cNvPicPr preferRelativeResize="0"/>
          <p:nvPr/>
        </p:nvPicPr>
        <p:blipFill rotWithShape="1">
          <a:blip r:embed="rId4">
            <a:alphaModFix/>
          </a:blip>
          <a:srcRect/>
          <a:stretch/>
        </p:blipFill>
        <p:spPr>
          <a:xfrm>
            <a:off x="5792091" y="1960181"/>
            <a:ext cx="5704583" cy="3747262"/>
          </a:xfrm>
          <a:prstGeom prst="rect">
            <a:avLst/>
          </a:prstGeom>
          <a:noFill/>
          <a:ln>
            <a:noFill/>
          </a:ln>
        </p:spPr>
      </p:pic>
      <p:sp>
        <p:nvSpPr>
          <p:cNvPr id="273" name="Google Shape;273;p22"/>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STRUCTURAL GEOLOGY &amp; MATHEMATICS</a:t>
            </a:r>
            <a:endParaRPr/>
          </a:p>
        </p:txBody>
      </p:sp>
      <p:sp>
        <p:nvSpPr>
          <p:cNvPr id="274" name="Google Shape;274;p22"/>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Automated Fault Plane Estimation: RANSAC + SVD</a:t>
            </a:r>
            <a:endParaRPr/>
          </a:p>
        </p:txBody>
      </p:sp>
      <p:sp>
        <p:nvSpPr>
          <p:cNvPr id="275" name="Google Shape;275;p22"/>
          <p:cNvSpPr txBox="1"/>
          <p:nvPr/>
        </p:nvSpPr>
        <p:spPr>
          <a:xfrm>
            <a:off x="809625" y="24717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1: RANSAC Inlier Extraction</a:t>
            </a:r>
            <a:endParaRPr dirty="0"/>
          </a:p>
        </p:txBody>
      </p:sp>
      <p:sp>
        <p:nvSpPr>
          <p:cNvPr id="276" name="Google Shape;276;p22"/>
          <p:cNvSpPr txBox="1"/>
          <p:nvPr/>
        </p:nvSpPr>
        <p:spPr>
          <a:xfrm>
            <a:off x="809625" y="27384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Samples triplet candidate planes over 100 iterations to eliminate diffuse non-planar noise.</a:t>
            </a:r>
            <a:endParaRPr dirty="0"/>
          </a:p>
        </p:txBody>
      </p:sp>
      <p:sp>
        <p:nvSpPr>
          <p:cNvPr id="277" name="Google Shape;277;p22"/>
          <p:cNvSpPr txBox="1"/>
          <p:nvPr/>
        </p:nvSpPr>
        <p:spPr>
          <a:xfrm>
            <a:off x="809625" y="3690937"/>
            <a:ext cx="576439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2: SVD &amp; Geological Angles</a:t>
            </a:r>
            <a:endParaRPr dirty="0"/>
          </a:p>
        </p:txBody>
      </p:sp>
      <p:sp>
        <p:nvSpPr>
          <p:cNvPr id="278" name="Google Shape;278;p22"/>
          <p:cNvSpPr txBox="1"/>
          <p:nvPr/>
        </p:nvSpPr>
        <p:spPr>
          <a:xfrm>
            <a:off x="809625" y="39576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Normal vector derived from smallest singular value. Computes Strike, Dip, and Planarity P = (σ₂ - σ₃)/σ₁.</a:t>
            </a:r>
            <a:endParaRPr dirty="0"/>
          </a:p>
        </p:txBody>
      </p:sp>
      <p:sp>
        <p:nvSpPr>
          <p:cNvPr id="279" name="Google Shape;279;p22"/>
          <p:cNvSpPr txBox="1"/>
          <p:nvPr/>
        </p:nvSpPr>
        <p:spPr>
          <a:xfrm>
            <a:off x="771525" y="4872037"/>
            <a:ext cx="4563367"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Triangulated meshes display strike/dip vectors on hover inside the 3D scene.</a:t>
            </a:r>
            <a:endParaRPr dirty="0"/>
          </a:p>
        </p:txBody>
      </p:sp>
      <p:pic>
        <p:nvPicPr>
          <p:cNvPr id="280" name="Picture 279"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8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83"/>
        <p:cNvGrpSpPr/>
        <p:nvPr/>
      </p:nvGrpSpPr>
      <p:grpSpPr>
        <a:xfrm>
          <a:off x="0" y="0"/>
          <a:ext cx="0" cy="0"/>
          <a:chOff x="0" y="0"/>
          <a:chExt cx="0" cy="0"/>
        </a:xfrm>
      </p:grpSpPr>
      <p:sp>
        <p:nvSpPr>
          <p:cNvPr id="284" name="Google Shape;284;p23"/>
          <p:cNvSpPr/>
          <p:nvPr/>
        </p:nvSpPr>
        <p:spPr>
          <a:xfrm>
            <a:off x="6790432" y="22717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p23"/>
          <p:cNvSpPr/>
          <p:nvPr/>
        </p:nvSpPr>
        <p:spPr>
          <a:xfrm>
            <a:off x="6790432" y="3490912"/>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23"/>
          <p:cNvSpPr/>
          <p:nvPr/>
        </p:nvSpPr>
        <p:spPr>
          <a:xfrm>
            <a:off x="6790432" y="4710112"/>
            <a:ext cx="4791967" cy="685800"/>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87" name="Google Shape;287;p23" descr="image.png"/>
          <p:cNvPicPr preferRelativeResize="0"/>
          <p:nvPr/>
        </p:nvPicPr>
        <p:blipFill rotWithShape="1">
          <a:blip r:embed="rId3">
            <a:alphaModFix/>
          </a:blip>
          <a:srcRect/>
          <a:stretch/>
        </p:blipFill>
        <p:spPr>
          <a:xfrm>
            <a:off x="609600" y="1890013"/>
            <a:ext cx="5876032" cy="388759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88" name="Google Shape;288;p23" descr="image.png"/>
          <p:cNvPicPr preferRelativeResize="0"/>
          <p:nvPr/>
        </p:nvPicPr>
        <p:blipFill rotWithShape="1">
          <a:blip r:embed="rId4">
            <a:alphaModFix/>
          </a:blip>
          <a:srcRect/>
          <a:stretch/>
        </p:blipFill>
        <p:spPr>
          <a:xfrm>
            <a:off x="705800" y="1972724"/>
            <a:ext cx="5683632" cy="3722176"/>
          </a:xfrm>
          <a:prstGeom prst="rect">
            <a:avLst/>
          </a:prstGeom>
          <a:noFill/>
          <a:ln>
            <a:noFill/>
          </a:ln>
        </p:spPr>
      </p:pic>
      <p:sp>
        <p:nvSpPr>
          <p:cNvPr id="289" name="Google Shape;289;p23"/>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ALGORITHMIC INNOVATION</a:t>
            </a:r>
            <a:endParaRPr/>
          </a:p>
        </p:txBody>
      </p:sp>
      <p:sp>
        <p:nvSpPr>
          <p:cNvPr id="290" name="Google Shape;290;p23"/>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4D Cylinder Partitioning &amp; Label Stability</a:t>
            </a:r>
            <a:endParaRPr/>
          </a:p>
        </p:txBody>
      </p:sp>
      <p:sp>
        <p:nvSpPr>
          <p:cNvPr id="291" name="Google Shape;291;p23"/>
          <p:cNvSpPr txBox="1"/>
          <p:nvPr/>
        </p:nvSpPr>
        <p:spPr>
          <a:xfrm>
            <a:off x="6990457" y="2471737"/>
            <a:ext cx="520154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Why Cylinder Partitioning?</a:t>
            </a:r>
            <a:endParaRPr dirty="0"/>
          </a:p>
        </p:txBody>
      </p:sp>
      <p:sp>
        <p:nvSpPr>
          <p:cNvPr id="292" name="Google Shape;292;p23"/>
          <p:cNvSpPr txBox="1"/>
          <p:nvPr/>
        </p:nvSpPr>
        <p:spPr>
          <a:xfrm>
            <a:off x="6990457" y="27384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Global 3D swarms curve across the caldera; spatial vertical cylinders isolate local linear fault segments.</a:t>
            </a:r>
            <a:endParaRPr dirty="0"/>
          </a:p>
        </p:txBody>
      </p:sp>
      <p:sp>
        <p:nvSpPr>
          <p:cNvPr id="293" name="Google Shape;293;p23"/>
          <p:cNvSpPr txBox="1"/>
          <p:nvPr/>
        </p:nvSpPr>
        <p:spPr>
          <a:xfrm>
            <a:off x="6990457" y="3690937"/>
            <a:ext cx="5201542"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Global Label Matching</a:t>
            </a:r>
            <a:endParaRPr dirty="0"/>
          </a:p>
        </p:txBody>
      </p:sp>
      <p:sp>
        <p:nvSpPr>
          <p:cNvPr id="294" name="Google Shape;294;p23"/>
          <p:cNvSpPr txBox="1"/>
          <p:nvPr/>
        </p:nvSpPr>
        <p:spPr>
          <a:xfrm>
            <a:off x="6990457" y="3957637"/>
            <a:ext cx="4487167" cy="40005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Historical majority voting eliminates cluster </a:t>
            </a:r>
            <a:r>
              <a:rPr lang="en-US" sz="1125" b="0" i="0" u="none" strike="noStrike" cap="none" dirty="0" err="1">
                <a:solidFill>
                  <a:srgbClr val="2D2628"/>
                </a:solidFill>
                <a:latin typeface="Plus Jakarta Sans"/>
                <a:ea typeface="Plus Jakarta Sans"/>
                <a:cs typeface="Plus Jakarta Sans"/>
                <a:sym typeface="Plus Jakarta Sans"/>
              </a:rPr>
              <a:t>colour</a:t>
            </a:r>
            <a:r>
              <a:rPr lang="en-US" sz="1125" b="0" i="0" u="none" strike="noStrike" cap="none" dirty="0">
                <a:solidFill>
                  <a:srgbClr val="2D2628"/>
                </a:solidFill>
                <a:latin typeface="Plus Jakarta Sans"/>
                <a:ea typeface="Plus Jakarta Sans"/>
                <a:cs typeface="Plus Jakarta Sans"/>
                <a:sym typeface="Plus Jakarta Sans"/>
              </a:rPr>
              <a:t> flickering across sequential animation frames.</a:t>
            </a:r>
            <a:endParaRPr dirty="0"/>
          </a:p>
        </p:txBody>
      </p:sp>
      <p:sp>
        <p:nvSpPr>
          <p:cNvPr id="295" name="Google Shape;295;p23"/>
          <p:cNvSpPr txBox="1"/>
          <p:nvPr/>
        </p:nvSpPr>
        <p:spPr>
          <a:xfrm>
            <a:off x="6990457" y="4793325"/>
            <a:ext cx="4495743" cy="519373"/>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b="0">
                <a:solidFill>
                  <a:srgbClr val="2D2628"/>
                </a:solidFill>
              </a:defRPr>
            </a:pPr>
            <a:r>
              <a:rPr lang="en-US" sz="1125" b="0" i="0" u="none" strike="noStrike" cap="none" dirty="0">
                <a:solidFill>
                  <a:srgbClr val="2D2628"/>
                </a:solidFill>
                <a:latin typeface="Plus Jakarta Sans"/>
                <a:ea typeface="Plus Jakarta Sans"/>
                <a:cs typeface="Plus Jakarta Sans"/>
                <a:sym typeface="Plus Jakarta Sans"/>
              </a:rPr>
              <a:t>Multithreaded </a:t>
            </a:r>
            <a:r>
              <a:rPr lang="en-US" sz="1125" b="0" i="0" u="none" strike="noStrike" cap="none" dirty="0" err="1">
                <a:solidFill>
                  <a:srgbClr val="2D2628"/>
                </a:solidFill>
                <a:latin typeface="Plus Jakarta Sans"/>
                <a:ea typeface="Plus Jakarta Sans"/>
                <a:cs typeface="Plus Jakarta Sans"/>
                <a:sym typeface="Plus Jakarta Sans"/>
              </a:rPr>
              <a:t>ThreadPoolExecutor</a:t>
            </a:r>
            <a:r>
              <a:rPr lang="en-US" sz="1125" b="0" i="0" u="none" strike="noStrike" cap="none" dirty="0">
                <a:solidFill>
                  <a:srgbClr val="2D2628"/>
                </a:solidFill>
                <a:latin typeface="Plus Jakarta Sans"/>
                <a:ea typeface="Plus Jakarta Sans"/>
                <a:cs typeface="Plus Jakarta Sans"/>
                <a:sym typeface="Plus Jakarta Sans"/>
              </a:rPr>
              <a:t> (8 workers) fits cylinder planes in parallel across frames.</a:t>
            </a:r>
            <a:endParaRPr dirty="0"/>
          </a:p>
        </p:txBody>
      </p:sp>
      <p:pic>
        <p:nvPicPr>
          <p:cNvPr id="296" name="Picture 295"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297"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99"/>
        <p:cNvGrpSpPr/>
        <p:nvPr/>
      </p:nvGrpSpPr>
      <p:grpSpPr>
        <a:xfrm>
          <a:off x="0" y="0"/>
          <a:ext cx="0" cy="0"/>
          <a:chOff x="0" y="0"/>
          <a:chExt cx="0" cy="0"/>
        </a:xfrm>
      </p:grpSpPr>
      <p:sp>
        <p:nvSpPr>
          <p:cNvPr id="300" name="Google Shape;300;p24"/>
          <p:cNvSpPr/>
          <p:nvPr/>
        </p:nvSpPr>
        <p:spPr>
          <a:xfrm>
            <a:off x="609600" y="4250000"/>
            <a:ext cx="10972800" cy="1050000"/>
          </a:xfrm>
          <a:prstGeom prst="roundRect">
            <a:avLst>
              <a:gd name="adj" fmla="val 14583"/>
            </a:avLst>
          </a:prstGeom>
          <a:solidFill>
            <a:schemeClr val="tx2"/>
          </a:solidFill>
          <a:ln w="19050" cap="flat" cmpd="sng">
            <a:solidFill>
              <a:srgbClr val="00206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1" name="Google Shape;301;p24"/>
          <p:cNvSpPr/>
          <p:nvPr/>
        </p:nvSpPr>
        <p:spPr>
          <a:xfrm>
            <a:off x="609600" y="1950000"/>
            <a:ext cx="2628900" cy="2050000"/>
          </a:xfrm>
          <a:prstGeom prst="roundRect">
            <a:avLst>
              <a:gd name="adj" fmla="val 9163"/>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24"/>
          <p:cNvSpPr/>
          <p:nvPr/>
        </p:nvSpPr>
        <p:spPr>
          <a:xfrm>
            <a:off x="3371850" y="1950000"/>
            <a:ext cx="2628900" cy="2050000"/>
          </a:xfrm>
          <a:prstGeom prst="roundRect">
            <a:avLst>
              <a:gd name="adj" fmla="val 916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303" name="Google Shape;303;p24"/>
          <p:cNvSpPr/>
          <p:nvPr/>
        </p:nvSpPr>
        <p:spPr>
          <a:xfrm>
            <a:off x="6172200" y="1950000"/>
            <a:ext cx="2628900" cy="2050000"/>
          </a:xfrm>
          <a:prstGeom prst="roundRect">
            <a:avLst>
              <a:gd name="adj" fmla="val 9163"/>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4" name="Google Shape;304;p24"/>
          <p:cNvSpPr/>
          <p:nvPr/>
        </p:nvSpPr>
        <p:spPr>
          <a:xfrm>
            <a:off x="8953500" y="1950000"/>
            <a:ext cx="2628900" cy="2050000"/>
          </a:xfrm>
          <a:prstGeom prst="roundRect">
            <a:avLst>
              <a:gd name="adj" fmla="val 9163"/>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5" name="Google Shape;305;p2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DATA ENGINEERING PIPELINE</a:t>
            </a:r>
            <a:endParaRPr/>
          </a:p>
        </p:txBody>
      </p:sp>
      <p:sp>
        <p:nvSpPr>
          <p:cNvPr id="306" name="Google Shape;306;p24"/>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Geospatial Ingestion &amp; Sanitisation Choices</a:t>
            </a:r>
            <a:endParaRPr/>
          </a:p>
        </p:txBody>
      </p:sp>
      <p:sp>
        <p:nvSpPr>
          <p:cNvPr id="307" name="Google Shape;307;p24"/>
          <p:cNvSpPr txBox="1"/>
          <p:nvPr/>
        </p:nvSpPr>
        <p:spPr>
          <a:xfrm>
            <a:off x="7810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a:solidFill>
                  <a:srgbClr val="204060"/>
                </a:solidFill>
                <a:latin typeface="Plus Jakarta Sans"/>
                <a:ea typeface="Plus Jakarta Sans"/>
                <a:cs typeface="Plus Jakarta Sans"/>
                <a:sym typeface="Plus Jakarta Sans"/>
              </a:rPr>
              <a:t>STAGE 1 &amp; 2</a:t>
            </a:r>
            <a:endParaRPr/>
          </a:p>
        </p:txBody>
      </p:sp>
      <p:sp>
        <p:nvSpPr>
          <p:cNvPr id="308" name="Google Shape;308;p24"/>
          <p:cNvSpPr txBox="1"/>
          <p:nvPr/>
        </p:nvSpPr>
        <p:spPr>
          <a:xfrm>
            <a:off x="35623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B85828"/>
                </a:solidFill>
              </a:defRPr>
            </a:pPr>
            <a:r>
              <a:rPr lang="en-US" sz="1050" b="1" i="0" u="none" strike="noStrike" cap="none">
                <a:solidFill>
                  <a:srgbClr val="B85828"/>
                </a:solidFill>
                <a:latin typeface="Plus Jakarta Sans"/>
                <a:ea typeface="Plus Jakarta Sans"/>
                <a:cs typeface="Plus Jakarta Sans"/>
                <a:sym typeface="Plus Jakarta Sans"/>
              </a:rPr>
              <a:t>CRITICAL DECISION</a:t>
            </a:r>
            <a:endParaRPr/>
          </a:p>
        </p:txBody>
      </p:sp>
      <p:sp>
        <p:nvSpPr>
          <p:cNvPr id="309" name="Google Shape;309;p24"/>
          <p:cNvSpPr txBox="1"/>
          <p:nvPr/>
        </p:nvSpPr>
        <p:spPr>
          <a:xfrm>
            <a:off x="63436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36B5E"/>
                </a:solidFill>
              </a:defRPr>
            </a:pPr>
            <a:r>
              <a:rPr lang="en-US" sz="1050" b="1" i="0" u="none" strike="noStrike" cap="none">
                <a:solidFill>
                  <a:srgbClr val="236B5E"/>
                </a:solidFill>
                <a:latin typeface="Plus Jakarta Sans"/>
                <a:ea typeface="Plus Jakarta Sans"/>
                <a:cs typeface="Plus Jakarta Sans"/>
                <a:sym typeface="Plus Jakarta Sans"/>
              </a:rPr>
              <a:t>STAGE 3 &amp; 4</a:t>
            </a:r>
            <a:endParaRPr/>
          </a:p>
        </p:txBody>
      </p:sp>
      <p:sp>
        <p:nvSpPr>
          <p:cNvPr id="310" name="Google Shape;310;p24"/>
          <p:cNvSpPr txBox="1"/>
          <p:nvPr/>
        </p:nvSpPr>
        <p:spPr>
          <a:xfrm>
            <a:off x="9124950" y="2100000"/>
            <a:ext cx="238125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822433"/>
                </a:solidFill>
              </a:defRPr>
            </a:pPr>
            <a:r>
              <a:rPr lang="en-US" sz="1050" b="1" i="0" u="none" strike="noStrike" cap="none">
                <a:solidFill>
                  <a:srgbClr val="822433"/>
                </a:solidFill>
                <a:latin typeface="Plus Jakarta Sans"/>
                <a:ea typeface="Plus Jakarta Sans"/>
                <a:cs typeface="Plus Jakarta Sans"/>
                <a:sym typeface="Plus Jakarta Sans"/>
              </a:rPr>
              <a:t>STAGE 5</a:t>
            </a:r>
            <a:endParaRPr/>
          </a:p>
        </p:txBody>
      </p:sp>
      <p:sp>
        <p:nvSpPr>
          <p:cNvPr id="311" name="Google Shape;311;p24"/>
          <p:cNvSpPr txBox="1"/>
          <p:nvPr/>
        </p:nvSpPr>
        <p:spPr>
          <a:xfrm>
            <a:off x="9200000" y="4400000"/>
            <a:ext cx="2200000" cy="4001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2600" b="1">
                <a:solidFill>
                  <a:srgbClr val="F6AD55"/>
                </a:solidFill>
              </a:defRPr>
            </a:pPr>
            <a:r>
              <a:rPr lang="en-US" sz="2600" b="1" i="0" u="none" strike="noStrike" cap="none" dirty="0">
                <a:solidFill>
                  <a:schemeClr val="bg2"/>
                </a:solidFill>
                <a:latin typeface="Plus Jakarta Sans"/>
                <a:ea typeface="Plus Jakarta Sans"/>
                <a:cs typeface="Plus Jakarta Sans"/>
                <a:sym typeface="Plus Jakarta Sans"/>
              </a:rPr>
              <a:t>-80% Size</a:t>
            </a:r>
            <a:endParaRPr dirty="0">
              <a:solidFill>
                <a:schemeClr val="bg2"/>
              </a:solidFill>
            </a:endParaRPr>
          </a:p>
        </p:txBody>
      </p:sp>
      <p:sp>
        <p:nvSpPr>
          <p:cNvPr id="312" name="Google Shape;312;p24"/>
          <p:cNvSpPr txBox="1"/>
          <p:nvPr/>
        </p:nvSpPr>
        <p:spPr>
          <a:xfrm>
            <a:off x="7810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04060"/>
                </a:solidFill>
              </a:defRPr>
            </a:pPr>
            <a:r>
              <a:rPr lang="en-US" sz="1550" b="1" i="0" u="none" strike="noStrike" cap="none">
                <a:solidFill>
                  <a:srgbClr val="204060"/>
                </a:solidFill>
                <a:latin typeface="Plus Jakarta Sans"/>
                <a:ea typeface="Plus Jakarta Sans"/>
                <a:cs typeface="Plus Jakarta Sans"/>
                <a:sym typeface="Plus Jakarta Sans"/>
              </a:rPr>
              <a:t>Multi-Source Loading</a:t>
            </a:r>
            <a:endParaRPr/>
          </a:p>
        </p:txBody>
      </p:sp>
      <p:sp>
        <p:nvSpPr>
          <p:cNvPr id="313" name="Google Shape;313;p24"/>
          <p:cNvSpPr txBox="1"/>
          <p:nvPr/>
        </p:nvSpPr>
        <p:spPr>
          <a:xfrm>
            <a:off x="781050" y="2700000"/>
            <a:ext cx="2362200" cy="11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dirty="0">
                <a:solidFill>
                  <a:srgbClr val="1C1819"/>
                </a:solidFill>
                <a:latin typeface="Plus Jakarta Sans"/>
                <a:ea typeface="Plus Jakarta Sans"/>
                <a:cs typeface="Plus Jakarta Sans"/>
                <a:sym typeface="Plus Jakarta Sans"/>
              </a:rPr>
              <a:t>Dynamic CSV header alias detection and segmented yearly queries to INGV GOSSIP API.</a:t>
            </a:r>
            <a:endParaRPr dirty="0"/>
          </a:p>
        </p:txBody>
      </p:sp>
      <p:sp>
        <p:nvSpPr>
          <p:cNvPr id="314" name="Google Shape;314;p24"/>
          <p:cNvSpPr txBox="1"/>
          <p:nvPr/>
        </p:nvSpPr>
        <p:spPr>
          <a:xfrm>
            <a:off x="35623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B85828"/>
                </a:solidFill>
              </a:defRPr>
            </a:pPr>
            <a:r>
              <a:rPr lang="en-US" sz="1550" b="1" i="0" u="none" strike="noStrike" cap="none">
                <a:solidFill>
                  <a:srgbClr val="B85828"/>
                </a:solidFill>
                <a:latin typeface="Plus Jakarta Sans"/>
                <a:ea typeface="Plus Jakarta Sans"/>
                <a:cs typeface="Plus Jakarta Sans"/>
                <a:sym typeface="Plus Jakarta Sans"/>
              </a:rPr>
              <a:t>Sentinel Depth Handling</a:t>
            </a:r>
            <a:endParaRPr/>
          </a:p>
        </p:txBody>
      </p:sp>
      <p:sp>
        <p:nvSpPr>
          <p:cNvPr id="316" name="Google Shape;316;p24"/>
          <p:cNvSpPr txBox="1"/>
          <p:nvPr/>
        </p:nvSpPr>
        <p:spPr>
          <a:xfrm>
            <a:off x="63436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36B5E"/>
                </a:solidFill>
              </a:defRPr>
            </a:pPr>
            <a:r>
              <a:rPr lang="en-US" sz="1550" b="1" i="0" u="none" strike="noStrike" cap="none">
                <a:solidFill>
                  <a:srgbClr val="236B5E"/>
                </a:solidFill>
                <a:latin typeface="Plus Jakarta Sans"/>
                <a:ea typeface="Plus Jakarta Sans"/>
                <a:cs typeface="Plus Jakarta Sans"/>
                <a:sym typeface="Plus Jakarta Sans"/>
              </a:rPr>
              <a:t>Physical Bounds Check</a:t>
            </a:r>
            <a:endParaRPr/>
          </a:p>
        </p:txBody>
      </p:sp>
      <p:sp>
        <p:nvSpPr>
          <p:cNvPr id="317" name="Google Shape;317;p24"/>
          <p:cNvSpPr txBox="1"/>
          <p:nvPr/>
        </p:nvSpPr>
        <p:spPr>
          <a:xfrm>
            <a:off x="6343650" y="2700000"/>
            <a:ext cx="2362200" cy="11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Filters depth [-10, +800 km], preserves volcanic mountain events, and drops future dates.</a:t>
            </a:r>
            <a:endParaRPr/>
          </a:p>
        </p:txBody>
      </p:sp>
      <p:sp>
        <p:nvSpPr>
          <p:cNvPr id="318" name="Google Shape;318;p24"/>
          <p:cNvSpPr txBox="1"/>
          <p:nvPr/>
        </p:nvSpPr>
        <p:spPr>
          <a:xfrm>
            <a:off x="9124950" y="2320000"/>
            <a:ext cx="23812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822433"/>
                </a:solidFill>
              </a:defRPr>
            </a:pPr>
            <a:r>
              <a:rPr lang="en-US" sz="1550" b="1" i="0" u="none" strike="noStrike" cap="none">
                <a:solidFill>
                  <a:srgbClr val="822433"/>
                </a:solidFill>
                <a:latin typeface="Plus Jakarta Sans"/>
                <a:ea typeface="Plus Jakarta Sans"/>
                <a:cs typeface="Plus Jakarta Sans"/>
                <a:sym typeface="Plus Jakarta Sans"/>
              </a:rPr>
              <a:t>Geospatial Projection</a:t>
            </a:r>
            <a:endParaRPr/>
          </a:p>
        </p:txBody>
      </p:sp>
      <p:sp>
        <p:nvSpPr>
          <p:cNvPr id="319" name="Google Shape;319;p24"/>
          <p:cNvSpPr txBox="1"/>
          <p:nvPr/>
        </p:nvSpPr>
        <p:spPr>
          <a:xfrm>
            <a:off x="9124950" y="2700000"/>
            <a:ext cx="2362200" cy="11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Converts UTM Zone 33N tomography grids to WGS84 and maps OSM tile coordinates.</a:t>
            </a:r>
            <a:endParaRPr/>
          </a:p>
        </p:txBody>
      </p:sp>
      <p:sp>
        <p:nvSpPr>
          <p:cNvPr id="320" name="Google Shape;320;p24"/>
          <p:cNvSpPr txBox="1"/>
          <p:nvPr/>
        </p:nvSpPr>
        <p:spPr>
          <a:xfrm>
            <a:off x="885825" y="4420000"/>
            <a:ext cx="8000000"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FFFFFF"/>
                </a:solidFill>
              </a:defRPr>
            </a:pPr>
            <a:r>
              <a:rPr lang="en-US" sz="1650" b="1" i="0" u="none" strike="noStrike" cap="none" dirty="0">
                <a:solidFill>
                  <a:schemeClr val="bg2"/>
                </a:solidFill>
                <a:latin typeface="Plus Jakarta Sans"/>
                <a:ea typeface="Plus Jakarta Sans"/>
                <a:cs typeface="Plus Jakarta Sans"/>
                <a:sym typeface="Plus Jakarta Sans"/>
              </a:rPr>
              <a:t>Float32 Contiguous Binary Protocol (/</a:t>
            </a:r>
            <a:r>
              <a:rPr lang="en-US" sz="1650" b="1" i="0" u="none" strike="noStrike" cap="none" dirty="0" err="1">
                <a:solidFill>
                  <a:schemeClr val="bg2"/>
                </a:solidFill>
                <a:latin typeface="Plus Jakarta Sans"/>
                <a:ea typeface="Plus Jakarta Sans"/>
                <a:cs typeface="Plus Jakarta Sans"/>
                <a:sym typeface="Plus Jakarta Sans"/>
              </a:rPr>
              <a:t>api</a:t>
            </a:r>
            <a:r>
              <a:rPr lang="en-US" sz="1650" b="1" i="0" u="none" strike="noStrike" cap="none" dirty="0">
                <a:solidFill>
                  <a:schemeClr val="bg2"/>
                </a:solidFill>
                <a:latin typeface="Plus Jakarta Sans"/>
                <a:ea typeface="Plus Jakarta Sans"/>
                <a:cs typeface="Plus Jakarta Sans"/>
                <a:sym typeface="Plus Jakarta Sans"/>
              </a:rPr>
              <a:t>/data/{id}/bin)</a:t>
            </a:r>
            <a:endParaRPr dirty="0">
              <a:solidFill>
                <a:schemeClr val="bg2"/>
              </a:solidFill>
            </a:endParaRPr>
          </a:p>
        </p:txBody>
      </p:sp>
      <p:sp>
        <p:nvSpPr>
          <p:cNvPr id="321" name="Google Shape;321;p24"/>
          <p:cNvSpPr txBox="1"/>
          <p:nvPr/>
        </p:nvSpPr>
        <p:spPr>
          <a:xfrm>
            <a:off x="885825" y="4780000"/>
            <a:ext cx="8000000" cy="20005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CBD5E1"/>
                </a:solidFill>
              </a:defRPr>
            </a:pPr>
            <a:r>
              <a:rPr lang="en-US" sz="1300" b="0" i="0" u="none" strike="noStrike" cap="none" dirty="0">
                <a:solidFill>
                  <a:schemeClr val="tx1"/>
                </a:solidFill>
                <a:latin typeface="Plus Jakarta Sans"/>
                <a:ea typeface="Plus Jakarta Sans"/>
                <a:cs typeface="Plus Jakarta Sans"/>
                <a:sym typeface="Plus Jakarta Sans"/>
              </a:rPr>
              <a:t>Replaced JSON text payloads: packs coordinates into Float32Array buffers with 2-float header [N, Lc].</a:t>
            </a:r>
            <a:endParaRPr dirty="0">
              <a:solidFill>
                <a:schemeClr val="tx1"/>
              </a:solidFill>
            </a:endParaRPr>
          </a:p>
        </p:txBody>
      </p:sp>
      <p:sp>
        <p:nvSpPr>
          <p:cNvPr id="322" name="Google Shape;322;p24"/>
          <p:cNvSpPr txBox="1"/>
          <p:nvPr/>
        </p:nvSpPr>
        <p:spPr>
          <a:xfrm>
            <a:off x="9200000" y="4850000"/>
            <a:ext cx="2200000" cy="20005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1300" b="1">
                <a:solidFill>
                  <a:srgbClr val="FFFFFF"/>
                </a:solidFill>
              </a:defRPr>
            </a:pPr>
            <a:r>
              <a:rPr lang="en-US" sz="1300" b="1" i="0" u="none" strike="noStrike" cap="none" dirty="0">
                <a:solidFill>
                  <a:schemeClr val="bg2"/>
                </a:solidFill>
                <a:latin typeface="Plus Jakarta Sans"/>
                <a:ea typeface="Plus Jakarta Sans"/>
                <a:cs typeface="Plus Jakarta Sans"/>
                <a:sym typeface="Plus Jakarta Sans"/>
              </a:rPr>
              <a:t>&lt; 0.01 </a:t>
            </a:r>
            <a:r>
              <a:rPr lang="en-US" sz="1300" b="1" i="0" u="none" strike="noStrike" cap="none" dirty="0" err="1">
                <a:solidFill>
                  <a:schemeClr val="bg2"/>
                </a:solidFill>
                <a:latin typeface="Plus Jakarta Sans"/>
                <a:ea typeface="Plus Jakarta Sans"/>
                <a:cs typeface="Plus Jakarta Sans"/>
                <a:sym typeface="Plus Jakarta Sans"/>
              </a:rPr>
              <a:t>ms</a:t>
            </a:r>
            <a:r>
              <a:rPr lang="en-US" sz="1300" b="1" i="0" u="none" strike="noStrike" cap="none" dirty="0">
                <a:solidFill>
                  <a:schemeClr val="bg2"/>
                </a:solidFill>
                <a:latin typeface="Plus Jakarta Sans"/>
                <a:ea typeface="Plus Jakarta Sans"/>
                <a:cs typeface="Plus Jakarta Sans"/>
                <a:sym typeface="Plus Jakarta Sans"/>
              </a:rPr>
              <a:t> decode time</a:t>
            </a:r>
            <a:endParaRPr dirty="0">
              <a:solidFill>
                <a:schemeClr val="bg2"/>
              </a:solidFill>
            </a:endParaRPr>
          </a:p>
        </p:txBody>
      </p:sp>
      <p:pic>
        <p:nvPicPr>
          <p:cNvPr id="323" name="Picture 322"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32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CasellaDiTesto 1">
            <a:extLst>
              <a:ext uri="{FF2B5EF4-FFF2-40B4-BE49-F238E27FC236}">
                <a16:creationId xmlns:a16="http://schemas.microsoft.com/office/drawing/2014/main" id="{7F1CBB75-106E-02F7-2FA3-5B26466B2BFD}"/>
              </a:ext>
            </a:extLst>
          </p:cNvPr>
          <p:cNvSpPr txBox="1"/>
          <p:nvPr/>
        </p:nvSpPr>
        <p:spPr>
          <a:xfrm>
            <a:off x="3559683" y="2588234"/>
            <a:ext cx="2253234" cy="1555682"/>
          </a:xfrm>
          <a:prstGeom prst="rect">
            <a:avLst/>
          </a:prstGeom>
          <a:noFill/>
        </p:spPr>
        <p:txBody>
          <a:bodyPr wrap="square" rtlCol="0">
            <a:spAutoFit/>
          </a:bodyPr>
          <a:lstStyle/>
          <a:p>
            <a:pPr>
              <a:lnSpc>
                <a:spcPct val="150000"/>
              </a:lnSpc>
            </a:pPr>
            <a:r>
              <a:rPr lang="en-US" sz="1300" dirty="0">
                <a:solidFill>
                  <a:schemeClr val="dk1"/>
                </a:solidFill>
                <a:latin typeface="Plus Jakarta Sans" panose="020B0604020202020204" charset="0"/>
                <a:ea typeface="Calibri"/>
                <a:cs typeface="Plus Jakarta Sans" panose="020B0604020202020204" charset="0"/>
                <a:sym typeface="Calibri"/>
              </a:rPr>
              <a:t>Missing depths kept for 2D maps, but excluded from 3d/clustering to prevent artificial planes.</a:t>
            </a:r>
          </a:p>
          <a:p>
            <a:pPr>
              <a:lnSpc>
                <a:spcPct val="150000"/>
              </a:lnSpc>
            </a:pPr>
            <a:endParaRPr lang="it-IT"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26"/>
        <p:cNvGrpSpPr/>
        <p:nvPr/>
      </p:nvGrpSpPr>
      <p:grpSpPr>
        <a:xfrm>
          <a:off x="0" y="0"/>
          <a:ext cx="0" cy="0"/>
          <a:chOff x="0" y="0"/>
          <a:chExt cx="0" cy="0"/>
        </a:xfrm>
      </p:grpSpPr>
      <p:sp>
        <p:nvSpPr>
          <p:cNvPr id="327" name="Google Shape;327;p25"/>
          <p:cNvSpPr/>
          <p:nvPr/>
        </p:nvSpPr>
        <p:spPr>
          <a:xfrm>
            <a:off x="609600" y="1950000"/>
            <a:ext cx="5353050" cy="1900000"/>
          </a:xfrm>
          <a:prstGeom prst="roundRect">
            <a:avLst>
              <a:gd name="adj" fmla="val 790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8" name="Google Shape;328;p25"/>
          <p:cNvSpPr/>
          <p:nvPr/>
        </p:nvSpPr>
        <p:spPr>
          <a:xfrm>
            <a:off x="609600" y="4050000"/>
            <a:ext cx="5353050" cy="1450000"/>
          </a:xfrm>
          <a:prstGeom prst="roundRect">
            <a:avLst>
              <a:gd name="adj" fmla="val 1147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25"/>
          <p:cNvSpPr/>
          <p:nvPr/>
        </p:nvSpPr>
        <p:spPr>
          <a:xfrm>
            <a:off x="6229350" y="1950000"/>
            <a:ext cx="5353050" cy="1900000"/>
          </a:xfrm>
          <a:prstGeom prst="roundRect">
            <a:avLst>
              <a:gd name="adj" fmla="val 933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0" name="Google Shape;330;p25"/>
          <p:cNvSpPr/>
          <p:nvPr/>
        </p:nvSpPr>
        <p:spPr>
          <a:xfrm>
            <a:off x="6229350" y="4050000"/>
            <a:ext cx="5353050" cy="1450000"/>
          </a:xfrm>
          <a:prstGeom prst="roundRect">
            <a:avLst>
              <a:gd name="adj" fmla="val 1147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1" name="Google Shape;331;p2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RESULTS &amp; QUANTITATIVE VALIDATION</a:t>
            </a:r>
            <a:endParaRPr/>
          </a:p>
        </p:txBody>
      </p:sp>
      <p:sp>
        <p:nvSpPr>
          <p:cNvPr id="332" name="Google Shape;332;p25"/>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Benchmarks: Accuracy, Throughput &amp; Scaling</a:t>
            </a:r>
            <a:endParaRPr/>
          </a:p>
        </p:txBody>
      </p:sp>
      <p:sp>
        <p:nvSpPr>
          <p:cNvPr id="333" name="Google Shape;333;p25"/>
          <p:cNvSpPr txBox="1"/>
          <p:nvPr/>
        </p:nvSpPr>
        <p:spPr>
          <a:xfrm>
            <a:off x="847725" y="205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650" b="1" i="0" u="none" strike="noStrike" cap="none">
                <a:solidFill>
                  <a:srgbClr val="236B5E"/>
                </a:solidFill>
                <a:latin typeface="Plus Jakarta Sans"/>
                <a:ea typeface="Plus Jakarta Sans"/>
                <a:cs typeface="Plus Jakarta Sans"/>
                <a:sym typeface="Plus Jakarta Sans"/>
              </a:rPr>
              <a:t>Synthetic Monte Carlo Validation (500 runs)</a:t>
            </a:r>
            <a:endParaRPr/>
          </a:p>
        </p:txBody>
      </p:sp>
      <p:sp>
        <p:nvSpPr>
          <p:cNvPr id="334" name="Google Shape;334;p25"/>
          <p:cNvSpPr txBox="1"/>
          <p:nvPr/>
        </p:nvSpPr>
        <p:spPr>
          <a:xfrm>
            <a:off x="847725" y="2380000"/>
            <a:ext cx="4972050" cy="6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Evaluated plane extraction under Gaussian noise σ ∈ [10, 100] m and up to 30% uniform outlier contamination.</a:t>
            </a:r>
            <a:endParaRPr/>
          </a:p>
        </p:txBody>
      </p:sp>
      <p:sp>
        <p:nvSpPr>
          <p:cNvPr id="335" name="Google Shape;335;p25"/>
          <p:cNvSpPr txBox="1"/>
          <p:nvPr/>
        </p:nvSpPr>
        <p:spPr>
          <a:xfrm>
            <a:off x="847725" y="418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a:solidFill>
                  <a:srgbClr val="822433"/>
                </a:solidFill>
                <a:latin typeface="Plus Jakarta Sans"/>
                <a:ea typeface="Plus Jakarta Sans"/>
                <a:cs typeface="Plus Jakarta Sans"/>
                <a:sym typeface="Plus Jakarta Sans"/>
              </a:rPr>
              <a:t>Real Catalogue Testing (Campi Flegrei)</a:t>
            </a:r>
            <a:endParaRPr/>
          </a:p>
        </p:txBody>
      </p:sp>
      <p:sp>
        <p:nvSpPr>
          <p:cNvPr id="336" name="Google Shape;336;p25"/>
          <p:cNvSpPr txBox="1"/>
          <p:nvPr/>
        </p:nvSpPr>
        <p:spPr>
          <a:xfrm>
            <a:off x="847725" y="4500000"/>
            <a:ext cx="4972050" cy="8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1">
                <a:solidFill>
                  <a:srgbClr val="1C1819"/>
                </a:solidFill>
              </a:defRPr>
            </a:pPr>
            <a:r>
              <a:rPr lang="en-US" sz="1300" b="1" i="0" u="none" strike="noStrike" cap="none">
                <a:solidFill>
                  <a:srgbClr val="1C1819"/>
                </a:solidFill>
                <a:latin typeface="Plus Jakarta Sans"/>
                <a:ea typeface="Plus Jakarta Sans"/>
                <a:cs typeface="Plus Jakarta Sans"/>
                <a:sym typeface="Plus Jakarta Sans"/>
              </a:rPr>
              <a:t>Tested on 3,225 INGV events (2014–2024) and stress-tested up to 50,000 synthetic hypocentres maintaining 55–60 FPS.</a:t>
            </a:r>
            <a:endParaRPr/>
          </a:p>
        </p:txBody>
      </p:sp>
      <p:sp>
        <p:nvSpPr>
          <p:cNvPr id="337" name="Google Shape;337;p25"/>
          <p:cNvSpPr txBox="1"/>
          <p:nvPr/>
        </p:nvSpPr>
        <p:spPr>
          <a:xfrm>
            <a:off x="6467475" y="205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650" b="1" i="0" u="none" strike="noStrike" cap="none">
                <a:solidFill>
                  <a:srgbClr val="B85828"/>
                </a:solidFill>
                <a:latin typeface="Plus Jakarta Sans"/>
                <a:ea typeface="Plus Jakarta Sans"/>
                <a:cs typeface="Plus Jakarta Sans"/>
                <a:sym typeface="Plus Jakarta Sans"/>
              </a:rPr>
              <a:t>Serialization &amp; Memory Footprint</a:t>
            </a:r>
            <a:endParaRPr/>
          </a:p>
        </p:txBody>
      </p:sp>
      <p:sp>
        <p:nvSpPr>
          <p:cNvPr id="338" name="Google Shape;338;p25"/>
          <p:cNvSpPr txBox="1"/>
          <p:nvPr/>
        </p:nvSpPr>
        <p:spPr>
          <a:xfrm>
            <a:off x="6467475" y="4180000"/>
            <a:ext cx="4972050" cy="25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04060"/>
                </a:solidFill>
              </a:defRPr>
            </a:pPr>
            <a:r>
              <a:rPr lang="en-US" sz="1650" b="1" i="0" u="none" strike="noStrike" cap="none">
                <a:solidFill>
                  <a:srgbClr val="204060"/>
                </a:solidFill>
                <a:latin typeface="Plus Jakarta Sans"/>
                <a:ea typeface="Plus Jakarta Sans"/>
                <a:cs typeface="Plus Jakarta Sans"/>
                <a:sym typeface="Plus Jakarta Sans"/>
              </a:rPr>
              <a:t>Algorithmic Throughput</a:t>
            </a:r>
            <a:endParaRPr/>
          </a:p>
        </p:txBody>
      </p:sp>
      <p:sp>
        <p:nvSpPr>
          <p:cNvPr id="339" name="Google Shape;339;p25"/>
          <p:cNvSpPr txBox="1"/>
          <p:nvPr/>
        </p:nvSpPr>
        <p:spPr>
          <a:xfrm>
            <a:off x="6467475" y="4500000"/>
            <a:ext cx="4972050" cy="850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300" b="1">
                <a:solidFill>
                  <a:srgbClr val="1C1819"/>
                </a:solidFill>
              </a:defRPr>
            </a:pPr>
            <a:r>
              <a:rPr lang="en-US" sz="1300" b="1" i="0" u="none" strike="noStrike" cap="none">
                <a:solidFill>
                  <a:srgbClr val="1C1819"/>
                </a:solidFill>
                <a:latin typeface="Plus Jakarta Sans"/>
                <a:ea typeface="Plus Jakarta Sans"/>
                <a:cs typeface="Plus Jakarta Sans"/>
                <a:sym typeface="Plus Jakarta Sans"/>
              </a:rPr>
              <a:t>Cylinder grid partitioning executes in 36.5 ms and MiniBatchKMeans in 301 ms for 50,000 hypocentres.</a:t>
            </a:r>
            <a:endParaRPr/>
          </a:p>
        </p:txBody>
      </p:sp>
      <p:sp>
        <p:nvSpPr>
          <p:cNvPr id="340" name="Google Shape;340;p25"/>
          <p:cNvSpPr txBox="1"/>
          <p:nvPr/>
        </p:nvSpPr>
        <p:spPr>
          <a:xfrm>
            <a:off x="847725" y="3100000"/>
            <a:ext cx="1600000" cy="42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400" b="1" i="0" u="none" strike="noStrike" cap="none">
                <a:solidFill>
                  <a:srgbClr val="236B5E"/>
                </a:solidFill>
                <a:latin typeface="Plus Jakarta Sans"/>
                <a:ea typeface="Plus Jakarta Sans"/>
                <a:cs typeface="Plus Jakarta Sans"/>
                <a:sym typeface="Plus Jakarta Sans"/>
              </a:rPr>
              <a:t>&lt; 0.51°</a:t>
            </a:r>
            <a:endParaRPr/>
          </a:p>
        </p:txBody>
      </p:sp>
      <p:sp>
        <p:nvSpPr>
          <p:cNvPr id="341" name="Google Shape;341;p25"/>
          <p:cNvSpPr txBox="1"/>
          <p:nvPr/>
        </p:nvSpPr>
        <p:spPr>
          <a:xfrm>
            <a:off x="2800000" y="3100000"/>
            <a:ext cx="1600000" cy="42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400" b="1" i="0" u="none" strike="noStrike" cap="none">
                <a:solidFill>
                  <a:srgbClr val="236B5E"/>
                </a:solidFill>
                <a:latin typeface="Plus Jakarta Sans"/>
                <a:ea typeface="Plus Jakarta Sans"/>
                <a:cs typeface="Plus Jakarta Sans"/>
                <a:sym typeface="Plus Jakarta Sans"/>
              </a:rPr>
              <a:t>&lt; 0.93°</a:t>
            </a:r>
            <a:endParaRPr/>
          </a:p>
        </p:txBody>
      </p:sp>
      <p:sp>
        <p:nvSpPr>
          <p:cNvPr id="342" name="Google Shape;342;p25"/>
          <p:cNvSpPr txBox="1"/>
          <p:nvPr/>
        </p:nvSpPr>
        <p:spPr>
          <a:xfrm>
            <a:off x="6467475" y="24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Payload reduction: 4.75 MB JSON vs 976 KB Float32 (-79.4%).</a:t>
            </a:r>
            <a:endParaRPr/>
          </a:p>
        </p:txBody>
      </p:sp>
      <p:sp>
        <p:nvSpPr>
          <p:cNvPr id="343" name="Google Shape;343;p25"/>
          <p:cNvSpPr txBox="1"/>
          <p:nvPr/>
        </p:nvSpPr>
        <p:spPr>
          <a:xfrm>
            <a:off x="6467475" y="28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1">
                <a:solidFill>
                  <a:srgbClr val="B85828"/>
                </a:solidFill>
              </a:defRPr>
            </a:pPr>
            <a:r>
              <a:rPr lang="en-US" sz="1300" b="1" i="0" u="none" strike="noStrike" cap="none">
                <a:solidFill>
                  <a:srgbClr val="B85828"/>
                </a:solidFill>
                <a:latin typeface="Plus Jakarta Sans"/>
                <a:ea typeface="Plus Jakarta Sans"/>
                <a:cs typeface="Plus Jakarta Sans"/>
                <a:sym typeface="Plus Jakarta Sans"/>
              </a:rPr>
              <a:t>Browser parse time: Dropped from 39.7 ms to &lt; 0.01 ms.</a:t>
            </a:r>
            <a:endParaRPr/>
          </a:p>
        </p:txBody>
      </p:sp>
      <p:sp>
        <p:nvSpPr>
          <p:cNvPr id="344" name="Google Shape;344;p25"/>
          <p:cNvSpPr txBox="1"/>
          <p:nvPr/>
        </p:nvSpPr>
        <p:spPr>
          <a:xfrm>
            <a:off x="6467475" y="3250000"/>
            <a:ext cx="4972050" cy="3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0">
                <a:solidFill>
                  <a:srgbClr val="1C1819"/>
                </a:solidFill>
              </a:defRPr>
            </a:pPr>
            <a:r>
              <a:rPr lang="en-US" sz="1300" b="0" i="0" u="none" strike="noStrike" cap="none">
                <a:solidFill>
                  <a:srgbClr val="1C1819"/>
                </a:solidFill>
                <a:latin typeface="Plus Jakarta Sans"/>
                <a:ea typeface="Plus Jakarta Sans"/>
                <a:cs typeface="Plus Jakarta Sans"/>
                <a:sym typeface="Plus Jakarta Sans"/>
              </a:rPr>
              <a:t>Bounded memory: FIFO stores hold RAM strictly under 500 MB.</a:t>
            </a:r>
            <a:endParaRPr/>
          </a:p>
        </p:txBody>
      </p:sp>
      <p:sp>
        <p:nvSpPr>
          <p:cNvPr id="345" name="Google Shape;345;p25"/>
          <p:cNvSpPr txBox="1"/>
          <p:nvPr/>
        </p:nvSpPr>
        <p:spPr>
          <a:xfrm>
            <a:off x="847725" y="3520000"/>
            <a:ext cx="200000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i="0" u="none" strike="noStrike" cap="none">
                <a:solidFill>
                  <a:srgbClr val="5A5052"/>
                </a:solidFill>
                <a:latin typeface="Plus Jakarta Sans"/>
                <a:ea typeface="Plus Jakarta Sans"/>
                <a:cs typeface="Plus Jakarta Sans"/>
                <a:sym typeface="Plus Jakarta Sans"/>
              </a:rPr>
              <a:t>Dip MAE (100m noise)</a:t>
            </a:r>
            <a:endParaRPr/>
          </a:p>
        </p:txBody>
      </p:sp>
      <p:sp>
        <p:nvSpPr>
          <p:cNvPr id="346" name="Google Shape;346;p25"/>
          <p:cNvSpPr txBox="1"/>
          <p:nvPr/>
        </p:nvSpPr>
        <p:spPr>
          <a:xfrm>
            <a:off x="2800000" y="3520000"/>
            <a:ext cx="2000000" cy="200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i="0" u="none" strike="noStrike" cap="none">
                <a:solidFill>
                  <a:srgbClr val="5A5052"/>
                </a:solidFill>
                <a:latin typeface="Plus Jakarta Sans"/>
                <a:ea typeface="Plus Jakarta Sans"/>
                <a:cs typeface="Plus Jakarta Sans"/>
                <a:sym typeface="Plus Jakarta Sans"/>
              </a:rPr>
              <a:t>Strike MAE (100m noise)</a:t>
            </a:r>
            <a:endParaRPr/>
          </a:p>
        </p:txBody>
      </p:sp>
      <p:pic>
        <p:nvPicPr>
          <p:cNvPr id="347" name="Picture 346"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348"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50"/>
        <p:cNvGrpSpPr/>
        <p:nvPr/>
      </p:nvGrpSpPr>
      <p:grpSpPr>
        <a:xfrm>
          <a:off x="0" y="0"/>
          <a:ext cx="0" cy="0"/>
          <a:chOff x="0" y="0"/>
          <a:chExt cx="0" cy="0"/>
        </a:xfrm>
      </p:grpSpPr>
      <p:sp>
        <p:nvSpPr>
          <p:cNvPr id="353" name="Google Shape;353;p26"/>
          <p:cNvSpPr/>
          <p:nvPr/>
        </p:nvSpPr>
        <p:spPr>
          <a:xfrm>
            <a:off x="762000" y="5499875"/>
            <a:ext cx="10668000" cy="30000"/>
          </a:xfrm>
          <a:prstGeom prst="rect">
            <a:avLst/>
          </a:prstGeom>
          <a:solidFill>
            <a:srgbClr val="82243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4" name="Google Shape;354;p26"/>
          <p:cNvSpPr/>
          <p:nvPr/>
        </p:nvSpPr>
        <p:spPr>
          <a:xfrm>
            <a:off x="762000" y="1822925"/>
            <a:ext cx="5162550" cy="2700000"/>
          </a:xfrm>
          <a:prstGeom prst="roundRect">
            <a:avLst>
              <a:gd name="adj" fmla="val 942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5" name="Google Shape;355;p26"/>
          <p:cNvSpPr/>
          <p:nvPr/>
        </p:nvSpPr>
        <p:spPr>
          <a:xfrm>
            <a:off x="6267450" y="1822925"/>
            <a:ext cx="5162550" cy="2700000"/>
          </a:xfrm>
          <a:prstGeom prst="roundRect">
            <a:avLst>
              <a:gd name="adj" fmla="val 942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56" name="Google Shape;356;p26" descr="image.png"/>
          <p:cNvPicPr preferRelativeResize="0"/>
          <p:nvPr/>
        </p:nvPicPr>
        <p:blipFill rotWithShape="1">
          <a:blip r:embed="rId3">
            <a:alphaModFix/>
          </a:blip>
          <a:srcRect/>
          <a:stretch/>
        </p:blipFill>
        <p:spPr>
          <a:xfrm>
            <a:off x="1000125" y="2092925"/>
            <a:ext cx="171450" cy="171450"/>
          </a:xfrm>
          <a:prstGeom prst="rect">
            <a:avLst/>
          </a:prstGeom>
          <a:noFill/>
          <a:ln>
            <a:noFill/>
          </a:ln>
        </p:spPr>
      </p:pic>
      <p:sp>
        <p:nvSpPr>
          <p:cNvPr id="358" name="Google Shape;358;p26"/>
          <p:cNvSpPr txBox="1"/>
          <p:nvPr/>
        </p:nvSpPr>
        <p:spPr>
          <a:xfrm>
            <a:off x="762000" y="580000"/>
            <a:ext cx="417909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Cinzel"/>
                <a:ea typeface="Cinzel"/>
                <a:cs typeface="Cinzel"/>
                <a:sym typeface="Cinzel"/>
              </a:rPr>
              <a:t>SAPIENZA UNIVERSITY OF ROME</a:t>
            </a:r>
            <a:endParaRPr/>
          </a:p>
        </p:txBody>
      </p:sp>
      <p:sp>
        <p:nvSpPr>
          <p:cNvPr id="360" name="Google Shape;360;p26"/>
          <p:cNvSpPr txBox="1"/>
          <p:nvPr/>
        </p:nvSpPr>
        <p:spPr>
          <a:xfrm>
            <a:off x="762000" y="840000"/>
            <a:ext cx="11430000"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Conclusions &amp; Future Work</a:t>
            </a:r>
            <a:endParaRPr/>
          </a:p>
        </p:txBody>
      </p:sp>
      <p:sp>
        <p:nvSpPr>
          <p:cNvPr id="361" name="Google Shape;361;p26"/>
          <p:cNvSpPr txBox="1"/>
          <p:nvPr/>
        </p:nvSpPr>
        <p:spPr>
          <a:xfrm>
            <a:off x="762000" y="5779875"/>
            <a:ext cx="3869531"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800" b="1" i="0" u="none" strike="noStrike" cap="none" dirty="0">
                <a:solidFill>
                  <a:srgbClr val="822433"/>
                </a:solidFill>
                <a:latin typeface="Plus Jakarta Sans"/>
                <a:ea typeface="Plus Jakarta Sans"/>
                <a:cs typeface="Plus Jakarta Sans"/>
                <a:sym typeface="Plus Jakarta Sans"/>
              </a:rPr>
              <a:t>Thank you for your attention</a:t>
            </a:r>
            <a:endParaRPr sz="1800" dirty="0"/>
          </a:p>
        </p:txBody>
      </p:sp>
      <p:sp>
        <p:nvSpPr>
          <p:cNvPr id="364" name="Google Shape;364;p26"/>
          <p:cNvSpPr txBox="1"/>
          <p:nvPr/>
        </p:nvSpPr>
        <p:spPr>
          <a:xfrm>
            <a:off x="1000125" y="2072926"/>
            <a:ext cx="3727323" cy="261610"/>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36B5E"/>
                </a:solidFill>
              </a:defRPr>
            </a:pPr>
            <a:r>
              <a:rPr lang="en-US" sz="1700" b="1" i="0" u="none" strike="noStrike" cap="none" dirty="0">
                <a:solidFill>
                  <a:srgbClr val="236B5E"/>
                </a:solidFill>
                <a:latin typeface="Plus Jakarta Sans"/>
                <a:ea typeface="Plus Jakarta Sans"/>
                <a:cs typeface="Plus Jakarta Sans"/>
                <a:sym typeface="Plus Jakarta Sans"/>
              </a:rPr>
              <a:t>Validated Contributions</a:t>
            </a:r>
            <a:endParaRPr dirty="0"/>
          </a:p>
        </p:txBody>
      </p:sp>
      <p:sp>
        <p:nvSpPr>
          <p:cNvPr id="365" name="Google Shape;365;p26"/>
          <p:cNvSpPr txBox="1"/>
          <p:nvPr/>
        </p:nvSpPr>
        <p:spPr>
          <a:xfrm>
            <a:off x="1000125" y="2472925"/>
            <a:ext cx="4781550" cy="18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400" b="0">
                <a:solidFill>
                  <a:srgbClr val="1C1819"/>
                </a:solidFill>
              </a:defRPr>
            </a:pPr>
            <a:r>
              <a:rPr lang="en-US" sz="1400" b="0" i="0" u="none" strike="noStrike" cap="none" dirty="0">
                <a:solidFill>
                  <a:srgbClr val="1C1819"/>
                </a:solidFill>
                <a:latin typeface="Plus Jakarta Sans"/>
                <a:ea typeface="Plus Jakarta Sans"/>
                <a:cs typeface="Plus Jakarta Sans"/>
                <a:sym typeface="Plus Jakarta Sans"/>
              </a:rPr>
              <a:t>Unified desktop architecture delivering 4D visualization, machine learning clustering, and automated fault plane extraction with sub-second response times.</a:t>
            </a:r>
            <a:endParaRPr dirty="0"/>
          </a:p>
        </p:txBody>
      </p:sp>
      <p:sp>
        <p:nvSpPr>
          <p:cNvPr id="366" name="Google Shape;366;p26"/>
          <p:cNvSpPr txBox="1"/>
          <p:nvPr/>
        </p:nvSpPr>
        <p:spPr>
          <a:xfrm>
            <a:off x="6477000" y="2040038"/>
            <a:ext cx="5686425" cy="219075"/>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Future Extensions</a:t>
            </a:r>
            <a:endParaRPr dirty="0"/>
          </a:p>
        </p:txBody>
      </p:sp>
      <p:sp>
        <p:nvSpPr>
          <p:cNvPr id="367" name="Google Shape;367;p26"/>
          <p:cNvSpPr txBox="1"/>
          <p:nvPr/>
        </p:nvSpPr>
        <p:spPr>
          <a:xfrm>
            <a:off x="6457950" y="2424627"/>
            <a:ext cx="4781550" cy="18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400" b="0">
                <a:solidFill>
                  <a:srgbClr val="1C1819"/>
                </a:solidFill>
              </a:defRPr>
            </a:pPr>
            <a:r>
              <a:rPr lang="en-US" sz="1400" b="0" i="0" u="none" strike="noStrike" cap="none" dirty="0">
                <a:solidFill>
                  <a:srgbClr val="1C1819"/>
                </a:solidFill>
                <a:latin typeface="Plus Jakarta Sans"/>
                <a:ea typeface="Plus Jakarta Sans"/>
                <a:cs typeface="Plus Jakarta Sans"/>
                <a:sym typeface="Plus Jakarta Sans"/>
              </a:rPr>
              <a:t>Live </a:t>
            </a:r>
            <a:r>
              <a:rPr lang="en-US" sz="1400" b="0" i="0" u="none" strike="noStrike" cap="none" dirty="0" err="1">
                <a:solidFill>
                  <a:srgbClr val="1C1819"/>
                </a:solidFill>
                <a:latin typeface="Plus Jakarta Sans"/>
                <a:ea typeface="Plus Jakarta Sans"/>
                <a:cs typeface="Plus Jakarta Sans"/>
                <a:sym typeface="Plus Jakarta Sans"/>
              </a:rPr>
              <a:t>SeedLink</a:t>
            </a:r>
            <a:r>
              <a:rPr lang="en-US" sz="1400" b="0" i="0" u="none" strike="noStrike" cap="none" dirty="0">
                <a:solidFill>
                  <a:srgbClr val="1C1819"/>
                </a:solidFill>
                <a:latin typeface="Plus Jakarta Sans"/>
                <a:ea typeface="Plus Jakarta Sans"/>
                <a:cs typeface="Plus Jakarta Sans"/>
                <a:sym typeface="Plus Jakarta Sans"/>
              </a:rPr>
              <a:t> streaming for seismic surveillance rooms, focal mechanism tensor solutions, Coulomb static stress transfer maps, and Deck.gl WebGL rendering.</a:t>
            </a:r>
            <a:endParaRPr dirty="0"/>
          </a:p>
        </p:txBody>
      </p:sp>
      <p:pic>
        <p:nvPicPr>
          <p:cNvPr id="368" name="Picture 367"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36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Google Shape;357;p26" descr="image.png">
            <a:extLst>
              <a:ext uri="{FF2B5EF4-FFF2-40B4-BE49-F238E27FC236}">
                <a16:creationId xmlns:a16="http://schemas.microsoft.com/office/drawing/2014/main" id="{8B3DBD0C-290D-90DC-A759-07065C50B4DB}"/>
              </a:ext>
            </a:extLst>
          </p:cNvPr>
          <p:cNvPicPr preferRelativeResize="0"/>
          <p:nvPr/>
        </p:nvPicPr>
        <p:blipFill rotWithShape="1">
          <a:blip r:embed="rId5">
            <a:alphaModFix/>
          </a:blip>
          <a:srcRect/>
          <a:stretch/>
        </p:blipFill>
        <p:spPr>
          <a:xfrm>
            <a:off x="6477000" y="2092925"/>
            <a:ext cx="171450" cy="17145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3828</Words>
  <Application>Microsoft Office PowerPoint</Application>
  <PresentationFormat>Widescreen</PresentationFormat>
  <Paragraphs>331</Paragraphs>
  <Slides>14</Slides>
  <Notes>14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14</vt:i4>
      </vt:variant>
    </vt:vector>
  </HeadingPairs>
  <TitlesOfParts>
    <vt:vector size="19" baseType="lpstr">
      <vt:lpstr>Cinzel</vt:lpstr>
      <vt:lpstr>Plus Jakarta Sans</vt: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Alessio Curcio</cp:lastModifiedBy>
  <cp:revision>7</cp:revision>
  <dcterms:modified xsi:type="dcterms:W3CDTF">2026-10-14T14:09:16Z</dcterms:modified>
</cp:coreProperties>
</file>