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Cinzel" panose="020B0604020202020204" charset="0"/>
      <p:regular r:id="rId17"/>
      <p:bold r:id="rId18"/>
    </p:embeddedFont>
    <p:embeddedFont>
      <p:font typeface="Plus Jakarta Sans"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 | TIME: 0:00 - 0:35 | TARGET: 35 SECONDS]</a:t>
            </a:r>
          </a:p>
          <a:p/>
          <a:p>
            <a:r>
              <a:t>SPEECH (EN):</a:t>
            </a:r>
          </a:p>
          <a:p>
            <a:r>
              <a:t>"Hello everyone.</a:t>
            </a:r>
          </a:p>
          <a:p>
            <a:r>
              <a:t>My name is Alessio Curcio, and today I'm glad to present my internship report titled:</a:t>
            </a:r>
          </a:p>
          <a:p>
            <a:r>
              <a:t>'Seismic Viewer: Design, Implementation and Evaluation of an Interactive 4D Spatio-Temporal Visualisation System for Seismological Data'.</a:t>
            </a:r>
          </a:p>
          <a:p/>
          <a:p>
            <a:r>
              <a:t>This work was carried out during my curricular internship at the National Institute of Geophysics and Volcanology."</a:t>
            </a:r>
          </a:p>
          <a:p/>
          <a:p>
            <a:r>
              <a:t>[VISUAL ACTION: Smile, welcome the committee, make eye contact, project confidence, advance to Slide 2 at 0:35]</a:t>
            </a: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2 | TIME: 0:35 - 1:20 | TARGET: 45 SECONDS]</a:t>
            </a:r>
          </a:p>
          <a:p/>
          <a:p>
            <a:r>
              <a:t>SPEECH (EN):</a:t>
            </a:r>
          </a:p>
          <a:p>
            <a:r>
              <a:t>"To understand why we started this project, we have to look at what's happening right now at the Campi Flegrei volcanic caldera near Naples.</a:t>
            </a:r>
          </a:p>
          <a:p>
            <a:r>
              <a:t>Since 2005, this area has been experiencing active bradyseism — meaning continuous ground uplift accompanied by frequent, intense earthquake swarms.</a:t>
            </a:r>
          </a:p>
          <a:p/>
          <a:p>
            <a:r>
              <a:t>Just recently, in 2025, a study published in Nature Communications Earth &amp; Environment, co-authored by researchers from INGV and Roma Tre University, made an important discovery: these earthquakes aren't just random noise. Instead, they clearly delineate the pressurization of hydrothermal fluids and the physical growth of an active underground fault plane.</a:t>
            </a:r>
          </a:p>
          <a:p/>
          <a:p>
            <a:r>
              <a:t>However, geophysicists had a major problem: they lacked an interactive tool to explore and track these faults in 3D and 4D over time. That's exactly why Seismic Viewer was proposed."</a:t>
            </a:r>
          </a:p>
          <a:p/>
          <a:p>
            <a:r>
              <a:t>[VISUAL ACTION: Point to Campi Flegrei context on Card 1, highlight the 2025 Nature study on Card 2, then point to Card 3]</a:t>
            </a:r>
          </a:p>
        </p:txBody>
      </p:sp>
      <p:sp>
        <p:nvSpPr>
          <p:cNvPr id="100" name="Google Shape;10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3 | TIME: 1:20 - 2:00 | TARGET: 40 SECONDS]</a:t>
            </a:r>
          </a:p>
          <a:p/>
          <a:p>
            <a:r>
              <a:t>SPEECH (EN):</a:t>
            </a:r>
          </a:p>
          <a:p>
            <a:r>
              <a:t>"When we looked at the tools seismologists currently use, we found a clear technological gap:</a:t>
            </a:r>
          </a:p>
          <a:p>
            <a:r>
              <a:t>First, standard GIS tools like QGIS or ArcGIS are great for 2D cartography, but they really struggle with high-framerate 3D point clouds and dynamic animations.</a:t>
            </a:r>
          </a:p>
          <a:p>
            <a:r>
              <a:t>Second, scientific 3D packages like ParaView are extremely powerful, but they have a steep learning curve, require heavy desktop installations, and don't connect easily to live web catalogues.</a:t>
            </a:r>
          </a:p>
          <a:p>
            <a:r>
              <a:t>And third, public web portals only display static 2D maps.</a:t>
            </a:r>
          </a:p>
          <a:p/>
          <a:p>
            <a:r>
              <a:t>So what geophysicists really needed was a lightweight tool running directly in the browser that unifies 2D maps, 3D point clouds, 4D time playback, and automated fault plane extraction in one place."</a:t>
            </a:r>
          </a:p>
          <a:p/>
          <a:p>
            <a:r>
              <a:t>[VISUAL ACTION: Highlight the comparison table on Slide 3, pointing out the all-green column for Seismic Viewer]</a:t>
            </a:r>
          </a:p>
        </p:txBody>
      </p:sp>
      <p:sp>
        <p:nvSpPr>
          <p:cNvPr id="121" name="Google Shape;12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4 | TIME: 2:00 - 2:45 | TARGET: 45 SECONDS]</a:t>
            </a:r>
          </a:p>
          <a:p/>
          <a:p>
            <a:r>
              <a:t>SPEECH (EN):</a:t>
            </a:r>
          </a:p>
          <a:p>
            <a:r>
              <a:t>"To meet these needs, we defined clear functional goals: smooth 2D/3D/4D navigation, automated fault plane fitting, multi-layer geophysical overlays, and support for both online and offline data. And non-functional goals: 60 frames per second rendering, sub-second latency, and a memory footprint strictly under 500 megabytes.</a:t>
            </a:r>
          </a:p>
          <a:p/>
          <a:p>
            <a:r>
              <a:t>Because this project was developed in close collaboration with geophysicists, we adopted an iterative development approach across six phases:</a:t>
            </a:r>
          </a:p>
          <a:p>
            <a:r>
              <a:t>In Phase 1, we built the initial 3D prototype and local CSV parser.</a:t>
            </a:r>
          </a:p>
          <a:p>
            <a:r>
              <a:t>In Phase 2, we tested our first clustering algorithms and connected Python to a native web view.</a:t>
            </a:r>
          </a:p>
          <a:p>
            <a:r>
              <a:t>In Phase 3, we integrated the INGV GOSSIP REST API.</a:t>
            </a:r>
          </a:p>
          <a:p>
            <a:r>
              <a:t>In Phase 4, based on direct feedback from researchers, we introduced DBSCAN with automatic knee tuning, 4D cylinder slicing, and cluster locking.</a:t>
            </a:r>
          </a:p>
          <a:p>
            <a:r>
              <a:t>In Phase 5, we integrated 3D seismic tomography, GNSS uplift, and monitoring stations.</a:t>
            </a:r>
          </a:p>
          <a:p>
            <a:r>
              <a:t>And in Phase 6, we optimized everything with Float32 binary streaming and an asynchronous architecture."</a:t>
            </a:r>
          </a:p>
          <a:p/>
          <a:p>
            <a:r>
              <a:t>[VISUAL ACTION: Point to Card 1 for System Requirements, then trace through the 6 Phases on Card 2 on the right]</a:t>
            </a:r>
          </a:p>
        </p:txBody>
      </p:sp>
      <p:sp>
        <p:nvSpPr>
          <p:cNvPr id="145" name="Google Shape;14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5 | TIME: 2:45 - 3:25 | TARGET: 40 SECONDS]</a:t>
            </a:r>
          </a:p>
          <a:p/>
          <a:p>
            <a:r>
              <a:t>SPEECH (EN):</a:t>
            </a:r>
          </a:p>
          <a:p>
            <a:r>
              <a:t>"Now, let's dive into the current application features, starting with the 2D Workspace.</a:t>
            </a:r>
          </a:p>
          <a:p/>
          <a:p>
            <a:r>
              <a:t>On the left panel, users can filter the catalogue in real time by date, depth, and magnitude. All filtering runs instantly directly in JavaScript in the browser, with zero round-trip latency to the server.</a:t>
            </a:r>
          </a:p>
          <a:p>
            <a:r>
              <a:t>Earthquakes are mapped using OpenStreetMap, with circles scaled by seismic energy and colored by hypocentral depth.</a:t>
            </a:r>
          </a:p>
          <a:p>
            <a:r>
              <a:t>On the right, live summary cards calculate total event count, maximum magnitude, and cumulative energy release in kilojoules.</a:t>
            </a:r>
          </a:p>
          <a:p>
            <a:r>
              <a:t>Researchers can immediately isolate swarms around Pozzuoli or the Solfatara crater."</a:t>
            </a:r>
          </a:p>
          <a:p/>
          <a:p>
            <a:r>
              <a:t>[VISUAL ACTION: Point to the 2D map screenshot on the left and the statistical indicators on the right]</a:t>
            </a:r>
          </a:p>
        </p:txBody>
      </p:sp>
      <p:sp>
        <p:nvSpPr>
          <p:cNvPr id="171" name="Google Shape;17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6 | TIME: 3:25 - 4:05 | TARGET: 40 SECONDS]</a:t>
            </a:r>
          </a:p>
          <a:p/>
          <a:p>
            <a:r>
              <a:t>SPEECH (EN):</a:t>
            </a:r>
          </a:p>
          <a:p>
            <a:r>
              <a:t>"Next, switching to the 3D Workspace, earthquakes are rendered in physical space using WebGL.</a:t>
            </a:r>
          </a:p>
          <a:p/>
          <a:p>
            <a:r>
              <a:t>Now, anyone who has worked with 3D point clouds knows that depth perception on a flat screen can be tricky. To solve this, we introduced three visual cues:</a:t>
            </a:r>
          </a:p>
          <a:p>
            <a:r>
              <a:t>First, vertical drop lines that project each hypocenter straight down to sea level.</a:t>
            </a:r>
          </a:p>
          <a:p>
            <a:r>
              <a:t>Second, a clear depth color gradient.</a:t>
            </a:r>
          </a:p>
          <a:p>
            <a:r>
              <a:t>And third, a 3D bounding box with depth marks in kilometers.</a:t>
            </a:r>
          </a:p>
          <a:p>
            <a:r>
              <a:t>We also built a dynamic 3D compass in the corner that syncs with camera rotation, so researchers never lose their spatial orientation."</a:t>
            </a:r>
          </a:p>
          <a:p/>
          <a:p>
            <a:r>
              <a:t>[VISUAL ACTION: Point out the orthographic drop lines, the depth color scale, and the 3D compass widget on the screenshot]</a:t>
            </a:r>
          </a:p>
        </p:txBody>
      </p:sp>
      <p:sp>
        <p:nvSpPr>
          <p:cNvPr id="187" name="Google Shape;18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7 | TIME: 4:05 - 4:45 | TARGET: 40 SECONDS]</a:t>
            </a:r>
          </a:p>
          <a:p/>
          <a:p>
            <a:r>
              <a:t>SPEECH (EN):</a:t>
            </a:r>
          </a:p>
          <a:p>
            <a:r>
              <a:t>"Earthquake swarms aren't static — they migrate. Our 4D Animation Engine lets researchers watch this evolution unfold over time.</a:t>
            </a:r>
          </a:p>
          <a:p/>
          <a:p>
            <a:r>
              <a:t>Users can choose between a cumulative view, which shows seismic buildup, or a moving time window from 1 to 30 days to isolate active migration fronts.</a:t>
            </a:r>
          </a:p>
          <a:p>
            <a:r>
              <a:t>To make fault propagation clear without cluttering the screen, we created what we call the 'Afterglow' visual effect. New earthquakes burst onto the screen bright and large, while older events exponentially fade out over time.</a:t>
            </a:r>
          </a:p>
          <a:p>
            <a:r>
              <a:t>This lets geophysicists clearly see the direction and speed of fluid-driven fractures across the caldera."</a:t>
            </a:r>
          </a:p>
          <a:p/>
          <a:p>
            <a:r>
              <a:t>[VISUAL ACTION: Describe the Afterglow mechanism and how it reveals fluid migration pathways over time]</a:t>
            </a:r>
          </a:p>
        </p:txBody>
      </p:sp>
      <p:sp>
        <p:nvSpPr>
          <p:cNvPr id="203" name="Google Shape;20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8 | TIME: 4:45 - 5:30 | TARGET: 45 SECONDS]</a:t>
            </a:r>
          </a:p>
          <a:p/>
          <a:p>
            <a:r>
              <a:t>SPEECH (EN):</a:t>
            </a:r>
          </a:p>
          <a:p>
            <a:r>
              <a:t>"What really sets Seismic Viewer apart is that it doesn't just show dots in space — it fuses multiple geophysical datasets in the same 3D scene.</a:t>
            </a:r>
          </a:p>
          <a:p/>
          <a:p>
            <a:r>
              <a:t>First, we render 3D seismic tomography. We interpolate Vp/Vs velocity ratios onto a 3D grid using Inverse Distance Weighting, applying a Gaussian spatial decay that smoothly transitions outside data points to the regional baseline of 1.75.</a:t>
            </a:r>
          </a:p>
          <a:p>
            <a:r>
              <a:t>Second, we display surface ground deformation from GNSS satellite networks, both as station vectors and as an interpolated uplift surface with Mogi decay.</a:t>
            </a:r>
          </a:p>
          <a:p>
            <a:r>
              <a:t>And third, we plot active seismic monitoring stations right on the surface.</a:t>
            </a:r>
          </a:p>
          <a:p>
            <a:r>
              <a:t>By seeing these layers together, researchers can correlate high-fluid zones and surface uplift directly with where faults are breaking."</a:t>
            </a:r>
          </a:p>
          <a:p/>
          <a:p>
            <a:r>
              <a:t>[VISUAL ACTION: Point to the tomography volume, GNSS vectors, and the multi-layer integration cards]</a:t>
            </a:r>
          </a:p>
        </p:txBody>
      </p:sp>
      <p:sp>
        <p:nvSpPr>
          <p:cNvPr id="226" name="Google Shape;22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9 | TIME: 5:30 - 6:15 | TARGET: 45 SECONDS]</a:t>
            </a:r>
          </a:p>
          <a:p/>
          <a:p>
            <a:r>
              <a:t>SPEECH (EN):</a:t>
            </a:r>
          </a:p>
          <a:p>
            <a:r>
              <a:t>"Now, how do we identify faults from thousands of earthquakes? This brings us to our clustering engine, and why we made specific algorithmic choices.</a:t>
            </a:r>
          </a:p>
          <a:p/>
          <a:p>
            <a:r>
              <a:t>Initially, in early prototypes, we used K-Means. But we quickly realized K-Means has two major flaws for seismology: it forces every single point into a cluster, and it assumes clusters are spherical balls. In reality, earthquakes form elongated planar faults surrounded by diffuse background noise.</a:t>
            </a:r>
          </a:p>
          <a:p>
            <a:r>
              <a:t>So, we switched to DBSCAN. DBSCAN naturally finds arbitrary non-linear shapes and correctly labels background noise as unclustered outliers. To avoid making users guess the epsilon parameter, we automated it using the Kneedle algorithm on the k-nearest-neighbor distance plot.</a:t>
            </a:r>
          </a:p>
          <a:p>
            <a:r>
              <a:t>We also kept MiniBatchKMeans with a distance cutoff filter for instant partitioning of massive datasets, and we added a 'Cluster Lock' feature, allowing geophysicists to freeze confirmed geological faults and re-cluster only unresolved swarms."</a:t>
            </a:r>
          </a:p>
          <a:p/>
          <a:p>
            <a:r>
              <a:t>[VISUAL ACTION: Walk through why KMeans failed, why DBSCAN succeeded, and how Cluster Lock works]</a:t>
            </a:r>
          </a:p>
        </p:txBody>
      </p:sp>
      <p:sp>
        <p:nvSpPr>
          <p:cNvPr id="242" name="Google Shape;24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10 | TIME: 6:15 - 7:00 | TARGET: 45 SECONDS]</a:t>
            </a:r>
          </a:p>
          <a:p/>
          <a:p>
            <a:r>
              <a:t>SPEECH (EN):</a:t>
            </a:r>
          </a:p>
          <a:p>
            <a:r>
              <a:t>"Once a cluster is isolated, how do we extract the physical fault plane? We designed a two-step mathematical pipeline.</a:t>
            </a:r>
          </a:p>
          <a:p/>
          <a:p>
            <a:r>
              <a:t>Why didn't we just fit a plane using SVD directly? Because if you have even a few stray earthquakes or noise points in a cluster, ordinary least squares or direct SVD gets skewed.</a:t>
            </a:r>
          </a:p>
          <a:p>
            <a:r>
              <a:t>So, Step 1 is RANSAC: it randomly samples point triplets over 100 iterations to find the candidate plane with the highest number of spatial inliers, discarding noise.</a:t>
            </a:r>
          </a:p>
          <a:p>
            <a:r>
              <a:t>Then, Step 2 runs Singular Value Decomposition on the centered inliers. The normal vector of the fault plane comes directly from the eigenvector with the smallest singular value.</a:t>
            </a:r>
          </a:p>
          <a:p>
            <a:r>
              <a:t>From this normal vector, we calculate the geological Strike, Dip, and planarity score, and render the fault as an interactive 3D wireframe mesh."</a:t>
            </a:r>
          </a:p>
          <a:p/>
          <a:p>
            <a:r>
              <a:t>[VISUAL ACTION: Walk through RANSAC filtering -&gt; SVD normal vector -&gt; fitted 3D plane on the right]</a:t>
            </a:r>
          </a:p>
        </p:txBody>
      </p:sp>
      <p:sp>
        <p:nvSpPr>
          <p:cNvPr id="266" name="Google Shape;26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11 | TIME: 7:00 - 7:45 | TARGET: 45 SECONDS]</a:t>
            </a:r>
          </a:p>
          <a:p/>
          <a:p>
            <a:r>
              <a:t>SPEECH (EN):</a:t>
            </a:r>
          </a:p>
          <a:p>
            <a:r>
              <a:t>"We also solved two subtle algorithmic challenges that came up during testing.</a:t>
            </a:r>
          </a:p>
          <a:p/>
          <a:p>
            <a:r>
              <a:t>First, caldera ring faults curve across the volcano. To handle this, we introduced Cylinder Partitioning, cutting the volume into vertical cylindrical wedges where faults are locally planar.</a:t>
            </a:r>
          </a:p>
          <a:p>
            <a:r>
              <a:t>Second, when running clustering across 4D time steps, standard algorithms randomly reassign cluster IDs between frames. This caused colors to flicker chaotically in the animation.</a:t>
            </a:r>
          </a:p>
          <a:p>
            <a:r>
              <a:t>To fix this, we created a Global Label Matching algorithm. For each new time frame, it takes a stochastic sample of 200 points per cluster, finds their nearest neighbors in the previous frame, and performs spatial majority voting with greedy assignment.</a:t>
            </a:r>
          </a:p>
          <a:p>
            <a:r>
              <a:t>This keeps colors and cluster identities perfectly stable across the entire animation."</a:t>
            </a:r>
          </a:p>
          <a:p/>
          <a:p>
            <a:r>
              <a:t>[VISUAL ACTION: Explain the color flickering problem on the left and the smooth spatial voting solution on the right]</a:t>
            </a:r>
          </a:p>
        </p:txBody>
      </p:sp>
      <p:sp>
        <p:nvSpPr>
          <p:cNvPr id="282" name="Google Shape;28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12 | TIME: 7:45 - 8:30 | TARGET: 45 SECONDS]</a:t>
            </a:r>
          </a:p>
          <a:p/>
          <a:p>
            <a:r>
              <a:t>SPEECH (EN):</a:t>
            </a:r>
          </a:p>
          <a:p>
            <a:r>
              <a:t>"Now, let's look at the data engineering pipeline and the choices we made.</a:t>
            </a:r>
          </a:p>
          <a:p/>
          <a:p>
            <a:r>
              <a:t>The application ingests data either by querying the INGV GOSSIP REST API online, or through local CSV files. It handles coordinate conversion, date parsing, and metadata cleaning.</a:t>
            </a:r>
          </a:p>
          <a:p>
            <a:r>
              <a:t>Here, we made a crucial design choice regarding missing depths: earthquakes with null or missing depth are kept in the 2D catalogue for completeness, but they are strictly excluded from 3D and 4D spatial computations. Otherwise, they would artificially flatten onto sea level at depth zero and corrupt fault plane fitting.</a:t>
            </a:r>
          </a:p>
          <a:p/>
          <a:p>
            <a:r>
              <a:t>Furthermore, to avoid sending bulky JSON over the wire, we built a Float32 binary streaming protocol.</a:t>
            </a:r>
          </a:p>
          <a:p>
            <a:r>
              <a:t>Instead of parsing thousands of JSON objects, the server streams a raw, contiguous Float32 binary buffer directly into a JavaScript typed array. This slashed payload size by nearly 80% and dropped browser unpacking time from 40 milliseconds to less than 0.01 milliseconds."</a:t>
            </a:r>
          </a:p>
          <a:p/>
          <a:p>
            <a:r>
              <a:t>[VISUAL ACTION: Point to the data pipeline steps and highlight the 80% compression and instant parsing]</a:t>
            </a:r>
          </a:p>
        </p:txBody>
      </p:sp>
      <p:sp>
        <p:nvSpPr>
          <p:cNvPr id="298" name="Google Shape;29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13 | TIME: 8:30 - 9:15 | TARGET: 45 SECONDS]</a:t>
            </a:r>
          </a:p>
          <a:p/>
          <a:p>
            <a:r>
              <a:t>SPEECH (EN):</a:t>
            </a:r>
          </a:p>
          <a:p>
            <a:r>
              <a:t>"To validate the system, we carried out extensive benchmarks:</a:t>
            </a:r>
          </a:p>
          <a:p/>
          <a:p>
            <a:r>
              <a:t>First, in Monte Carlo simulations across 500 synthetic faults with noise and 30% random outliers, our RANSAC-SVD method achieved a Mean Absolute Error under 0.5 degrees for Dip, and under 0.9 degrees for Strike.</a:t>
            </a:r>
          </a:p>
          <a:p>
            <a:r>
              <a:t>Second, on the real Campi Flegrei catalogue of over 3,200 earthquakes, clustering and plane fitting completed in less than 42 milliseconds.</a:t>
            </a:r>
          </a:p>
          <a:p>
            <a:r>
              <a:t>Third, in stress tests with 50,000 synthetic hypocenters, WebGL maintained a smooth 55 to 60 frames per second.</a:t>
            </a:r>
          </a:p>
          <a:p>
            <a:r>
              <a:t>And memory management benchmarks confirmed that our session caching and garbage collection keep RAM usage strictly below 500 megabytes throughout extended sessions."</a:t>
            </a:r>
          </a:p>
          <a:p/>
          <a:p>
            <a:r>
              <a:t>[VISUAL ACTION: Point to the validation metrics in the table: Monte Carlo MAE, 42ms clustering, 60 FPS stress test]</a:t>
            </a:r>
          </a:p>
        </p:txBody>
      </p:sp>
      <p:sp>
        <p:nvSpPr>
          <p:cNvPr id="325" name="Google Shape;32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14 | TIME: 9:15 - 9:40 | TARGET: 25 SECONDS]</a:t>
            </a:r>
          </a:p>
          <a:p/>
          <a:p>
            <a:r>
              <a:t>SPEECH (EN):</a:t>
            </a:r>
          </a:p>
          <a:p>
            <a:r>
              <a:t>"In conclusion, Seismic Viewer delivers a lightweight, accessible, and fast tool that bridges the gap between raw seismological data and interactive 3D and 4D exploration.</a:t>
            </a:r>
          </a:p>
          <a:p>
            <a:r>
              <a:t>It was developed and validated in close collaboration with INGV researchers to directly support volcano monitoring.</a:t>
            </a:r>
          </a:p>
          <a:p>
            <a:r>
              <a:t>Looking ahead, future improvements will focus on real-time WebSocket push notifications from INGV feeds, WebGPU shaders for on-the-fly clustering, and focal mechanism beachball inversions.</a:t>
            </a:r>
          </a:p>
          <a:p/>
          <a:p>
            <a:r>
              <a:t>Thank you very much for your time and attention. I would be glad to answer any questions."</a:t>
            </a:r>
          </a:p>
          <a:p/>
          <a:p>
            <a:r>
              <a:t>[VISUAL ACTION: Thank the committee and supervisors, open the floor for Q&amp;A at exactly ~9m 40s]</a:t>
            </a:r>
          </a:p>
        </p:txBody>
      </p:sp>
      <p:sp>
        <p:nvSpPr>
          <p:cNvPr id="349" name="Google Shape;34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25.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83"/>
        <p:cNvGrpSpPr/>
        <p:nvPr/>
      </p:nvGrpSpPr>
      <p:grpSpPr>
        <a:xfrm>
          <a:off x="0" y="0"/>
          <a:ext cx="0" cy="0"/>
          <a:chOff x="0" y="0"/>
          <a:chExt cx="0" cy="0"/>
        </a:xfrm>
      </p:grpSpPr>
      <p:sp>
        <p:nvSpPr>
          <p:cNvPr id="85" name="Google Shape;85;p13"/>
          <p:cNvSpPr/>
          <p:nvPr/>
        </p:nvSpPr>
        <p:spPr>
          <a:xfrm>
            <a:off x="762000" y="2489001"/>
            <a:ext cx="1200000" cy="45000"/>
          </a:xfrm>
          <a:prstGeom prst="rect">
            <a:avLst/>
          </a:prstGeom>
          <a:solidFill>
            <a:srgbClr val="822433"/>
          </a:solidFill>
          <a:ln w="12700">
            <a:solidFill>
              <a:srgbClr val="E4DED4"/>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762000" y="2727126"/>
            <a:ext cx="11430000" cy="52566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defRPr b="1">
                <a:solidFill>
                  <a:srgbClr val="822433"/>
                </a:solidFill>
              </a:defRPr>
            </a:pPr>
            <a:r>
              <a:rPr lang="en-US" sz="3600" b="1" i="0" u="none" strike="noStrike" cap="none">
                <a:solidFill>
                  <a:srgbClr val="822433"/>
                </a:solidFill>
                <a:latin typeface="Cinzel"/>
                <a:ea typeface="Cinzel"/>
                <a:cs typeface="Cinzel"/>
                <a:sym typeface="Cinzel"/>
              </a:rPr>
              <a:t>Seismic Viewer</a:t>
            </a:r>
            <a:endParaRPr/>
          </a:p>
        </p:txBody>
      </p:sp>
      <p:sp>
        <p:nvSpPr>
          <p:cNvPr id="88" name="Google Shape;88;p13"/>
          <p:cNvSpPr txBox="1"/>
          <p:nvPr/>
        </p:nvSpPr>
        <p:spPr>
          <a:xfrm>
            <a:off x="762000" y="3405187"/>
            <a:ext cx="8477250" cy="54471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defRPr b="0">
                <a:solidFill>
                  <a:srgbClr val="1C1819"/>
                </a:solidFill>
              </a:defRPr>
            </a:pPr>
            <a:r>
              <a:rPr lang="en-US" sz="1650" b="0" i="0" u="none" strike="noStrike" cap="none">
                <a:solidFill>
                  <a:srgbClr val="1C1819"/>
                </a:solidFill>
                <a:latin typeface="Plus Jakarta Sans"/>
                <a:ea typeface="Plus Jakarta Sans"/>
                <a:cs typeface="Plus Jakarta Sans"/>
                <a:sym typeface="Plus Jakarta Sans"/>
              </a:rPr>
              <a:t>Design, Implementation and Evaluation of an Interactive 4D Spatio-Temporal Visualisation System for Seismological Data</a:t>
            </a:r>
            <a:endParaRPr/>
          </a:p>
        </p:txBody>
      </p:sp>
      <p:sp>
        <p:nvSpPr>
          <p:cNvPr id="89" name="Google Shape;89;p13"/>
          <p:cNvSpPr txBox="1"/>
          <p:nvPr/>
        </p:nvSpPr>
        <p:spPr>
          <a:xfrm>
            <a:off x="762000" y="620000"/>
            <a:ext cx="7322343"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300" b="1">
                <a:solidFill>
                  <a:srgbClr val="822433"/>
                </a:solidFill>
              </a:defRPr>
            </a:pPr>
            <a:r>
              <a:rPr lang="en-US" sz="1300" b="1" i="0" u="none" strike="noStrike" cap="none">
                <a:solidFill>
                  <a:srgbClr val="822433"/>
                </a:solidFill>
                <a:latin typeface="Cinzel"/>
                <a:ea typeface="Cinzel"/>
                <a:cs typeface="Cinzel"/>
                <a:sym typeface="Cinzel"/>
              </a:rPr>
              <a:t>SAPIENZA UNIVERSITY OF ROME</a:t>
            </a:r>
            <a:endParaRPr/>
          </a:p>
        </p:txBody>
      </p:sp>
      <p:sp>
        <p:nvSpPr>
          <p:cNvPr id="90" name="Google Shape;90;p13"/>
          <p:cNvSpPr txBox="1"/>
          <p:nvPr/>
        </p:nvSpPr>
        <p:spPr>
          <a:xfrm>
            <a:off x="762000" y="900000"/>
            <a:ext cx="7322343"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50" b="0">
                <a:solidFill>
                  <a:srgbClr val="204060"/>
                </a:solidFill>
              </a:defRPr>
            </a:pPr>
            <a:r>
              <a:rPr lang="en-US" sz="1150" b="0" i="0" u="none" strike="noStrike" cap="none">
                <a:solidFill>
                  <a:srgbClr val="204060"/>
                </a:solidFill>
                <a:latin typeface="Plus Jakarta Sans"/>
                <a:ea typeface="Plus Jakarta Sans"/>
                <a:cs typeface="Plus Jakarta Sans"/>
                <a:sym typeface="Plus Jakarta Sans"/>
              </a:rPr>
              <a:t>Faculty of Information Engineering, Computer Science and Statistics • ACSAI • A.Y. 2025/2026</a:t>
            </a:r>
            <a:endParaRPr/>
          </a:p>
        </p:txBody>
      </p:sp>
      <p:sp>
        <p:nvSpPr>
          <p:cNvPr id="91" name="Google Shape;91;p13"/>
          <p:cNvSpPr txBox="1"/>
          <p:nvPr/>
        </p:nvSpPr>
        <p:spPr>
          <a:xfrm>
            <a:off x="762000" y="5200000"/>
            <a:ext cx="2800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200" b="1">
                <a:solidFill>
                  <a:srgbClr val="822433"/>
                </a:solidFill>
              </a:defRPr>
            </a:pPr>
            <a:r>
              <a:rPr lang="en-US" sz="1200" b="1" i="0" u="none" strike="noStrike" cap="none">
                <a:solidFill>
                  <a:srgbClr val="822433"/>
                </a:solidFill>
                <a:latin typeface="Plus Jakarta Sans"/>
                <a:ea typeface="Plus Jakarta Sans"/>
                <a:cs typeface="Plus Jakarta Sans"/>
                <a:sym typeface="Plus Jakarta Sans"/>
              </a:rPr>
              <a:t>Candidate</a:t>
            </a:r>
            <a:endParaRPr/>
          </a:p>
        </p:txBody>
      </p:sp>
      <p:sp>
        <p:nvSpPr>
          <p:cNvPr id="92" name="Google Shape;92;p13"/>
          <p:cNvSpPr txBox="1"/>
          <p:nvPr/>
        </p:nvSpPr>
        <p:spPr>
          <a:xfrm>
            <a:off x="762000" y="5480000"/>
            <a:ext cx="28000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1C1819"/>
                </a:solidFill>
              </a:defRPr>
            </a:pPr>
            <a:r>
              <a:rPr lang="en-US" sz="1700" b="1" i="0" u="none" strike="noStrike" cap="none">
                <a:solidFill>
                  <a:srgbClr val="1C1819"/>
                </a:solidFill>
                <a:latin typeface="Plus Jakarta Sans"/>
                <a:ea typeface="Plus Jakarta Sans"/>
                <a:cs typeface="Plus Jakarta Sans"/>
                <a:sym typeface="Plus Jakarta Sans"/>
              </a:rPr>
              <a:t>Alessio Curcio</a:t>
            </a:r>
            <a:endParaRPr/>
          </a:p>
        </p:txBody>
      </p:sp>
      <p:sp>
        <p:nvSpPr>
          <p:cNvPr id="93" name="Google Shape;93;p13"/>
          <p:cNvSpPr txBox="1"/>
          <p:nvPr/>
        </p:nvSpPr>
        <p:spPr>
          <a:xfrm>
            <a:off x="762000" y="5820000"/>
            <a:ext cx="2800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200" b="0">
                <a:solidFill>
                  <a:srgbClr val="5A5052"/>
                </a:solidFill>
              </a:defRPr>
            </a:pPr>
            <a:r>
              <a:rPr lang="en-US" sz="1200" b="0" i="0" u="none" strike="noStrike" cap="none">
                <a:solidFill>
                  <a:srgbClr val="5A5052"/>
                </a:solidFill>
                <a:latin typeface="Plus Jakarta Sans"/>
                <a:ea typeface="Plus Jakarta Sans"/>
                <a:cs typeface="Plus Jakarta Sans"/>
                <a:sym typeface="Plus Jakarta Sans"/>
              </a:rPr>
              <a:t>ID: 2120317</a:t>
            </a:r>
            <a:endParaRPr/>
          </a:p>
        </p:txBody>
      </p:sp>
      <p:sp>
        <p:nvSpPr>
          <p:cNvPr id="94" name="Google Shape;94;p13"/>
          <p:cNvSpPr txBox="1"/>
          <p:nvPr/>
        </p:nvSpPr>
        <p:spPr>
          <a:xfrm>
            <a:off x="4600000" y="5200000"/>
            <a:ext cx="3400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200" b="1">
                <a:solidFill>
                  <a:srgbClr val="822433"/>
                </a:solidFill>
              </a:defRPr>
            </a:pPr>
            <a:r>
              <a:rPr lang="en-US" sz="1200" b="1" i="0" u="none" strike="noStrike" cap="none">
                <a:solidFill>
                  <a:srgbClr val="822433"/>
                </a:solidFill>
                <a:latin typeface="Plus Jakarta Sans"/>
                <a:ea typeface="Plus Jakarta Sans"/>
                <a:cs typeface="Plus Jakarta Sans"/>
                <a:sym typeface="Plus Jakarta Sans"/>
              </a:rPr>
              <a:t>Academic Supervisor</a:t>
            </a:r>
            <a:endParaRPr/>
          </a:p>
        </p:txBody>
      </p:sp>
      <p:sp>
        <p:nvSpPr>
          <p:cNvPr id="95" name="Google Shape;95;p13"/>
          <p:cNvSpPr txBox="1"/>
          <p:nvPr/>
        </p:nvSpPr>
        <p:spPr>
          <a:xfrm>
            <a:off x="4600000" y="5480000"/>
            <a:ext cx="34000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1C1819"/>
                </a:solidFill>
              </a:defRPr>
            </a:pPr>
            <a:r>
              <a:rPr lang="en-US" sz="1700" b="1" i="0" u="none" strike="noStrike" cap="none">
                <a:solidFill>
                  <a:srgbClr val="1C1819"/>
                </a:solidFill>
                <a:latin typeface="Plus Jakarta Sans"/>
                <a:ea typeface="Plus Jakarta Sans"/>
                <a:cs typeface="Plus Jakarta Sans"/>
                <a:sym typeface="Plus Jakarta Sans"/>
              </a:rPr>
              <a:t>Prof. Danilo Avola</a:t>
            </a:r>
            <a:endParaRPr/>
          </a:p>
        </p:txBody>
      </p:sp>
      <p:sp>
        <p:nvSpPr>
          <p:cNvPr id="96" name="Google Shape;96;p13"/>
          <p:cNvSpPr txBox="1"/>
          <p:nvPr/>
        </p:nvSpPr>
        <p:spPr>
          <a:xfrm>
            <a:off x="8400000" y="5200000"/>
            <a:ext cx="3200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200" b="1">
                <a:solidFill>
                  <a:srgbClr val="822433"/>
                </a:solidFill>
              </a:defRPr>
            </a:pPr>
            <a:r>
              <a:rPr lang="en-US" sz="1200" b="1" i="0" u="none" strike="noStrike" cap="none">
                <a:solidFill>
                  <a:srgbClr val="822433"/>
                </a:solidFill>
                <a:latin typeface="Plus Jakarta Sans"/>
                <a:ea typeface="Plus Jakarta Sans"/>
                <a:cs typeface="Plus Jakarta Sans"/>
                <a:sym typeface="Plus Jakarta Sans"/>
              </a:rPr>
              <a:t>Co-Supervisor</a:t>
            </a:r>
            <a:endParaRPr/>
          </a:p>
        </p:txBody>
      </p:sp>
      <p:sp>
        <p:nvSpPr>
          <p:cNvPr id="97" name="Google Shape;97;p13"/>
          <p:cNvSpPr txBox="1"/>
          <p:nvPr/>
        </p:nvSpPr>
        <p:spPr>
          <a:xfrm>
            <a:off x="8400000" y="5480000"/>
            <a:ext cx="32000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1C1819"/>
                </a:solidFill>
              </a:defRPr>
            </a:pPr>
            <a:r>
              <a:rPr lang="en-US" sz="1700" b="1" i="0" u="none" strike="noStrike" cap="none">
                <a:solidFill>
                  <a:srgbClr val="1C1819"/>
                </a:solidFill>
                <a:latin typeface="Plus Jakarta Sans"/>
                <a:ea typeface="Plus Jakarta Sans"/>
                <a:cs typeface="Plus Jakarta Sans"/>
                <a:sym typeface="Plus Jakarta Sans"/>
              </a:rPr>
              <a:t>Dr. Daniele Bailo</a:t>
            </a:r>
            <a:endParaRPr/>
          </a:p>
        </p:txBody>
      </p:sp>
      <p:pic>
        <p:nvPicPr>
          <p:cNvPr id="98" name="Picture 97" descr="sapienza_logo.png"/>
          <p:cNvPicPr>
            <a:picLocks noChangeAspect="1"/>
          </p:cNvPicPr>
          <p:nvPr/>
        </p:nvPicPr>
        <p:blipFill>
          <a:blip r:embed="rId3"/>
          <a:stretch>
            <a:fillRect/>
          </a:stretch>
        </p:blipFill>
        <p:spPr>
          <a:xfrm>
            <a:off x="8000000" y="480000"/>
            <a:ext cx="3400000" cy="1020000"/>
          </a:xfrm>
          <a:prstGeom prst="rect">
            <a:avLst/>
          </a:prstGeom>
        </p:spPr>
      </p:pic>
      <p:sp>
        <p:nvSpPr>
          <p:cNvPr id="99"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101"/>
        <p:cNvGrpSpPr/>
        <p:nvPr/>
      </p:nvGrpSpPr>
      <p:grpSpPr>
        <a:xfrm>
          <a:off x="0" y="0"/>
          <a:ext cx="0" cy="0"/>
          <a:chOff x="0" y="0"/>
          <a:chExt cx="0" cy="0"/>
        </a:xfrm>
      </p:grpSpPr>
      <p:sp>
        <p:nvSpPr>
          <p:cNvPr id="102" name="Google Shape;102;p14"/>
          <p:cNvSpPr/>
          <p:nvPr/>
        </p:nvSpPr>
        <p:spPr>
          <a:xfrm>
            <a:off x="609600" y="2200000"/>
            <a:ext cx="3505200" cy="2850000"/>
          </a:xfrm>
          <a:prstGeom prst="roundRect">
            <a:avLst>
              <a:gd name="adj" fmla="val 5737"/>
            </a:avLst>
          </a:prstGeom>
          <a:solidFill>
            <a:srgbClr val="FDF8F2"/>
          </a:solidFill>
          <a:ln w="12700" cap="flat" cmpd="sng">
            <a:solidFill>
              <a:srgbClr val="EBD7C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4343400" y="2200000"/>
            <a:ext cx="3505200" cy="2850000"/>
          </a:xfrm>
          <a:prstGeom prst="roundRect">
            <a:avLst>
              <a:gd name="adj" fmla="val 6320"/>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8077200" y="2200000"/>
            <a:ext cx="3505200" cy="2850000"/>
          </a:xfrm>
          <a:prstGeom prst="roundRect">
            <a:avLst>
              <a:gd name="adj" fmla="val 5737"/>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5" name="Google Shape;105;p14" descr="image.png"/>
          <p:cNvPicPr preferRelativeResize="0"/>
          <p:nvPr/>
        </p:nvPicPr>
        <p:blipFill rotWithShape="1">
          <a:blip r:embed="rId3">
            <a:alphaModFix/>
          </a:blip>
          <a:srcRect/>
          <a:stretch/>
        </p:blipFill>
        <p:spPr>
          <a:xfrm>
            <a:off x="847725" y="2470000"/>
            <a:ext cx="419100" cy="419100"/>
          </a:xfrm>
          <a:prstGeom prst="rect">
            <a:avLst/>
          </a:prstGeom>
          <a:noFill/>
          <a:ln>
            <a:noFill/>
          </a:ln>
        </p:spPr>
      </p:pic>
      <p:pic>
        <p:nvPicPr>
          <p:cNvPr id="106" name="Google Shape;106;p14" descr="image.png"/>
          <p:cNvPicPr preferRelativeResize="0"/>
          <p:nvPr/>
        </p:nvPicPr>
        <p:blipFill rotWithShape="1">
          <a:blip r:embed="rId4">
            <a:alphaModFix/>
          </a:blip>
          <a:srcRect/>
          <a:stretch/>
        </p:blipFill>
        <p:spPr>
          <a:xfrm>
            <a:off x="4581525" y="2470000"/>
            <a:ext cx="419100" cy="419100"/>
          </a:xfrm>
          <a:prstGeom prst="rect">
            <a:avLst/>
          </a:prstGeom>
          <a:noFill/>
          <a:ln>
            <a:noFill/>
          </a:ln>
        </p:spPr>
      </p:pic>
      <p:pic>
        <p:nvPicPr>
          <p:cNvPr id="107" name="Google Shape;107;p14" descr="image.png"/>
          <p:cNvPicPr preferRelativeResize="0"/>
          <p:nvPr/>
        </p:nvPicPr>
        <p:blipFill rotWithShape="1">
          <a:blip r:embed="rId5">
            <a:alphaModFix/>
          </a:blip>
          <a:srcRect/>
          <a:stretch/>
        </p:blipFill>
        <p:spPr>
          <a:xfrm>
            <a:off x="8315325" y="2470000"/>
            <a:ext cx="419100" cy="419100"/>
          </a:xfrm>
          <a:prstGeom prst="rect">
            <a:avLst/>
          </a:prstGeom>
          <a:noFill/>
          <a:ln>
            <a:noFill/>
          </a:ln>
        </p:spPr>
      </p:pic>
      <p:pic>
        <p:nvPicPr>
          <p:cNvPr id="108" name="Google Shape;108;p14" descr="image.png"/>
          <p:cNvPicPr preferRelativeResize="0"/>
          <p:nvPr/>
        </p:nvPicPr>
        <p:blipFill rotWithShape="1">
          <a:blip r:embed="rId6">
            <a:alphaModFix/>
          </a:blip>
          <a:srcRect/>
          <a:stretch/>
        </p:blipFill>
        <p:spPr>
          <a:xfrm>
            <a:off x="962025" y="2580000"/>
            <a:ext cx="190500" cy="190500"/>
          </a:xfrm>
          <a:prstGeom prst="rect">
            <a:avLst/>
          </a:prstGeom>
          <a:noFill/>
          <a:ln>
            <a:noFill/>
          </a:ln>
        </p:spPr>
      </p:pic>
      <p:pic>
        <p:nvPicPr>
          <p:cNvPr id="109" name="Google Shape;109;p14" descr="image.png"/>
          <p:cNvPicPr preferRelativeResize="0"/>
          <p:nvPr/>
        </p:nvPicPr>
        <p:blipFill rotWithShape="1">
          <a:blip r:embed="rId7">
            <a:alphaModFix/>
          </a:blip>
          <a:srcRect/>
          <a:stretch/>
        </p:blipFill>
        <p:spPr>
          <a:xfrm>
            <a:off x="4681537" y="2580000"/>
            <a:ext cx="219075" cy="190500"/>
          </a:xfrm>
          <a:prstGeom prst="rect">
            <a:avLst/>
          </a:prstGeom>
          <a:noFill/>
          <a:ln>
            <a:noFill/>
          </a:ln>
        </p:spPr>
      </p:pic>
      <p:pic>
        <p:nvPicPr>
          <p:cNvPr id="110" name="Google Shape;110;p14" descr="image.png"/>
          <p:cNvPicPr preferRelativeResize="0"/>
          <p:nvPr/>
        </p:nvPicPr>
        <p:blipFill rotWithShape="1">
          <a:blip r:embed="rId8">
            <a:alphaModFix/>
          </a:blip>
          <a:srcRect/>
          <a:stretch/>
        </p:blipFill>
        <p:spPr>
          <a:xfrm>
            <a:off x="8405812" y="2580000"/>
            <a:ext cx="238125" cy="190500"/>
          </a:xfrm>
          <a:prstGeom prst="rect">
            <a:avLst/>
          </a:prstGeom>
          <a:noFill/>
          <a:ln>
            <a:noFill/>
          </a:ln>
        </p:spPr>
      </p:pic>
      <p:sp>
        <p:nvSpPr>
          <p:cNvPr id="111" name="Google Shape;111;p14"/>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DOMAIN CONTEXT &amp; RESEARCH MOTIVATION</a:t>
            </a:r>
            <a:endParaRPr/>
          </a:p>
        </p:txBody>
      </p:sp>
      <p:sp>
        <p:nvSpPr>
          <p:cNvPr id="112" name="Google Shape;112;p14"/>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The Campi Flegrei Volcanic Challenge</a:t>
            </a:r>
            <a:endParaRPr/>
          </a:p>
        </p:txBody>
      </p:sp>
      <p:sp>
        <p:nvSpPr>
          <p:cNvPr id="113" name="Google Shape;113;p14"/>
          <p:cNvSpPr txBox="1"/>
          <p:nvPr/>
        </p:nvSpPr>
        <p:spPr>
          <a:xfrm>
            <a:off x="847725" y="3050000"/>
            <a:ext cx="3975496"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B85828"/>
                </a:solidFill>
              </a:defRPr>
            </a:pPr>
            <a:r>
              <a:rPr lang="en-US" sz="1700" b="1" i="0" u="none" strike="noStrike" cap="none">
                <a:solidFill>
                  <a:srgbClr val="B85828"/>
                </a:solidFill>
                <a:latin typeface="Plus Jakarta Sans"/>
                <a:ea typeface="Plus Jakarta Sans"/>
                <a:cs typeface="Plus Jakarta Sans"/>
                <a:sym typeface="Plus Jakarta Sans"/>
              </a:rPr>
              <a:t>Active Volcanic Unrest</a:t>
            </a:r>
            <a:endParaRPr/>
          </a:p>
        </p:txBody>
      </p:sp>
      <p:sp>
        <p:nvSpPr>
          <p:cNvPr id="114" name="Google Shape;114;p14"/>
          <p:cNvSpPr txBox="1"/>
          <p:nvPr/>
        </p:nvSpPr>
        <p:spPr>
          <a:xfrm>
            <a:off x="847725" y="3450000"/>
            <a:ext cx="3124200" cy="14000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defRPr sz="1350" b="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Ongoing bradyseismic uplift and dense swarm seismicity since 2005 demand continuous, multi-parametric spatial monitoring.</a:t>
            </a:r>
            <a:endParaRPr/>
          </a:p>
        </p:txBody>
      </p:sp>
      <p:sp>
        <p:nvSpPr>
          <p:cNvPr id="115" name="Google Shape;115;p14"/>
          <p:cNvSpPr txBox="1"/>
          <p:nvPr/>
        </p:nvSpPr>
        <p:spPr>
          <a:xfrm>
            <a:off x="4581525" y="3050000"/>
            <a:ext cx="3975496"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204060"/>
                </a:solidFill>
              </a:defRPr>
            </a:pPr>
            <a:r>
              <a:rPr lang="en-US" sz="1700" b="1" i="0" u="none" strike="noStrike" cap="none">
                <a:solidFill>
                  <a:srgbClr val="204060"/>
                </a:solidFill>
                <a:latin typeface="Plus Jakarta Sans"/>
                <a:ea typeface="Plus Jakarta Sans"/>
                <a:cs typeface="Plus Jakarta Sans"/>
                <a:sym typeface="Plus Jakarta Sans"/>
              </a:rPr>
              <a:t>Planar Fault Structures</a:t>
            </a:r>
            <a:endParaRPr/>
          </a:p>
        </p:txBody>
      </p:sp>
      <p:sp>
        <p:nvSpPr>
          <p:cNvPr id="116" name="Google Shape;116;p14"/>
          <p:cNvSpPr txBox="1"/>
          <p:nvPr/>
        </p:nvSpPr>
        <p:spPr>
          <a:xfrm>
            <a:off x="4581525" y="3450000"/>
            <a:ext cx="3124200" cy="1400000"/>
          </a:xfrm>
          <a:prstGeom prst="rect">
            <a:avLst/>
          </a:prstGeom>
          <a:noFill/>
          <a:ln>
            <a:noFill/>
          </a:ln>
        </p:spPr>
        <p:txBody>
          <a:bodyPr spcFirstLastPara="1" wrap="square" lIns="0" tIns="0" rIns="0" bIns="0" anchor="t" anchorCtr="0">
            <a:spAutoFit/>
          </a:bodyPr>
          <a:lstStyle/>
          <a:p>
            <a:pPr>
              <a:defRPr sz="1300">
                <a:solidFill>
                  <a:srgbClr val="1C1819"/>
                </a:solidFill>
              </a:defRPr>
            </a:pPr>
            <a:r>
              <a:rPr sz="1300">
                <a:solidFill>
                  <a:srgbClr val="1C1819"/>
                </a:solidFill>
              </a:rPr>
              <a:t>Recent studies (Giordano, Alfonsi et al., Nature Comm. 2025) demonstrate that hypocentres delineate growing planar faults rather than diffuse isotropic clusters.</a:t>
            </a:r>
          </a:p>
        </p:txBody>
      </p:sp>
      <p:sp>
        <p:nvSpPr>
          <p:cNvPr id="117" name="Google Shape;117;p14"/>
          <p:cNvSpPr txBox="1"/>
          <p:nvPr/>
        </p:nvSpPr>
        <p:spPr>
          <a:xfrm>
            <a:off x="8315325" y="3050000"/>
            <a:ext cx="38766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822433"/>
                </a:solidFill>
              </a:defRPr>
            </a:pPr>
            <a:r>
              <a:rPr lang="en-US" sz="1700" b="1" i="0" u="none" strike="noStrike" cap="none">
                <a:solidFill>
                  <a:srgbClr val="822433"/>
                </a:solidFill>
                <a:latin typeface="Plus Jakarta Sans"/>
                <a:ea typeface="Plus Jakarta Sans"/>
                <a:cs typeface="Plus Jakarta Sans"/>
                <a:sym typeface="Plus Jakarta Sans"/>
              </a:rPr>
              <a:t>INGV Operational Need</a:t>
            </a:r>
            <a:endParaRPr/>
          </a:p>
        </p:txBody>
      </p:sp>
      <p:sp>
        <p:nvSpPr>
          <p:cNvPr id="118" name="Google Shape;118;p14"/>
          <p:cNvSpPr txBox="1"/>
          <p:nvPr/>
        </p:nvSpPr>
        <p:spPr>
          <a:xfrm>
            <a:off x="8315325" y="3450000"/>
            <a:ext cx="3124200" cy="14000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defRPr sz="1350" b="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Geophysicists require an interactive desktop system bridging raw catalogues, tomography models, and automated fault plane extraction.</a:t>
            </a:r>
            <a:endParaRPr/>
          </a:p>
        </p:txBody>
      </p:sp>
      <p:pic>
        <p:nvPicPr>
          <p:cNvPr id="119" name="Picture 118" descr="sapienza_logo.png"/>
          <p:cNvPicPr>
            <a:picLocks noChangeAspect="1"/>
          </p:cNvPicPr>
          <p:nvPr/>
        </p:nvPicPr>
        <p:blipFill>
          <a:blip r:embed="rId9"/>
          <a:stretch>
            <a:fillRect/>
          </a:stretch>
        </p:blipFill>
        <p:spPr>
          <a:xfrm>
            <a:off x="9750000" y="400000"/>
            <a:ext cx="1900000" cy="570000"/>
          </a:xfrm>
          <a:prstGeom prst="rect">
            <a:avLst/>
          </a:prstGeom>
        </p:spPr>
      </p:pic>
      <p:sp>
        <p:nvSpPr>
          <p:cNvPr id="120"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122"/>
        <p:cNvGrpSpPr/>
        <p:nvPr/>
      </p:nvGrpSpPr>
      <p:grpSpPr>
        <a:xfrm>
          <a:off x="0" y="0"/>
          <a:ext cx="0" cy="0"/>
          <a:chOff x="0" y="0"/>
          <a:chExt cx="0" cy="0"/>
        </a:xfrm>
      </p:grpSpPr>
      <p:sp>
        <p:nvSpPr>
          <p:cNvPr id="123" name="Google Shape;123;p15"/>
          <p:cNvSpPr/>
          <p:nvPr/>
        </p:nvSpPr>
        <p:spPr>
          <a:xfrm>
            <a:off x="609600" y="2200000"/>
            <a:ext cx="3505200" cy="2850000"/>
          </a:xfrm>
          <a:prstGeom prst="roundRect">
            <a:avLst>
              <a:gd name="adj" fmla="val 5499"/>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5"/>
          <p:cNvSpPr/>
          <p:nvPr/>
        </p:nvSpPr>
        <p:spPr>
          <a:xfrm>
            <a:off x="4343400" y="2200000"/>
            <a:ext cx="3505200" cy="2850000"/>
          </a:xfrm>
          <a:prstGeom prst="roundRect">
            <a:avLst>
              <a:gd name="adj" fmla="val 5499"/>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5"/>
          <p:cNvSpPr/>
          <p:nvPr/>
        </p:nvSpPr>
        <p:spPr>
          <a:xfrm>
            <a:off x="8077200" y="2200000"/>
            <a:ext cx="3505200" cy="2850000"/>
          </a:xfrm>
          <a:prstGeom prst="roundRect">
            <a:avLst>
              <a:gd name="adj" fmla="val 5499"/>
            </a:avLst>
          </a:prstGeom>
          <a:solidFill>
            <a:srgbClr val="FBF4F3"/>
          </a:solidFill>
          <a:ln w="19050" cap="flat" cmpd="sng">
            <a:solidFill>
              <a:srgbClr val="8224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5"/>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STATE OF THE ART &amp; TOOLING COMPARISON</a:t>
            </a:r>
            <a:endParaRPr/>
          </a:p>
        </p:txBody>
      </p:sp>
      <p:sp>
        <p:nvSpPr>
          <p:cNvPr id="127" name="Google Shape;127;p15"/>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Bridging the Seismological Visualisation Gap</a:t>
            </a:r>
            <a:endParaRPr/>
          </a:p>
        </p:txBody>
      </p:sp>
      <p:sp>
        <p:nvSpPr>
          <p:cNvPr id="128" name="Google Shape;128;p15"/>
          <p:cNvSpPr txBox="1"/>
          <p:nvPr/>
        </p:nvSpPr>
        <p:spPr>
          <a:xfrm>
            <a:off x="866775" y="2400000"/>
            <a:ext cx="37385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204060"/>
                </a:solidFill>
              </a:defRPr>
            </a:pPr>
            <a:r>
              <a:rPr lang="en-US" sz="1050" b="1" i="0" u="none" strike="noStrike" cap="none">
                <a:solidFill>
                  <a:srgbClr val="204060"/>
                </a:solidFill>
                <a:latin typeface="Plus Jakarta Sans"/>
                <a:ea typeface="Plus Jakarta Sans"/>
                <a:cs typeface="Plus Jakarta Sans"/>
                <a:sym typeface="Plus Jakarta Sans"/>
              </a:rPr>
              <a:t>GIS PLATFORMS</a:t>
            </a:r>
            <a:endParaRPr/>
          </a:p>
        </p:txBody>
      </p:sp>
      <p:sp>
        <p:nvSpPr>
          <p:cNvPr id="129" name="Google Shape;129;p15"/>
          <p:cNvSpPr txBox="1"/>
          <p:nvPr/>
        </p:nvSpPr>
        <p:spPr>
          <a:xfrm>
            <a:off x="866775" y="2620000"/>
            <a:ext cx="392549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1C1819"/>
                </a:solidFill>
              </a:defRPr>
            </a:pPr>
            <a:r>
              <a:rPr lang="en-US" sz="1700" b="1" i="0" u="none" strike="noStrike" cap="none">
                <a:solidFill>
                  <a:srgbClr val="1C1819"/>
                </a:solidFill>
                <a:latin typeface="Plus Jakarta Sans"/>
                <a:ea typeface="Plus Jakarta Sans"/>
                <a:cs typeface="Plus Jakarta Sans"/>
                <a:sym typeface="Plus Jakarta Sans"/>
              </a:rPr>
              <a:t>QGIS &amp; ArcGIS</a:t>
            </a:r>
            <a:endParaRPr/>
          </a:p>
        </p:txBody>
      </p:sp>
      <p:sp>
        <p:nvSpPr>
          <p:cNvPr id="130" name="Google Shape;130;p15"/>
          <p:cNvSpPr txBox="1"/>
          <p:nvPr/>
        </p:nvSpPr>
        <p:spPr>
          <a:xfrm>
            <a:off x="4600575" y="2400000"/>
            <a:ext cx="37385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204060"/>
                </a:solidFill>
              </a:defRPr>
            </a:pPr>
            <a:r>
              <a:rPr lang="en-US" sz="1050" b="1" i="0" u="none" strike="noStrike" cap="none">
                <a:solidFill>
                  <a:srgbClr val="204060"/>
                </a:solidFill>
                <a:latin typeface="Plus Jakarta Sans"/>
                <a:ea typeface="Plus Jakarta Sans"/>
                <a:cs typeface="Plus Jakarta Sans"/>
                <a:sym typeface="Plus Jakarta Sans"/>
              </a:rPr>
              <a:t>SCIENTIFIC CODE</a:t>
            </a:r>
            <a:endParaRPr/>
          </a:p>
        </p:txBody>
      </p:sp>
      <p:sp>
        <p:nvSpPr>
          <p:cNvPr id="131" name="Google Shape;131;p15"/>
          <p:cNvSpPr txBox="1"/>
          <p:nvPr/>
        </p:nvSpPr>
        <p:spPr>
          <a:xfrm>
            <a:off x="4600575" y="2620000"/>
            <a:ext cx="392549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700" b="1">
                <a:solidFill>
                  <a:srgbClr val="1C1819"/>
                </a:solidFill>
              </a:defRPr>
            </a:pPr>
            <a:r>
              <a:rPr lang="en-US" sz="1700" b="1" i="0" u="none" strike="noStrike" cap="none">
                <a:solidFill>
                  <a:srgbClr val="1C1819"/>
                </a:solidFill>
                <a:latin typeface="Plus Jakarta Sans"/>
                <a:ea typeface="Plus Jakarta Sans"/>
                <a:cs typeface="Plus Jakarta Sans"/>
                <a:sym typeface="Plus Jakarta Sans"/>
              </a:rPr>
              <a:t>ObsPy &amp; GMT</a:t>
            </a:r>
            <a:endParaRPr/>
          </a:p>
        </p:txBody>
      </p:sp>
      <p:sp>
        <p:nvSpPr>
          <p:cNvPr id="132" name="Google Shape;132;p15"/>
          <p:cNvSpPr txBox="1"/>
          <p:nvPr/>
        </p:nvSpPr>
        <p:spPr>
          <a:xfrm>
            <a:off x="8334375" y="2400000"/>
            <a:ext cx="37385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822433"/>
                </a:solidFill>
              </a:defRPr>
            </a:pPr>
            <a:r>
              <a:rPr lang="en-US" sz="1050" b="1" i="0" u="none" strike="noStrike" cap="none">
                <a:solidFill>
                  <a:srgbClr val="822433"/>
                </a:solidFill>
                <a:latin typeface="Plus Jakarta Sans"/>
                <a:ea typeface="Plus Jakarta Sans"/>
                <a:cs typeface="Plus Jakarta Sans"/>
                <a:sym typeface="Plus Jakarta Sans"/>
              </a:rPr>
              <a:t>OUR SOLUTION</a:t>
            </a:r>
            <a:endParaRPr/>
          </a:p>
        </p:txBody>
      </p:sp>
      <p:sp>
        <p:nvSpPr>
          <p:cNvPr id="133" name="Google Shape;133;p15"/>
          <p:cNvSpPr txBox="1"/>
          <p:nvPr/>
        </p:nvSpPr>
        <p:spPr>
          <a:xfrm>
            <a:off x="8334375" y="2620000"/>
            <a:ext cx="38576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800" b="1">
                <a:solidFill>
                  <a:srgbClr val="822433"/>
                </a:solidFill>
              </a:defRPr>
            </a:pPr>
            <a:r>
              <a:rPr lang="en-US" sz="1800" b="1" i="0" u="none" strike="noStrike" cap="none">
                <a:solidFill>
                  <a:srgbClr val="822433"/>
                </a:solidFill>
                <a:latin typeface="Plus Jakarta Sans"/>
                <a:ea typeface="Plus Jakarta Sans"/>
                <a:cs typeface="Plus Jakarta Sans"/>
                <a:sym typeface="Plus Jakarta Sans"/>
              </a:rPr>
              <a:t>Seismic Viewer</a:t>
            </a:r>
            <a:endParaRPr/>
          </a:p>
        </p:txBody>
      </p:sp>
      <p:sp>
        <p:nvSpPr>
          <p:cNvPr id="134" name="Google Shape;134;p15"/>
          <p:cNvSpPr txBox="1"/>
          <p:nvPr/>
        </p:nvSpPr>
        <p:spPr>
          <a:xfrm>
            <a:off x="866775" y="2959658"/>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2D Projection Bias: Flattens depth dimension into 2D maps.</a:t>
            </a:r>
            <a:endParaRPr/>
          </a:p>
        </p:txBody>
      </p:sp>
      <p:sp>
        <p:nvSpPr>
          <p:cNvPr id="135" name="Google Shape;135;p15"/>
          <p:cNvSpPr txBox="1"/>
          <p:nvPr/>
        </p:nvSpPr>
        <p:spPr>
          <a:xfrm>
            <a:off x="866775" y="3447219"/>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3D Latency: Frame drops with dense hypocentral point clouds.</a:t>
            </a:r>
            <a:endParaRPr/>
          </a:p>
        </p:txBody>
      </p:sp>
      <p:sp>
        <p:nvSpPr>
          <p:cNvPr id="136" name="Google Shape;136;p15"/>
          <p:cNvSpPr txBox="1"/>
          <p:nvPr/>
        </p:nvSpPr>
        <p:spPr>
          <a:xfrm>
            <a:off x="866775" y="3934780"/>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No Time Playback: Lacks integrated 4D fault plane tracking.</a:t>
            </a:r>
            <a:endParaRPr/>
          </a:p>
        </p:txBody>
      </p:sp>
      <p:sp>
        <p:nvSpPr>
          <p:cNvPr id="137" name="Google Shape;137;p15"/>
          <p:cNvSpPr txBox="1"/>
          <p:nvPr/>
        </p:nvSpPr>
        <p:spPr>
          <a:xfrm>
            <a:off x="4600575" y="2959658"/>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Static Figures: Produces batch PNG/PDF plots without interaction.</a:t>
            </a:r>
            <a:endParaRPr/>
          </a:p>
        </p:txBody>
      </p:sp>
      <p:sp>
        <p:nvSpPr>
          <p:cNvPr id="138" name="Google Shape;138;p15"/>
          <p:cNvSpPr txBox="1"/>
          <p:nvPr/>
        </p:nvSpPr>
        <p:spPr>
          <a:xfrm>
            <a:off x="4600575" y="3447219"/>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Steep Curve: Requires constant command-line scripting.</a:t>
            </a:r>
            <a:endParaRPr/>
          </a:p>
        </p:txBody>
      </p:sp>
      <p:sp>
        <p:nvSpPr>
          <p:cNvPr id="139" name="Google Shape;139;p15"/>
          <p:cNvSpPr txBox="1"/>
          <p:nvPr/>
        </p:nvSpPr>
        <p:spPr>
          <a:xfrm>
            <a:off x="4600575" y="3934780"/>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Isolated Steps: No real-time geometric model fitting.</a:t>
            </a:r>
            <a:endParaRPr/>
          </a:p>
        </p:txBody>
      </p:sp>
      <p:sp>
        <p:nvSpPr>
          <p:cNvPr id="140" name="Google Shape;140;p15"/>
          <p:cNvSpPr txBox="1"/>
          <p:nvPr/>
        </p:nvSpPr>
        <p:spPr>
          <a:xfrm>
            <a:off x="8334375" y="2959658"/>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Interactive 4D: WebGL GPU rendering across space and time.</a:t>
            </a:r>
            <a:endParaRPr/>
          </a:p>
        </p:txBody>
      </p:sp>
      <p:sp>
        <p:nvSpPr>
          <p:cNvPr id="141" name="Google Shape;141;p15"/>
          <p:cNvSpPr txBox="1"/>
          <p:nvPr/>
        </p:nvSpPr>
        <p:spPr>
          <a:xfrm>
            <a:off x="8334375" y="3447219"/>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Fault Plane Fitting: Automated RANSAC + SVD extraction.</a:t>
            </a:r>
            <a:endParaRPr/>
          </a:p>
        </p:txBody>
      </p:sp>
      <p:sp>
        <p:nvSpPr>
          <p:cNvPr id="142" name="Google Shape;142;p15"/>
          <p:cNvSpPr txBox="1"/>
          <p:nvPr/>
        </p:nvSpPr>
        <p:spPr>
          <a:xfrm>
            <a:off x="8334375" y="3934780"/>
            <a:ext cx="3086100" cy="3732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Sub-Second Response: Float32 binary streaming protocol.</a:t>
            </a:r>
            <a:endParaRPr/>
          </a:p>
        </p:txBody>
      </p:sp>
      <p:pic>
        <p:nvPicPr>
          <p:cNvPr id="143" name="Picture 142" descr="sapienza_logo.png"/>
          <p:cNvPicPr>
            <a:picLocks noChangeAspect="1"/>
          </p:cNvPicPr>
          <p:nvPr/>
        </p:nvPicPr>
        <p:blipFill>
          <a:blip r:embed="rId3"/>
          <a:stretch>
            <a:fillRect/>
          </a:stretch>
        </p:blipFill>
        <p:spPr>
          <a:xfrm>
            <a:off x="9750000" y="400000"/>
            <a:ext cx="1900000" cy="570000"/>
          </a:xfrm>
          <a:prstGeom prst="rect">
            <a:avLst/>
          </a:prstGeom>
        </p:spPr>
      </p:pic>
      <p:sp>
        <p:nvSpPr>
          <p:cNvPr id="144"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146"/>
        <p:cNvGrpSpPr/>
        <p:nvPr/>
      </p:nvGrpSpPr>
      <p:grpSpPr>
        <a:xfrm>
          <a:off x="0" y="0"/>
          <a:ext cx="0" cy="0"/>
          <a:chOff x="0" y="0"/>
          <a:chExt cx="0" cy="0"/>
        </a:xfrm>
      </p:grpSpPr>
      <p:sp>
        <p:nvSpPr>
          <p:cNvPr id="147" name="Google Shape;147;p16"/>
          <p:cNvSpPr/>
          <p:nvPr/>
        </p:nvSpPr>
        <p:spPr>
          <a:xfrm>
            <a:off x="609600" y="1350000"/>
            <a:ext cx="5372100" cy="5150000"/>
          </a:xfrm>
          <a:prstGeom prst="roundRect">
            <a:avLst>
              <a:gd name="adj" fmla="val 2616"/>
            </a:avLst>
          </a:prstGeom>
          <a:solidFill>
            <a:srgbClr val="FFFFFF"/>
          </a:solidFill>
          <a:ln w="1905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6"/>
          <p:cNvSpPr/>
          <p:nvPr/>
        </p:nvSpPr>
        <p:spPr>
          <a:xfrm>
            <a:off x="6210300" y="1350000"/>
            <a:ext cx="5372100" cy="5150000"/>
          </a:xfrm>
          <a:prstGeom prst="roundRect">
            <a:avLst>
              <a:gd name="adj" fmla="val 2616"/>
            </a:avLst>
          </a:prstGeom>
          <a:solidFill>
            <a:srgbClr val="FFFFFF"/>
          </a:solidFill>
          <a:ln w="1905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6"/>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SYSTEM DESIGN &amp; SPECIFICATIONS</a:t>
            </a:r>
            <a:endParaRPr/>
          </a:p>
        </p:txBody>
      </p:sp>
      <p:sp>
        <p:nvSpPr>
          <p:cNvPr id="156" name="Google Shape;156;p16"/>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a:defRPr sz="2000" b="1">
                <a:solidFill>
                  <a:srgbClr val="822433"/>
                </a:solidFill>
                <a:latin typeface="Arial"/>
              </a:defRPr>
            </a:pPr>
            <a:r>
              <a:t>Requirements &amp; Iterative Internship Development Timeline</a:t>
            </a:r>
          </a:p>
        </p:txBody>
      </p:sp>
      <p:pic>
        <p:nvPicPr>
          <p:cNvPr id="169" name="Picture 168" descr="sapienza_logo.png"/>
          <p:cNvPicPr>
            <a:picLocks noChangeAspect="1"/>
          </p:cNvPicPr>
          <p:nvPr/>
        </p:nvPicPr>
        <p:blipFill>
          <a:blip r:embed="rId7"/>
          <a:stretch>
            <a:fillRect/>
          </a:stretch>
        </p:blipFill>
        <p:spPr>
          <a:xfrm>
            <a:off x="9750000" y="400000"/>
            <a:ext cx="1900000" cy="570000"/>
          </a:xfrm>
          <a:prstGeom prst="rect">
            <a:avLst/>
          </a:prstGeom>
        </p:spPr>
      </p:pic>
      <p:sp>
        <p:nvSpPr>
          <p:cNvPr id="170"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792480" y="1514592"/>
            <a:ext cx="5006340" cy="411480"/>
          </a:xfrm>
          <a:prstGeom prst="rect">
            <a:avLst/>
          </a:prstGeom>
          <a:noFill/>
        </p:spPr>
        <p:txBody>
          <a:bodyPr wrap="square" lIns="0" rIns="0" tIns="0" bIns="0">
            <a:spAutoFit/>
          </a:bodyPr>
          <a:lstStyle/>
          <a:p>
            <a:pPr>
              <a:defRPr sz="1400" b="1">
                <a:solidFill>
                  <a:srgbClr val="822433"/>
                </a:solidFill>
                <a:latin typeface="Arial"/>
              </a:defRPr>
            </a:pPr>
            <a:r>
              <a:t>System Requirements &amp; Constraints</a:t>
            </a:r>
          </a:p>
        </p:txBody>
      </p:sp>
      <p:sp>
        <p:nvSpPr>
          <p:cNvPr id="172" name="TextBox 171"/>
          <p:cNvSpPr txBox="1"/>
          <p:nvPr/>
        </p:nvSpPr>
        <p:spPr>
          <a:xfrm>
            <a:off x="792480" y="1944360"/>
            <a:ext cx="5006340" cy="3931920"/>
          </a:xfrm>
          <a:prstGeom prst="rect">
            <a:avLst/>
          </a:prstGeom>
          <a:noFill/>
        </p:spPr>
        <p:txBody>
          <a:bodyPr wrap="square" lIns="0" rIns="0" tIns="0" bIns="0">
            <a:spAutoFit/>
          </a:bodyPr>
          <a:lstStyle/>
          <a:p>
            <a:pPr>
              <a:spcBef>
                <a:spcPts val="0"/>
              </a:spcBef>
              <a:spcAft>
                <a:spcPts val="200"/>
              </a:spcAft>
              <a:defRPr sz="1100" b="1">
                <a:solidFill>
                  <a:srgbClr val="822433"/>
                </a:solidFill>
                <a:latin typeface="Arial"/>
              </a:defRPr>
            </a:pPr>
            <a:r>
              <a:t>Functional Requirements (FR)</a:t>
            </a:r>
          </a:p>
          <a:p>
            <a:pPr>
              <a:spcBef>
                <a:spcPts val="0"/>
              </a:spcBef>
              <a:spcAft>
                <a:spcPts val="400"/>
              </a:spcAft>
              <a:defRPr sz="950" b="0">
                <a:solidFill>
                  <a:srgbClr val="302A2C"/>
                </a:solidFill>
                <a:latin typeface="Arial"/>
              </a:defRPr>
            </a:pPr>
            <a:r>
              <a:t>• FR1 — Multi-Modal 4D Navigation: Seamless toggle between 2D maps, 3D point cloud, and dynamic 4D time playback.</a:t>
            </a:r>
          </a:p>
          <a:p>
            <a:pPr>
              <a:spcBef>
                <a:spcPts val="0"/>
              </a:spcBef>
              <a:spcAft>
                <a:spcPts val="400"/>
              </a:spcAft>
              <a:defRPr sz="950" b="0">
                <a:solidFill>
                  <a:srgbClr val="302A2C"/>
                </a:solidFill>
                <a:latin typeface="Arial"/>
              </a:defRPr>
            </a:pPr>
            <a:r>
              <a:t>• FR2 — Automated Fault Extraction: Mathematical plane fitting (RANSAC + SVD) with Strike &amp; Dip angles and planarity.</a:t>
            </a:r>
          </a:p>
          <a:p>
            <a:pPr>
              <a:spcBef>
                <a:spcPts val="0"/>
              </a:spcBef>
              <a:spcAft>
                <a:spcPts val="400"/>
              </a:spcAft>
              <a:defRPr sz="950" b="0">
                <a:solidFill>
                  <a:srgbClr val="302A2C"/>
                </a:solidFill>
                <a:latin typeface="Arial"/>
              </a:defRPr>
            </a:pPr>
            <a:r>
              <a:t>• FR3 — Multi-Layer Geophysics: Volumetric Vp/Vs tomography, GNSS ground uplift, and seismic station positions.</a:t>
            </a:r>
          </a:p>
          <a:p>
            <a:pPr>
              <a:spcBef>
                <a:spcPts val="0"/>
              </a:spcBef>
              <a:spcAft>
                <a:spcPts val="400"/>
              </a:spcAft>
              <a:defRPr sz="950" b="0">
                <a:solidFill>
                  <a:srgbClr val="302A2C"/>
                </a:solidFill>
                <a:latin typeface="Arial"/>
              </a:defRPr>
            </a:pPr>
            <a:r>
              <a:t>• FR4 — Heterogeneous Ingestion: Online queries to INGV GOSSIP API and offline local CSV parsing.</a:t>
            </a:r>
          </a:p>
          <a:p>
            <a:pPr>
              <a:spcBef>
                <a:spcPts val="600"/>
              </a:spcBef>
              <a:spcAft>
                <a:spcPts val="200"/>
              </a:spcAft>
              <a:defRPr sz="1100" b="1">
                <a:solidFill>
                  <a:srgbClr val="822433"/>
                </a:solidFill>
                <a:latin typeface="Arial"/>
              </a:defRPr>
            </a:pPr>
            <a:r>
              <a:t>Non-Functional Requirements (NFR)</a:t>
            </a:r>
          </a:p>
          <a:p>
            <a:pPr>
              <a:spcBef>
                <a:spcPts val="0"/>
              </a:spcBef>
              <a:spcAft>
                <a:spcPts val="400"/>
              </a:spcAft>
              <a:defRPr sz="950" b="0">
                <a:solidFill>
                  <a:srgbClr val="302A2C"/>
                </a:solidFill>
                <a:latin typeface="Arial"/>
              </a:defRPr>
            </a:pPr>
            <a:r>
              <a:t>• NFR1 — Real-Time Rendering: 50–60 FPS with up to 50,000 seismic hypocentres via WebGL GPU instancing.</a:t>
            </a:r>
          </a:p>
          <a:p>
            <a:pPr>
              <a:spcBef>
                <a:spcPts val="0"/>
              </a:spcBef>
              <a:spcAft>
                <a:spcPts val="400"/>
              </a:spcAft>
              <a:defRPr sz="950" b="0">
                <a:solidFill>
                  <a:srgbClr val="302A2C"/>
                </a:solidFill>
                <a:latin typeface="Arial"/>
              </a:defRPr>
            </a:pPr>
            <a:r>
              <a:t>• NFR2 — Sub-Second Latency: Interactive clustering recalculation under 500 ms for slider response.</a:t>
            </a:r>
          </a:p>
          <a:p>
            <a:pPr>
              <a:spcBef>
                <a:spcPts val="0"/>
              </a:spcBef>
              <a:spcAft>
                <a:spcPts val="400"/>
              </a:spcAft>
              <a:defRPr sz="950" b="0">
                <a:solidFill>
                  <a:srgbClr val="302A2C"/>
                </a:solidFill>
                <a:latin typeface="Arial"/>
              </a:defRPr>
            </a:pPr>
            <a:r>
              <a:t>• NFR3 — Bounded Footprint: Native desktop pywebview; memory footprint strictly under 500 MB.</a:t>
            </a:r>
          </a:p>
          <a:p>
            <a:pPr>
              <a:spcBef>
                <a:spcPts val="0"/>
              </a:spcBef>
              <a:spcAft>
                <a:spcPts val="400"/>
              </a:spcAft>
              <a:defRPr sz="950" b="0">
                <a:solidFill>
                  <a:srgbClr val="302A2C"/>
                </a:solidFill>
                <a:latin typeface="Arial"/>
              </a:defRPr>
            </a:pPr>
            <a:r>
              <a:t>• NFR4 — Robust Sanitisation: Safe exclusion of missing depth events from 3D to prevent planar artifacts.</a:t>
            </a:r>
          </a:p>
        </p:txBody>
      </p:sp>
      <p:sp>
        <p:nvSpPr>
          <p:cNvPr id="173" name="TextBox 172"/>
          <p:cNvSpPr txBox="1"/>
          <p:nvPr/>
        </p:nvSpPr>
        <p:spPr>
          <a:xfrm>
            <a:off x="6393180" y="1514592"/>
            <a:ext cx="5006340" cy="411480"/>
          </a:xfrm>
          <a:prstGeom prst="rect">
            <a:avLst/>
          </a:prstGeom>
          <a:noFill/>
        </p:spPr>
        <p:txBody>
          <a:bodyPr wrap="square" lIns="0" rIns="0" tIns="0" bIns="0">
            <a:spAutoFit/>
          </a:bodyPr>
          <a:lstStyle/>
          <a:p>
            <a:pPr>
              <a:defRPr sz="1400" b="1">
                <a:solidFill>
                  <a:srgbClr val="822433"/>
                </a:solidFill>
                <a:latin typeface="Arial"/>
              </a:defRPr>
            </a:pPr>
            <a:r>
              <a:t>Implementation Timeline (Internship Phases)</a:t>
            </a:r>
          </a:p>
        </p:txBody>
      </p:sp>
      <p:sp>
        <p:nvSpPr>
          <p:cNvPr id="174" name="TextBox 173"/>
          <p:cNvSpPr txBox="1"/>
          <p:nvPr/>
        </p:nvSpPr>
        <p:spPr>
          <a:xfrm>
            <a:off x="6393180" y="1852920"/>
            <a:ext cx="5006340" cy="274320"/>
          </a:xfrm>
          <a:prstGeom prst="rect">
            <a:avLst/>
          </a:prstGeom>
          <a:noFill/>
        </p:spPr>
        <p:txBody>
          <a:bodyPr wrap="square" lIns="0" rIns="0" tIns="0" bIns="0">
            <a:spAutoFit/>
          </a:bodyPr>
          <a:lstStyle/>
          <a:p>
            <a:pPr>
              <a:defRPr sz="950" i="1">
                <a:solidFill>
                  <a:srgbClr val="736967"/>
                </a:solidFill>
                <a:latin typeface="Arial"/>
              </a:defRPr>
            </a:pPr>
            <a:r>
              <a:t>Iterative development shaped by continuous feedback from INGV &amp; Roma Tre</a:t>
            </a:r>
          </a:p>
        </p:txBody>
      </p:sp>
      <p:sp>
        <p:nvSpPr>
          <p:cNvPr id="175" name="TextBox 174"/>
          <p:cNvSpPr txBox="1"/>
          <p:nvPr/>
        </p:nvSpPr>
        <p:spPr>
          <a:xfrm>
            <a:off x="6393180" y="2172960"/>
            <a:ext cx="5006340" cy="3749039"/>
          </a:xfrm>
          <a:prstGeom prst="rect">
            <a:avLst/>
          </a:prstGeom>
          <a:noFill/>
        </p:spPr>
        <p:txBody>
          <a:bodyPr wrap="square" lIns="0" rIns="0" tIns="0" bIns="0">
            <a:spAutoFit/>
          </a:bodyPr>
          <a:lstStyle/>
          <a:p>
            <a:r>
              <a:rPr sz="950" b="1">
                <a:solidFill>
                  <a:srgbClr val="822433"/>
                </a:solidFill>
                <a:latin typeface="Arial"/>
              </a:rPr>
              <a:t>P1 </a:t>
            </a:r>
            <a:r>
              <a:rPr sz="1000" b="1">
                <a:solidFill>
                  <a:srgbClr val="1C1819"/>
                </a:solidFill>
                <a:latin typeface="Arial"/>
              </a:rPr>
              <a:t>Phase 1: 3D Prototype &amp; CSV Ingestion</a:t>
            </a:r>
          </a:p>
          <a:p>
            <a:pPr>
              <a:spcAft>
                <a:spcPts val="500"/>
              </a:spcAft>
            </a:pPr>
            <a:r>
              <a:rPr sz="919">
                <a:solidFill>
                  <a:srgbClr val="302A2C"/>
                </a:solidFill>
                <a:latin typeface="Arial"/>
              </a:rPr>
              <a:t>Initial 3D hypocentral point cloud visualization and local CSV file parsing engine.</a:t>
            </a:r>
          </a:p>
          <a:p>
            <a:r>
              <a:rPr sz="950" b="1">
                <a:solidFill>
                  <a:srgbClr val="822433"/>
                </a:solidFill>
                <a:latin typeface="Arial"/>
              </a:rPr>
              <a:t>P2 </a:t>
            </a:r>
            <a:r>
              <a:rPr sz="1000" b="1">
                <a:solidFill>
                  <a:srgbClr val="1C1819"/>
                </a:solidFill>
                <a:latin typeface="Arial"/>
              </a:rPr>
              <a:t>Phase 2: K-Means Clustering &amp; Native Bridge</a:t>
            </a:r>
          </a:p>
          <a:p>
            <a:pPr>
              <a:spcAft>
                <a:spcPts val="500"/>
              </a:spcAft>
            </a:pPr>
            <a:r>
              <a:rPr sz="919">
                <a:solidFill>
                  <a:srgbClr val="302A2C"/>
                </a:solidFill>
                <a:latin typeface="Arial"/>
              </a:rPr>
              <a:t>First spatial clustering implementation and two-way bridge between Python and WebView.</a:t>
            </a:r>
          </a:p>
          <a:p>
            <a:r>
              <a:rPr sz="950" b="1">
                <a:solidFill>
                  <a:srgbClr val="822433"/>
                </a:solidFill>
                <a:latin typeface="Arial"/>
              </a:rPr>
              <a:t>P3 </a:t>
            </a:r>
            <a:r>
              <a:rPr sz="1000" b="1">
                <a:solidFill>
                  <a:srgbClr val="1C1819"/>
                </a:solidFill>
                <a:latin typeface="Arial"/>
              </a:rPr>
              <a:t>Phase 3: UI Redesign &amp; INGV GOSSIP API</a:t>
            </a:r>
          </a:p>
          <a:p>
            <a:pPr>
              <a:spcAft>
                <a:spcPts val="500"/>
              </a:spcAft>
            </a:pPr>
            <a:r>
              <a:rPr sz="919">
                <a:solidFill>
                  <a:srgbClr val="302A2C"/>
                </a:solidFill>
                <a:latin typeface="Arial"/>
              </a:rPr>
              <a:t>Modern analytical interface and automated online catalogue query directly from INGV.</a:t>
            </a:r>
          </a:p>
          <a:p>
            <a:r>
              <a:rPr sz="950" b="1">
                <a:solidFill>
                  <a:srgbClr val="822433"/>
                </a:solidFill>
                <a:latin typeface="Arial"/>
              </a:rPr>
              <a:t>P4 </a:t>
            </a:r>
            <a:r>
              <a:rPr sz="1000" b="1">
                <a:solidFill>
                  <a:srgbClr val="1C1819"/>
                </a:solidFill>
                <a:latin typeface="Arial"/>
              </a:rPr>
              <a:t>Phase 4: DBSCAN Knee Tuning &amp; Cylinders</a:t>
            </a:r>
          </a:p>
          <a:p>
            <a:pPr>
              <a:spcAft>
                <a:spcPts val="500"/>
              </a:spcAft>
            </a:pPr>
            <a:r>
              <a:rPr sz="919">
                <a:solidFill>
                  <a:srgbClr val="302A2C"/>
                </a:solidFill>
                <a:latin typeface="Arial"/>
              </a:rPr>
              <a:t>Automatic knee detection for eps, 4D cylinder partitioning, and confirmed cluster locking.</a:t>
            </a:r>
          </a:p>
          <a:p>
            <a:r>
              <a:rPr sz="950" b="1">
                <a:solidFill>
                  <a:srgbClr val="822433"/>
                </a:solidFill>
                <a:latin typeface="Arial"/>
              </a:rPr>
              <a:t>P5 </a:t>
            </a:r>
            <a:r>
              <a:rPr sz="1000" b="1">
                <a:solidFill>
                  <a:srgbClr val="1C1819"/>
                </a:solidFill>
                <a:latin typeface="Arial"/>
              </a:rPr>
              <a:t>Phase 5: Multi-Layer Geophysical Fusion</a:t>
            </a:r>
          </a:p>
          <a:p>
            <a:pPr>
              <a:spcAft>
                <a:spcPts val="500"/>
              </a:spcAft>
            </a:pPr>
            <a:r>
              <a:rPr sz="919">
                <a:solidFill>
                  <a:srgbClr val="302A2C"/>
                </a:solidFill>
                <a:latin typeface="Arial"/>
              </a:rPr>
              <a:t>Volumetric 3D tomography (Vp/Vs), GNSS deformation surface, and station markers.</a:t>
            </a:r>
          </a:p>
          <a:p>
            <a:r>
              <a:rPr sz="950" b="1">
                <a:solidFill>
                  <a:srgbClr val="822433"/>
                </a:solidFill>
                <a:latin typeface="Arial"/>
              </a:rPr>
              <a:t>P6 </a:t>
            </a:r>
            <a:r>
              <a:rPr sz="1000" b="1">
                <a:solidFill>
                  <a:srgbClr val="1C1819"/>
                </a:solidFill>
                <a:latin typeface="Arial"/>
              </a:rPr>
              <a:t>Phase 6: Binary Streaming &amp; Async Architecture</a:t>
            </a:r>
          </a:p>
          <a:p>
            <a:pPr>
              <a:spcAft>
                <a:spcPts val="500"/>
              </a:spcAft>
            </a:pPr>
            <a:r>
              <a:rPr sz="919">
                <a:solidFill>
                  <a:srgbClr val="302A2C"/>
                </a:solidFill>
                <a:latin typeface="Arial"/>
              </a:rPr>
              <a:t>Float32 contiguous binary streaming (-80% payload) and 8-worker ThreadPool backend.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172"/>
        <p:cNvGrpSpPr/>
        <p:nvPr/>
      </p:nvGrpSpPr>
      <p:grpSpPr>
        <a:xfrm>
          <a:off x="0" y="0"/>
          <a:ext cx="0" cy="0"/>
          <a:chOff x="0" y="0"/>
          <a:chExt cx="0" cy="0"/>
        </a:xfrm>
      </p:grpSpPr>
      <p:sp>
        <p:nvSpPr>
          <p:cNvPr id="173" name="Google Shape;173;p17"/>
          <p:cNvSpPr/>
          <p:nvPr/>
        </p:nvSpPr>
        <p:spPr>
          <a:xfrm>
            <a:off x="609600" y="1890013"/>
            <a:ext cx="4400000" cy="1180000"/>
          </a:xfrm>
          <a:prstGeom prst="roundRect">
            <a:avLst>
              <a:gd name="adj" fmla="val 11965"/>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7"/>
          <p:cNvSpPr/>
          <p:nvPr/>
        </p:nvSpPr>
        <p:spPr>
          <a:xfrm>
            <a:off x="609600" y="3190013"/>
            <a:ext cx="4400000" cy="1180000"/>
          </a:xfrm>
          <a:prstGeom prst="roundRect">
            <a:avLst>
              <a:gd name="adj" fmla="val 11965"/>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7"/>
          <p:cNvSpPr/>
          <p:nvPr/>
        </p:nvSpPr>
        <p:spPr>
          <a:xfrm>
            <a:off x="609600" y="4490013"/>
            <a:ext cx="4400000" cy="1180000"/>
          </a:xfrm>
          <a:prstGeom prst="roundRect">
            <a:avLst>
              <a:gd name="adj" fmla="val 18421"/>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6" name="Google Shape;176;p17" descr="image.png"/>
          <p:cNvPicPr preferRelativeResize="0"/>
          <p:nvPr/>
        </p:nvPicPr>
        <p:blipFill rotWithShape="1">
          <a:blip r:embed="rId3">
            <a:alphaModFix/>
          </a:blip>
          <a:srcRect/>
          <a:stretch/>
        </p:blipFill>
        <p:spPr>
          <a:xfrm>
            <a:off x="5706367" y="1890013"/>
            <a:ext cx="5876032" cy="3887598"/>
          </a:xfrm>
          <a:prstGeom prst="rect">
            <a:avLst/>
          </a:prstGeom>
          <a:noFill/>
          <a:ln>
            <a:noFill/>
          </a:ln>
        </p:spPr>
      </p:pic>
      <p:pic>
        <p:nvPicPr>
          <p:cNvPr id="177" name="Google Shape;177;p17" descr="image.png"/>
          <p:cNvPicPr preferRelativeResize="0"/>
          <p:nvPr/>
        </p:nvPicPr>
        <p:blipFill rotWithShape="1">
          <a:blip r:embed="rId4">
            <a:alphaModFix/>
          </a:blip>
          <a:srcRect/>
          <a:stretch/>
        </p:blipFill>
        <p:spPr>
          <a:xfrm>
            <a:off x="5715892" y="1899538"/>
            <a:ext cx="5856982" cy="3868548"/>
          </a:xfrm>
          <a:prstGeom prst="rect">
            <a:avLst/>
          </a:prstGeom>
          <a:noFill/>
          <a:ln>
            <a:noFill/>
          </a:ln>
        </p:spPr>
      </p:pic>
      <p:sp>
        <p:nvSpPr>
          <p:cNvPr id="178" name="Google Shape;178;p17"/>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APPLICATION WORKSPACE • 2D MODE</a:t>
            </a:r>
            <a:endParaRPr/>
          </a:p>
        </p:txBody>
      </p:sp>
      <p:sp>
        <p:nvSpPr>
          <p:cNvPr id="179" name="Google Shape;179;p17"/>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2D Geospatial Map &amp; In-Browser Filtering</a:t>
            </a:r>
            <a:endParaRPr/>
          </a:p>
        </p:txBody>
      </p:sp>
      <p:sp>
        <p:nvSpPr>
          <p:cNvPr id="180" name="Google Shape;180;p17"/>
          <p:cNvSpPr txBox="1"/>
          <p:nvPr/>
        </p:nvSpPr>
        <p:spPr>
          <a:xfrm>
            <a:off x="800000" y="1990000"/>
            <a:ext cx="4050000" cy="22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00" b="1">
                <a:solidFill>
                  <a:srgbClr val="204060"/>
                </a:solidFill>
              </a:defRPr>
            </a:pPr>
            <a:r>
              <a:rPr lang="en-US" sz="1600" b="1" i="0" u="none" strike="noStrike" cap="none">
                <a:solidFill>
                  <a:srgbClr val="204060"/>
                </a:solidFill>
                <a:latin typeface="Plus Jakarta Sans"/>
                <a:ea typeface="Plus Jakarta Sans"/>
                <a:cs typeface="Plus Jakarta Sans"/>
                <a:sym typeface="Plus Jakarta Sans"/>
              </a:rPr>
              <a:t>Zero-Latency Local Filtering</a:t>
            </a:r>
            <a:endParaRPr/>
          </a:p>
        </p:txBody>
      </p:sp>
      <p:sp>
        <p:nvSpPr>
          <p:cNvPr id="181" name="Google Shape;181;p17"/>
          <p:cNvSpPr txBox="1"/>
          <p:nvPr/>
        </p:nvSpPr>
        <p:spPr>
          <a:xfrm>
            <a:off x="800000" y="2280000"/>
            <a:ext cx="4050000" cy="68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50" b="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Magnitude, depth, and chronological slicing processed directly in JavaScript without backend roundtrips.</a:t>
            </a:r>
            <a:endParaRPr/>
          </a:p>
        </p:txBody>
      </p:sp>
      <p:sp>
        <p:nvSpPr>
          <p:cNvPr id="182" name="Google Shape;182;p17"/>
          <p:cNvSpPr txBox="1"/>
          <p:nvPr/>
        </p:nvSpPr>
        <p:spPr>
          <a:xfrm>
            <a:off x="800000" y="3290000"/>
            <a:ext cx="4050000" cy="22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00" b="1">
                <a:solidFill>
                  <a:srgbClr val="822433"/>
                </a:solidFill>
              </a:defRPr>
            </a:pPr>
            <a:r>
              <a:rPr lang="en-US" sz="1600" b="1" i="0" u="none" strike="noStrike" cap="none">
                <a:solidFill>
                  <a:srgbClr val="822433"/>
                </a:solidFill>
                <a:latin typeface="Plus Jakarta Sans"/>
                <a:ea typeface="Plus Jakarta Sans"/>
                <a:cs typeface="Plus Jakarta Sans"/>
                <a:sym typeface="Plus Jakarta Sans"/>
              </a:rPr>
              <a:t>Dual Layer Visualisation</a:t>
            </a:r>
            <a:endParaRPr/>
          </a:p>
        </p:txBody>
      </p:sp>
      <p:sp>
        <p:nvSpPr>
          <p:cNvPr id="183" name="Google Shape;183;p17"/>
          <p:cNvSpPr txBox="1"/>
          <p:nvPr/>
        </p:nvSpPr>
        <p:spPr>
          <a:xfrm>
            <a:off x="800000" y="3580000"/>
            <a:ext cx="4050000" cy="68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50" b="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Switch seamlessly between proportional scatter markers and continuous kernel density heatmaps.</a:t>
            </a:r>
            <a:endParaRPr/>
          </a:p>
        </p:txBody>
      </p:sp>
      <p:sp>
        <p:nvSpPr>
          <p:cNvPr id="184" name="Google Shape;184;p17"/>
          <p:cNvSpPr txBox="1"/>
          <p:nvPr/>
        </p:nvSpPr>
        <p:spPr>
          <a:xfrm>
            <a:off x="800000" y="4590000"/>
            <a:ext cx="4050000" cy="98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00" b="1">
                <a:solidFill>
                  <a:srgbClr val="236B5E"/>
                </a:solidFill>
              </a:defRPr>
            </a:pPr>
            <a:r>
              <a:t>Spatio-Temporal Swarm Isolation</a:t>
            </a:r>
          </a:p>
          <a:p>
            <a:pPr>
              <a:defRPr sz="1350">
                <a:solidFill>
                  <a:srgbClr val="1C1819"/>
                </a:solidFill>
              </a:defRPr>
            </a:pPr>
            <a:r>
              <a:t>Immediate epicentral clustering identification across Pozzuoli and Solfatara crater zones.</a:t>
            </a:r>
          </a:p>
        </p:txBody>
      </p:sp>
      <p:pic>
        <p:nvPicPr>
          <p:cNvPr id="185" name="Picture 184" descr="sapienza_logo.png"/>
          <p:cNvPicPr>
            <a:picLocks noChangeAspect="1"/>
          </p:cNvPicPr>
          <p:nvPr/>
        </p:nvPicPr>
        <p:blipFill>
          <a:blip r:embed="rId5"/>
          <a:stretch>
            <a:fillRect/>
          </a:stretch>
        </p:blipFill>
        <p:spPr>
          <a:xfrm>
            <a:off x="9750000" y="400000"/>
            <a:ext cx="1900000" cy="570000"/>
          </a:xfrm>
          <a:prstGeom prst="rect">
            <a:avLst/>
          </a:prstGeom>
        </p:spPr>
      </p:pic>
      <p:sp>
        <p:nvSpPr>
          <p:cNvPr id="186"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188"/>
        <p:cNvGrpSpPr/>
        <p:nvPr/>
      </p:nvGrpSpPr>
      <p:grpSpPr>
        <a:xfrm>
          <a:off x="0" y="0"/>
          <a:ext cx="0" cy="0"/>
          <a:chOff x="0" y="0"/>
          <a:chExt cx="0" cy="0"/>
        </a:xfrm>
      </p:grpSpPr>
      <p:sp>
        <p:nvSpPr>
          <p:cNvPr id="189" name="Google Shape;189;p18"/>
          <p:cNvSpPr/>
          <p:nvPr/>
        </p:nvSpPr>
        <p:spPr>
          <a:xfrm>
            <a:off x="6780908" y="2009774"/>
            <a:ext cx="4791967" cy="1114425"/>
          </a:xfrm>
          <a:prstGeom prst="roundRect">
            <a:avLst>
              <a:gd name="adj" fmla="val 11965"/>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8"/>
          <p:cNvSpPr/>
          <p:nvPr/>
        </p:nvSpPr>
        <p:spPr>
          <a:xfrm>
            <a:off x="6780908" y="3276599"/>
            <a:ext cx="4791967" cy="1114425"/>
          </a:xfrm>
          <a:prstGeom prst="roundRect">
            <a:avLst>
              <a:gd name="adj" fmla="val 11965"/>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8"/>
          <p:cNvSpPr/>
          <p:nvPr/>
        </p:nvSpPr>
        <p:spPr>
          <a:xfrm>
            <a:off x="6780908" y="4543424"/>
            <a:ext cx="4791967" cy="1000000"/>
          </a:xfrm>
          <a:prstGeom prst="roundRect">
            <a:avLst>
              <a:gd name="adj" fmla="val 18421"/>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18" descr="image.png"/>
          <p:cNvPicPr preferRelativeResize="0"/>
          <p:nvPr/>
        </p:nvPicPr>
        <p:blipFill rotWithShape="1">
          <a:blip r:embed="rId3">
            <a:alphaModFix/>
          </a:blip>
          <a:srcRect/>
          <a:stretch/>
        </p:blipFill>
        <p:spPr>
          <a:xfrm>
            <a:off x="609600" y="1890013"/>
            <a:ext cx="5876032" cy="3887598"/>
          </a:xfrm>
          <a:prstGeom prst="rect">
            <a:avLst/>
          </a:prstGeom>
          <a:noFill/>
          <a:ln>
            <a:noFill/>
          </a:ln>
        </p:spPr>
      </p:pic>
      <p:pic>
        <p:nvPicPr>
          <p:cNvPr id="193" name="Google Shape;193;p18" descr="image.png"/>
          <p:cNvPicPr preferRelativeResize="0"/>
          <p:nvPr/>
        </p:nvPicPr>
        <p:blipFill rotWithShape="1">
          <a:blip r:embed="rId4">
            <a:alphaModFix/>
          </a:blip>
          <a:srcRect/>
          <a:stretch/>
        </p:blipFill>
        <p:spPr>
          <a:xfrm>
            <a:off x="619125" y="1899538"/>
            <a:ext cx="5856982" cy="3868548"/>
          </a:xfrm>
          <a:prstGeom prst="rect">
            <a:avLst/>
          </a:prstGeom>
          <a:noFill/>
          <a:ln>
            <a:noFill/>
          </a:ln>
        </p:spPr>
      </p:pic>
      <p:sp>
        <p:nvSpPr>
          <p:cNvPr id="194" name="Google Shape;194;p18"/>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APPLICATION WORKSPACE • 3D MODE</a:t>
            </a:r>
            <a:endParaRPr/>
          </a:p>
        </p:txBody>
      </p:sp>
      <p:sp>
        <p:nvSpPr>
          <p:cNvPr id="195" name="Google Shape;195;p18"/>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dirty="0">
                <a:solidFill>
                  <a:srgbClr val="822433"/>
                </a:solidFill>
                <a:latin typeface="Cinzel"/>
                <a:ea typeface="Cinzel"/>
                <a:cs typeface="Cinzel"/>
                <a:sym typeface="Cinzel"/>
              </a:rPr>
              <a:t>3D Static </a:t>
            </a:r>
            <a:r>
              <a:rPr lang="en-US" sz="2600" b="1" i="0" u="none" strike="noStrike" cap="none" dirty="0" err="1">
                <a:solidFill>
                  <a:srgbClr val="822433"/>
                </a:solidFill>
                <a:latin typeface="Cinzel"/>
                <a:ea typeface="Cinzel"/>
                <a:cs typeface="Cinzel"/>
                <a:sym typeface="Cinzel"/>
              </a:rPr>
              <a:t>Hypocentral</a:t>
            </a:r>
            <a:r>
              <a:rPr lang="en-US" sz="2600" b="1" i="0" u="none" strike="noStrike" cap="none" dirty="0">
                <a:solidFill>
                  <a:srgbClr val="822433"/>
                </a:solidFill>
                <a:latin typeface="Cinzel"/>
                <a:ea typeface="Cinzel"/>
                <a:cs typeface="Cinzel"/>
                <a:sym typeface="Cinzel"/>
              </a:rPr>
              <a:t> Point Cloud</a:t>
            </a:r>
            <a:endParaRPr dirty="0"/>
          </a:p>
        </p:txBody>
      </p:sp>
      <p:sp>
        <p:nvSpPr>
          <p:cNvPr id="196" name="Google Shape;196;p18"/>
          <p:cNvSpPr txBox="1"/>
          <p:nvPr/>
        </p:nvSpPr>
        <p:spPr>
          <a:xfrm>
            <a:off x="6999983" y="2228849"/>
            <a:ext cx="518249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00" b="1">
                <a:solidFill>
                  <a:srgbClr val="822433"/>
                </a:solidFill>
              </a:defRPr>
            </a:pPr>
            <a:r>
              <a:rPr lang="en-US" sz="1600" b="1" i="0" u="none" strike="noStrike" cap="none">
                <a:solidFill>
                  <a:srgbClr val="822433"/>
                </a:solidFill>
                <a:latin typeface="Plus Jakarta Sans"/>
                <a:ea typeface="Plus Jakarta Sans"/>
                <a:cs typeface="Plus Jakarta Sans"/>
                <a:sym typeface="Plus Jakarta Sans"/>
              </a:rPr>
              <a:t>True Depth Scaling</a:t>
            </a:r>
            <a:endParaRPr/>
          </a:p>
        </p:txBody>
      </p:sp>
      <p:sp>
        <p:nvSpPr>
          <p:cNvPr id="197" name="Google Shape;197;p18"/>
          <p:cNvSpPr txBox="1"/>
          <p:nvPr/>
        </p:nvSpPr>
        <p:spPr>
          <a:xfrm>
            <a:off x="6999983" y="2505074"/>
            <a:ext cx="44490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50" b="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Hypocentres positioned in physical kilometres beneath an OpenStreetMap surface tile mesh.</a:t>
            </a:r>
            <a:endParaRPr/>
          </a:p>
        </p:txBody>
      </p:sp>
      <p:sp>
        <p:nvSpPr>
          <p:cNvPr id="198" name="Google Shape;198;p18"/>
          <p:cNvSpPr txBox="1"/>
          <p:nvPr/>
        </p:nvSpPr>
        <p:spPr>
          <a:xfrm>
            <a:off x="6999983" y="3495674"/>
            <a:ext cx="518249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00" b="1">
                <a:solidFill>
                  <a:srgbClr val="204060"/>
                </a:solidFill>
              </a:defRPr>
            </a:pPr>
            <a:r>
              <a:rPr lang="en-US" sz="1600" b="1" i="0" u="none" strike="noStrike" cap="none">
                <a:solidFill>
                  <a:srgbClr val="204060"/>
                </a:solidFill>
                <a:latin typeface="Plus Jakarta Sans"/>
                <a:ea typeface="Plus Jakarta Sans"/>
                <a:cs typeface="Plus Jakarta Sans"/>
                <a:sym typeface="Plus Jakarta Sans"/>
              </a:rPr>
              <a:t>Aspect Ratio Correction</a:t>
            </a:r>
            <a:endParaRPr/>
          </a:p>
        </p:txBody>
      </p:sp>
      <p:sp>
        <p:nvSpPr>
          <p:cNvPr id="199" name="Google Shape;199;p18"/>
          <p:cNvSpPr txBox="1"/>
          <p:nvPr/>
        </p:nvSpPr>
        <p:spPr>
          <a:xfrm>
            <a:off x="6999983" y="3771899"/>
            <a:ext cx="44490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50" b="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Compensates for meridional convergence using equatorial factor K = 111.32 km/° and mean latitude.</a:t>
            </a:r>
            <a:endParaRPr/>
          </a:p>
        </p:txBody>
      </p:sp>
      <p:sp>
        <p:nvSpPr>
          <p:cNvPr id="200" name="Google Shape;200;p18"/>
          <p:cNvSpPr txBox="1"/>
          <p:nvPr/>
        </p:nvSpPr>
        <p:spPr>
          <a:xfrm>
            <a:off x="6961883" y="4724399"/>
            <a:ext cx="4525267" cy="8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00" b="1">
                <a:solidFill>
                  <a:srgbClr val="236B5E"/>
                </a:solidFill>
              </a:defRPr>
            </a:pPr>
            <a:r>
              <a:t>Stateful Camera Retention</a:t>
            </a:r>
          </a:p>
          <a:p>
            <a:pPr>
              <a:defRPr sz="1350">
                <a:solidFill>
                  <a:srgbClr val="1C1819"/>
                </a:solidFill>
              </a:defRPr>
            </a:pPr>
            <a:r>
              <a:t>Camera viewpoint preserved across filter updates via Plotly uirevision='constant'.</a:t>
            </a:r>
          </a:p>
        </p:txBody>
      </p:sp>
      <p:pic>
        <p:nvPicPr>
          <p:cNvPr id="201" name="Picture 200" descr="sapienza_logo.png"/>
          <p:cNvPicPr>
            <a:picLocks noChangeAspect="1"/>
          </p:cNvPicPr>
          <p:nvPr/>
        </p:nvPicPr>
        <p:blipFill>
          <a:blip r:embed="rId5"/>
          <a:stretch>
            <a:fillRect/>
          </a:stretch>
        </p:blipFill>
        <p:spPr>
          <a:xfrm>
            <a:off x="9750000" y="400000"/>
            <a:ext cx="1900000" cy="570000"/>
          </a:xfrm>
          <a:prstGeom prst="rect">
            <a:avLst/>
          </a:prstGeom>
        </p:spPr>
      </p:pic>
      <p:sp>
        <p:nvSpPr>
          <p:cNvPr id="202"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204"/>
        <p:cNvGrpSpPr/>
        <p:nvPr/>
      </p:nvGrpSpPr>
      <p:grpSpPr>
        <a:xfrm>
          <a:off x="0" y="0"/>
          <a:ext cx="0" cy="0"/>
          <a:chOff x="0" y="0"/>
          <a:chExt cx="0" cy="0"/>
        </a:xfrm>
      </p:grpSpPr>
      <p:sp>
        <p:nvSpPr>
          <p:cNvPr id="205" name="Google Shape;205;p19"/>
          <p:cNvSpPr/>
          <p:nvPr/>
        </p:nvSpPr>
        <p:spPr>
          <a:xfrm>
            <a:off x="609600" y="4150000"/>
            <a:ext cx="10972800" cy="1250000"/>
          </a:xfrm>
          <a:prstGeom prst="roundRect">
            <a:avLst>
              <a:gd name="adj" fmla="val 14893"/>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06;p19"/>
          <p:cNvSpPr/>
          <p:nvPr/>
        </p:nvSpPr>
        <p:spPr>
          <a:xfrm>
            <a:off x="609600" y="2150000"/>
            <a:ext cx="3530649" cy="1750000"/>
          </a:xfrm>
          <a:prstGeom prst="roundRect">
            <a:avLst>
              <a:gd name="adj" fmla="val 10687"/>
            </a:avLst>
          </a:prstGeom>
          <a:solidFill>
            <a:srgbClr val="FDF8F2"/>
          </a:solidFill>
          <a:ln w="12700" cap="flat" cmpd="sng">
            <a:solidFill>
              <a:srgbClr val="EBD7C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19"/>
          <p:cNvSpPr/>
          <p:nvPr/>
        </p:nvSpPr>
        <p:spPr>
          <a:xfrm>
            <a:off x="4330749" y="2150000"/>
            <a:ext cx="3530649" cy="1750000"/>
          </a:xfrm>
          <a:prstGeom prst="roundRect">
            <a:avLst>
              <a:gd name="adj" fmla="val 10687"/>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19"/>
          <p:cNvSpPr/>
          <p:nvPr/>
        </p:nvSpPr>
        <p:spPr>
          <a:xfrm>
            <a:off x="8051899" y="2150000"/>
            <a:ext cx="3530649" cy="1750000"/>
          </a:xfrm>
          <a:prstGeom prst="roundRect">
            <a:avLst>
              <a:gd name="adj" fmla="val 10687"/>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9" name="Google Shape;209;p19" descr="image.png"/>
          <p:cNvPicPr preferRelativeResize="0"/>
          <p:nvPr/>
        </p:nvPicPr>
        <p:blipFill rotWithShape="1">
          <a:blip r:embed="rId3">
            <a:alphaModFix/>
          </a:blip>
          <a:srcRect/>
          <a:stretch/>
        </p:blipFill>
        <p:spPr>
          <a:xfrm>
            <a:off x="904875" y="4400000"/>
            <a:ext cx="457200" cy="457200"/>
          </a:xfrm>
          <a:prstGeom prst="rect">
            <a:avLst/>
          </a:prstGeom>
          <a:noFill/>
          <a:ln>
            <a:noFill/>
          </a:ln>
        </p:spPr>
      </p:pic>
      <p:pic>
        <p:nvPicPr>
          <p:cNvPr id="210" name="Google Shape;210;p19" descr="image.png"/>
          <p:cNvPicPr preferRelativeResize="0"/>
          <p:nvPr/>
        </p:nvPicPr>
        <p:blipFill rotWithShape="1">
          <a:blip r:embed="rId4">
            <a:alphaModFix/>
          </a:blip>
          <a:srcRect/>
          <a:stretch/>
        </p:blipFill>
        <p:spPr>
          <a:xfrm>
            <a:off x="1028700" y="4400000"/>
            <a:ext cx="209550" cy="209550"/>
          </a:xfrm>
          <a:prstGeom prst="rect">
            <a:avLst/>
          </a:prstGeom>
          <a:noFill/>
          <a:ln>
            <a:noFill/>
          </a:ln>
        </p:spPr>
      </p:pic>
      <p:pic>
        <p:nvPicPr>
          <p:cNvPr id="211" name="Google Shape;211;p19" descr="image.png"/>
          <p:cNvPicPr preferRelativeResize="0"/>
          <p:nvPr/>
        </p:nvPicPr>
        <p:blipFill rotWithShape="1">
          <a:blip r:embed="rId5">
            <a:alphaModFix/>
          </a:blip>
          <a:srcRect/>
          <a:stretch/>
        </p:blipFill>
        <p:spPr>
          <a:xfrm>
            <a:off x="828675" y="2370000"/>
            <a:ext cx="171450" cy="171450"/>
          </a:xfrm>
          <a:prstGeom prst="rect">
            <a:avLst/>
          </a:prstGeom>
          <a:noFill/>
          <a:ln>
            <a:noFill/>
          </a:ln>
        </p:spPr>
      </p:pic>
      <p:pic>
        <p:nvPicPr>
          <p:cNvPr id="212" name="Google Shape;212;p19" descr="image.png"/>
          <p:cNvPicPr preferRelativeResize="0"/>
          <p:nvPr/>
        </p:nvPicPr>
        <p:blipFill rotWithShape="1">
          <a:blip r:embed="rId6">
            <a:alphaModFix/>
          </a:blip>
          <a:srcRect/>
          <a:stretch/>
        </p:blipFill>
        <p:spPr>
          <a:xfrm>
            <a:off x="4549824" y="2370000"/>
            <a:ext cx="171450" cy="171450"/>
          </a:xfrm>
          <a:prstGeom prst="rect">
            <a:avLst/>
          </a:prstGeom>
          <a:noFill/>
          <a:ln>
            <a:noFill/>
          </a:ln>
        </p:spPr>
      </p:pic>
      <p:pic>
        <p:nvPicPr>
          <p:cNvPr id="213" name="Google Shape;213;p19" descr="image.png"/>
          <p:cNvPicPr preferRelativeResize="0"/>
          <p:nvPr/>
        </p:nvPicPr>
        <p:blipFill rotWithShape="1">
          <a:blip r:embed="rId7">
            <a:alphaModFix/>
          </a:blip>
          <a:srcRect/>
          <a:stretch/>
        </p:blipFill>
        <p:spPr>
          <a:xfrm>
            <a:off x="8270974" y="2370000"/>
            <a:ext cx="190500" cy="171450"/>
          </a:xfrm>
          <a:prstGeom prst="rect">
            <a:avLst/>
          </a:prstGeom>
          <a:noFill/>
          <a:ln>
            <a:noFill/>
          </a:ln>
        </p:spPr>
      </p:pic>
      <p:sp>
        <p:nvSpPr>
          <p:cNvPr id="214" name="Google Shape;214;p19"/>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dirty="0">
                <a:solidFill>
                  <a:srgbClr val="204060"/>
                </a:solidFill>
                <a:latin typeface="Plus Jakarta Sans"/>
                <a:ea typeface="Plus Jakarta Sans"/>
                <a:cs typeface="Plus Jakarta Sans"/>
                <a:sym typeface="Plus Jakarta Sans"/>
              </a:rPr>
              <a:t>APPLICATION WORKSPACE • 4D MODE</a:t>
            </a:r>
            <a:endParaRPr dirty="0"/>
          </a:p>
        </p:txBody>
      </p:sp>
      <p:sp>
        <p:nvSpPr>
          <p:cNvPr id="215" name="Google Shape;215;p19"/>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4D Temporal Animation &amp; Sequence Slicing</a:t>
            </a:r>
            <a:endParaRPr/>
          </a:p>
        </p:txBody>
      </p:sp>
      <p:sp>
        <p:nvSpPr>
          <p:cNvPr id="216" name="Google Shape;216;p19"/>
          <p:cNvSpPr txBox="1"/>
          <p:nvPr/>
        </p:nvSpPr>
        <p:spPr>
          <a:xfrm>
            <a:off x="828675" y="2750000"/>
            <a:ext cx="3187749" cy="950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defRPr b="0" sz="135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Shows seismic buildup from initial event to current timestamp, tracking cumulative stress release.</a:t>
            </a:r>
            <a:endParaRPr/>
          </a:p>
        </p:txBody>
      </p:sp>
      <p:sp>
        <p:nvSpPr>
          <p:cNvPr id="217" name="Google Shape;217;p19"/>
          <p:cNvSpPr txBox="1"/>
          <p:nvPr/>
        </p:nvSpPr>
        <p:spPr>
          <a:xfrm>
            <a:off x="4549824" y="2750000"/>
            <a:ext cx="3187749" cy="950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defRPr b="0" sz="135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Moves a window of width W across time, isolating active hypocentral migration fronts.</a:t>
            </a:r>
            <a:endParaRPr/>
          </a:p>
        </p:txBody>
      </p:sp>
      <p:sp>
        <p:nvSpPr>
          <p:cNvPr id="218" name="Google Shape;218;p19"/>
          <p:cNvSpPr txBox="1"/>
          <p:nvPr/>
        </p:nvSpPr>
        <p:spPr>
          <a:xfrm>
            <a:off x="8270974" y="2750000"/>
            <a:ext cx="3187749" cy="950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defRPr b="0" sz="135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Partitions the sequence into non-overlapping chronological chunks for comparative analysis.</a:t>
            </a:r>
            <a:endParaRPr/>
          </a:p>
        </p:txBody>
      </p:sp>
      <p:sp>
        <p:nvSpPr>
          <p:cNvPr id="219" name="Google Shape;219;p19"/>
          <p:cNvSpPr txBox="1"/>
          <p:nvPr/>
        </p:nvSpPr>
        <p:spPr>
          <a:xfrm>
            <a:off x="1552575" y="4320000"/>
            <a:ext cx="1030128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650">
                <a:solidFill>
                  <a:srgbClr val="822433"/>
                </a:solidFill>
              </a:defRPr>
            </a:pPr>
            <a:r>
              <a:rPr lang="en-US" sz="1650" b="1" i="0" u="none" strike="noStrike" cap="none">
                <a:solidFill>
                  <a:srgbClr val="822433"/>
                </a:solidFill>
                <a:latin typeface="Plus Jakarta Sans"/>
                <a:ea typeface="Plus Jakarta Sans"/>
                <a:cs typeface="Plus Jakarta Sans"/>
                <a:sym typeface="Plus Jakarta Sans"/>
              </a:rPr>
              <a:t>Interactive Timeline Histogram &amp; Energy Meter</a:t>
            </a:r>
            <a:endParaRPr/>
          </a:p>
        </p:txBody>
      </p:sp>
      <p:sp>
        <p:nvSpPr>
          <p:cNvPr id="220" name="Google Shape;220;p19"/>
          <p:cNvSpPr txBox="1"/>
          <p:nvPr/>
        </p:nvSpPr>
        <p:spPr>
          <a:xfrm>
            <a:off x="1552575" y="4700000"/>
            <a:ext cx="9810750" cy="5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sz="135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Real-time playback scrubbing coupled with simultaneous cumulative seismic energy tracking (kJ) and peak magnitude readout.</a:t>
            </a:r>
            <a:endParaRPr/>
          </a:p>
        </p:txBody>
      </p:sp>
      <p:sp>
        <p:nvSpPr>
          <p:cNvPr id="221" name="Google Shape;221;p19"/>
          <p:cNvSpPr txBox="1"/>
          <p:nvPr/>
        </p:nvSpPr>
        <p:spPr>
          <a:xfrm>
            <a:off x="1095375" y="2350000"/>
            <a:ext cx="2225278"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650">
                <a:solidFill>
                  <a:srgbClr val="B85828"/>
                </a:solidFill>
              </a:defRPr>
            </a:pPr>
            <a:r>
              <a:rPr lang="en-US" sz="1650" b="1" i="0" u="none" strike="noStrike" cap="none">
                <a:solidFill>
                  <a:srgbClr val="B85828"/>
                </a:solidFill>
                <a:latin typeface="Plus Jakarta Sans"/>
                <a:ea typeface="Plus Jakarta Sans"/>
                <a:cs typeface="Plus Jakarta Sans"/>
                <a:sym typeface="Plus Jakarta Sans"/>
              </a:rPr>
              <a:t>Accumulation Mode</a:t>
            </a:r>
            <a:endParaRPr/>
          </a:p>
        </p:txBody>
      </p:sp>
      <p:sp>
        <p:nvSpPr>
          <p:cNvPr id="222" name="Google Shape;222;p19"/>
          <p:cNvSpPr txBox="1"/>
          <p:nvPr/>
        </p:nvSpPr>
        <p:spPr>
          <a:xfrm>
            <a:off x="4816524" y="2350000"/>
            <a:ext cx="173771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650">
                <a:solidFill>
                  <a:srgbClr val="204060"/>
                </a:solidFill>
              </a:defRPr>
            </a:pPr>
            <a:r>
              <a:rPr lang="en-US" sz="1650" b="1" i="0" u="none" strike="noStrike" cap="none">
                <a:solidFill>
                  <a:srgbClr val="204060"/>
                </a:solidFill>
                <a:latin typeface="Plus Jakarta Sans"/>
                <a:ea typeface="Plus Jakarta Sans"/>
                <a:cs typeface="Plus Jakarta Sans"/>
                <a:sym typeface="Plus Jakarta Sans"/>
              </a:rPr>
              <a:t>Sliding Window</a:t>
            </a:r>
            <a:endParaRPr/>
          </a:p>
        </p:txBody>
      </p:sp>
      <p:sp>
        <p:nvSpPr>
          <p:cNvPr id="223" name="Google Shape;223;p19"/>
          <p:cNvSpPr txBox="1"/>
          <p:nvPr/>
        </p:nvSpPr>
        <p:spPr>
          <a:xfrm>
            <a:off x="8556724" y="2350000"/>
            <a:ext cx="226278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650">
                <a:solidFill>
                  <a:srgbClr val="236B5E"/>
                </a:solidFill>
              </a:defRPr>
            </a:pPr>
            <a:r>
              <a:rPr lang="en-US" sz="1650" b="1" i="0" u="none" strike="noStrike" cap="none">
                <a:solidFill>
                  <a:srgbClr val="236B5E"/>
                </a:solidFill>
                <a:latin typeface="Plus Jakarta Sans"/>
                <a:ea typeface="Plus Jakarta Sans"/>
                <a:cs typeface="Plus Jakarta Sans"/>
                <a:sym typeface="Plus Jakarta Sans"/>
              </a:rPr>
              <a:t>Discrete Block Mode</a:t>
            </a:r>
            <a:endParaRPr/>
          </a:p>
        </p:txBody>
      </p:sp>
      <p:pic>
        <p:nvPicPr>
          <p:cNvPr id="224" name="Picture 223" descr="sapienza_logo.png"/>
          <p:cNvPicPr>
            <a:picLocks noChangeAspect="1"/>
          </p:cNvPicPr>
          <p:nvPr/>
        </p:nvPicPr>
        <p:blipFill>
          <a:blip r:embed="rId8"/>
          <a:stretch>
            <a:fillRect/>
          </a:stretch>
        </p:blipFill>
        <p:spPr>
          <a:xfrm>
            <a:off x="9750000" y="400000"/>
            <a:ext cx="1900000" cy="570000"/>
          </a:xfrm>
          <a:prstGeom prst="rect">
            <a:avLst/>
          </a:prstGeom>
        </p:spPr>
      </p:pic>
      <p:sp>
        <p:nvSpPr>
          <p:cNvPr id="225"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227"/>
        <p:cNvGrpSpPr/>
        <p:nvPr/>
      </p:nvGrpSpPr>
      <p:grpSpPr>
        <a:xfrm>
          <a:off x="0" y="0"/>
          <a:ext cx="0" cy="0"/>
          <a:chOff x="0" y="0"/>
          <a:chExt cx="0" cy="0"/>
        </a:xfrm>
      </p:grpSpPr>
      <p:sp>
        <p:nvSpPr>
          <p:cNvPr id="228" name="Google Shape;228;p20"/>
          <p:cNvSpPr/>
          <p:nvPr/>
        </p:nvSpPr>
        <p:spPr>
          <a:xfrm>
            <a:off x="609600" y="2271712"/>
            <a:ext cx="4791967" cy="1066800"/>
          </a:xfrm>
          <a:prstGeom prst="roundRect">
            <a:avLst>
              <a:gd name="adj" fmla="val 12500"/>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0"/>
          <p:cNvSpPr/>
          <p:nvPr/>
        </p:nvSpPr>
        <p:spPr>
          <a:xfrm>
            <a:off x="609600" y="3490912"/>
            <a:ext cx="4791967" cy="1066800"/>
          </a:xfrm>
          <a:prstGeom prst="roundRect">
            <a:avLst>
              <a:gd name="adj" fmla="val 12500"/>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0"/>
          <p:cNvSpPr/>
          <p:nvPr/>
        </p:nvSpPr>
        <p:spPr>
          <a:xfrm>
            <a:off x="609600" y="4710112"/>
            <a:ext cx="4791967" cy="685800"/>
          </a:xfrm>
          <a:prstGeom prst="roundRect">
            <a:avLst>
              <a:gd name="adj" fmla="val 19444"/>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1" name="Google Shape;231;p20" descr="image.png"/>
          <p:cNvPicPr preferRelativeResize="0"/>
          <p:nvPr/>
        </p:nvPicPr>
        <p:blipFill rotWithShape="1">
          <a:blip r:embed="rId3">
            <a:alphaModFix/>
          </a:blip>
          <a:srcRect/>
          <a:stretch/>
        </p:blipFill>
        <p:spPr>
          <a:xfrm>
            <a:off x="5706367" y="1890013"/>
            <a:ext cx="5876032" cy="3887598"/>
          </a:xfrm>
          <a:prstGeom prst="rect">
            <a:avLst/>
          </a:prstGeom>
          <a:noFill/>
          <a:ln>
            <a:noFill/>
          </a:ln>
        </p:spPr>
      </p:pic>
      <p:pic>
        <p:nvPicPr>
          <p:cNvPr id="232" name="Google Shape;232;p20" descr="image.png"/>
          <p:cNvPicPr preferRelativeResize="0"/>
          <p:nvPr/>
        </p:nvPicPr>
        <p:blipFill rotWithShape="1">
          <a:blip r:embed="rId4">
            <a:alphaModFix/>
          </a:blip>
          <a:srcRect/>
          <a:stretch/>
        </p:blipFill>
        <p:spPr>
          <a:xfrm>
            <a:off x="5715892" y="1899538"/>
            <a:ext cx="5856982" cy="3868548"/>
          </a:xfrm>
          <a:prstGeom prst="rect">
            <a:avLst/>
          </a:prstGeom>
          <a:noFill/>
          <a:ln>
            <a:noFill/>
          </a:ln>
        </p:spPr>
      </p:pic>
      <p:sp>
        <p:nvSpPr>
          <p:cNvPr id="233" name="Google Shape;233;p20"/>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MULTI-LAYER GEOPHYSICS</a:t>
            </a:r>
            <a:endParaRPr/>
          </a:p>
        </p:txBody>
      </p:sp>
      <p:sp>
        <p:nvSpPr>
          <p:cNvPr id="234" name="Google Shape;234;p20"/>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Tomography, Ground Uplift &amp; Stations</a:t>
            </a:r>
            <a:endParaRPr/>
          </a:p>
        </p:txBody>
      </p:sp>
      <p:sp>
        <p:nvSpPr>
          <p:cNvPr id="235" name="Google Shape;235;p20"/>
          <p:cNvSpPr txBox="1"/>
          <p:nvPr/>
        </p:nvSpPr>
        <p:spPr>
          <a:xfrm>
            <a:off x="809625" y="2471737"/>
            <a:ext cx="576439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275" b="1" i="0" u="none" strike="noStrike" cap="none">
                <a:solidFill>
                  <a:srgbClr val="822433"/>
                </a:solidFill>
                <a:latin typeface="Plus Jakarta Sans"/>
                <a:ea typeface="Plus Jakarta Sans"/>
                <a:cs typeface="Plus Jakarta Sans"/>
                <a:sym typeface="Plus Jakarta Sans"/>
              </a:rPr>
              <a:t>Vp/Vs Seismic Tomography</a:t>
            </a:r>
            <a:endParaRPr/>
          </a:p>
        </p:txBody>
      </p:sp>
      <p:sp>
        <p:nvSpPr>
          <p:cNvPr id="236" name="Google Shape;236;p20"/>
          <p:cNvSpPr txBox="1"/>
          <p:nvPr/>
        </p:nvSpPr>
        <p:spPr>
          <a:xfrm>
            <a:off x="809625" y="2738437"/>
            <a:ext cx="44871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3D IDW volumetric grid (30×22×16) with Gaussian decay blending toward crustal baseline (1.75).</a:t>
            </a:r>
            <a:endParaRPr/>
          </a:p>
        </p:txBody>
      </p:sp>
      <p:sp>
        <p:nvSpPr>
          <p:cNvPr id="237" name="Google Shape;237;p20"/>
          <p:cNvSpPr txBox="1"/>
          <p:nvPr/>
        </p:nvSpPr>
        <p:spPr>
          <a:xfrm>
            <a:off x="809625" y="3690937"/>
            <a:ext cx="576439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275" b="1" i="0" u="none" strike="noStrike" cap="none">
                <a:solidFill>
                  <a:srgbClr val="822433"/>
                </a:solidFill>
                <a:latin typeface="Plus Jakarta Sans"/>
                <a:ea typeface="Plus Jakarta Sans"/>
                <a:cs typeface="Plus Jakarta Sans"/>
                <a:sym typeface="Plus Jakarta Sans"/>
              </a:rPr>
              <a:t>GNSS Ground Uplift Columns</a:t>
            </a:r>
            <a:endParaRPr/>
          </a:p>
        </p:txBody>
      </p:sp>
      <p:sp>
        <p:nvSpPr>
          <p:cNvPr id="238" name="Google Shape;238;p20"/>
          <p:cNvSpPr txBox="1"/>
          <p:nvPr/>
        </p:nvSpPr>
        <p:spPr>
          <a:xfrm>
            <a:off x="809625" y="3957637"/>
            <a:ext cx="44871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Vertical deformation columns from GPS stations correlated with underlying swarm clusters.</a:t>
            </a:r>
            <a:endParaRPr/>
          </a:p>
        </p:txBody>
      </p:sp>
      <p:sp>
        <p:nvSpPr>
          <p:cNvPr id="239" name="Google Shape;239;p20"/>
          <p:cNvSpPr txBox="1"/>
          <p:nvPr/>
        </p:nvSpPr>
        <p:spPr>
          <a:xfrm>
            <a:off x="771525" y="4872037"/>
            <a:ext cx="4563367"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Direct spatial visual alignment between deep fluid pockets and surface bradyseism.</a:t>
            </a:r>
            <a:endParaRPr/>
          </a:p>
        </p:txBody>
      </p:sp>
      <p:pic>
        <p:nvPicPr>
          <p:cNvPr id="240" name="Picture 239" descr="sapienza_logo.png"/>
          <p:cNvPicPr>
            <a:picLocks noChangeAspect="1"/>
          </p:cNvPicPr>
          <p:nvPr/>
        </p:nvPicPr>
        <p:blipFill>
          <a:blip r:embed="rId5"/>
          <a:stretch>
            <a:fillRect/>
          </a:stretch>
        </p:blipFill>
        <p:spPr>
          <a:xfrm>
            <a:off x="9750000" y="400000"/>
            <a:ext cx="1900000" cy="570000"/>
          </a:xfrm>
          <a:prstGeom prst="rect">
            <a:avLst/>
          </a:prstGeom>
        </p:spPr>
      </p:pic>
      <p:sp>
        <p:nvSpPr>
          <p:cNvPr id="241"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243"/>
        <p:cNvGrpSpPr/>
        <p:nvPr/>
      </p:nvGrpSpPr>
      <p:grpSpPr>
        <a:xfrm>
          <a:off x="0" y="0"/>
          <a:ext cx="0" cy="0"/>
          <a:chOff x="0" y="0"/>
          <a:chExt cx="0" cy="0"/>
        </a:xfrm>
      </p:grpSpPr>
      <p:sp>
        <p:nvSpPr>
          <p:cNvPr id="244" name="Google Shape;244;p21"/>
          <p:cNvSpPr/>
          <p:nvPr/>
        </p:nvSpPr>
        <p:spPr>
          <a:xfrm>
            <a:off x="609600" y="4280000"/>
            <a:ext cx="10972800" cy="1100000"/>
          </a:xfrm>
          <a:prstGeom prst="roundRect">
            <a:avLst>
              <a:gd name="adj" fmla="val 16950"/>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1"/>
          <p:cNvSpPr/>
          <p:nvPr/>
        </p:nvSpPr>
        <p:spPr>
          <a:xfrm>
            <a:off x="609600" y="2050000"/>
            <a:ext cx="3530649" cy="2050000"/>
          </a:xfrm>
          <a:prstGeom prst="roundRect">
            <a:avLst>
              <a:gd name="adj" fmla="val 7919"/>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6" name="Google Shape;246;p21"/>
          <p:cNvSpPr/>
          <p:nvPr/>
        </p:nvSpPr>
        <p:spPr>
          <a:xfrm>
            <a:off x="4330749" y="2050000"/>
            <a:ext cx="3530649" cy="2050000"/>
          </a:xfrm>
          <a:prstGeom prst="roundRect">
            <a:avLst>
              <a:gd name="adj" fmla="val 7919"/>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1"/>
          <p:cNvSpPr/>
          <p:nvPr/>
        </p:nvSpPr>
        <p:spPr>
          <a:xfrm>
            <a:off x="8051899" y="2050000"/>
            <a:ext cx="3530649" cy="2050000"/>
          </a:xfrm>
          <a:prstGeom prst="roundRect">
            <a:avLst>
              <a:gd name="adj" fmla="val 7919"/>
            </a:avLst>
          </a:prstGeom>
          <a:solidFill>
            <a:srgbClr val="FDF8F2"/>
          </a:solidFill>
          <a:ln w="12700" cap="flat" cmpd="sng">
            <a:solidFill>
              <a:srgbClr val="EBD7C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8" name="Google Shape;248;p21" descr="image.png"/>
          <p:cNvPicPr preferRelativeResize="0"/>
          <p:nvPr/>
        </p:nvPicPr>
        <p:blipFill rotWithShape="1">
          <a:blip r:embed="rId3">
            <a:alphaModFix/>
          </a:blip>
          <a:srcRect/>
          <a:stretch/>
        </p:blipFill>
        <p:spPr>
          <a:xfrm>
            <a:off x="828675" y="2220000"/>
            <a:ext cx="171450" cy="171450"/>
          </a:xfrm>
          <a:prstGeom prst="rect">
            <a:avLst/>
          </a:prstGeom>
          <a:noFill/>
          <a:ln>
            <a:noFill/>
          </a:ln>
        </p:spPr>
      </p:pic>
      <p:pic>
        <p:nvPicPr>
          <p:cNvPr id="249" name="Google Shape;249;p21" descr="image.png"/>
          <p:cNvPicPr preferRelativeResize="0"/>
          <p:nvPr/>
        </p:nvPicPr>
        <p:blipFill rotWithShape="1">
          <a:blip r:embed="rId4">
            <a:alphaModFix/>
          </a:blip>
          <a:srcRect/>
          <a:stretch/>
        </p:blipFill>
        <p:spPr>
          <a:xfrm>
            <a:off x="4549824" y="2220000"/>
            <a:ext cx="171450" cy="171450"/>
          </a:xfrm>
          <a:prstGeom prst="rect">
            <a:avLst/>
          </a:prstGeom>
          <a:noFill/>
          <a:ln>
            <a:noFill/>
          </a:ln>
        </p:spPr>
      </p:pic>
      <p:pic>
        <p:nvPicPr>
          <p:cNvPr id="250" name="Google Shape;250;p21" descr="image.png"/>
          <p:cNvPicPr preferRelativeResize="0"/>
          <p:nvPr/>
        </p:nvPicPr>
        <p:blipFill rotWithShape="1">
          <a:blip r:embed="rId5">
            <a:alphaModFix/>
          </a:blip>
          <a:srcRect/>
          <a:stretch/>
        </p:blipFill>
        <p:spPr>
          <a:xfrm>
            <a:off x="8270974" y="2220000"/>
            <a:ext cx="152400" cy="171450"/>
          </a:xfrm>
          <a:prstGeom prst="rect">
            <a:avLst/>
          </a:prstGeom>
          <a:noFill/>
          <a:ln>
            <a:noFill/>
          </a:ln>
        </p:spPr>
      </p:pic>
      <p:sp>
        <p:nvSpPr>
          <p:cNvPr id="251" name="Google Shape;251;p21"/>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MACHINE LEARNING ENGINE</a:t>
            </a:r>
            <a:endParaRPr/>
          </a:p>
        </p:txBody>
      </p:sp>
      <p:sp>
        <p:nvSpPr>
          <p:cNvPr id="252" name="Google Shape;252;p21"/>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Clustering Paradigms: Why &amp; How We Adapted Them</a:t>
            </a:r>
            <a:endParaRPr/>
          </a:p>
        </p:txBody>
      </p:sp>
      <p:sp>
        <p:nvSpPr>
          <p:cNvPr id="253" name="Google Shape;253;p21"/>
          <p:cNvSpPr txBox="1"/>
          <p:nvPr/>
        </p:nvSpPr>
        <p:spPr>
          <a:xfrm>
            <a:off x="866775" y="4420000"/>
            <a:ext cx="11325225"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650">
                <a:solidFill>
                  <a:srgbClr val="822433"/>
                </a:solidFill>
              </a:defRPr>
            </a:pPr>
            <a:r>
              <a:rPr lang="en-US" sz="1650" b="1" i="0" u="none" strike="noStrike" cap="none">
                <a:solidFill>
                  <a:srgbClr val="822433"/>
                </a:solidFill>
                <a:latin typeface="Plus Jakarta Sans"/>
                <a:ea typeface="Plus Jakarta Sans"/>
                <a:cs typeface="Plus Jakarta Sans"/>
                <a:sym typeface="Plus Jakarta Sans"/>
              </a:rPr>
              <a:t>Hierarchical Sub-Clustering &amp; Lock Mechanism</a:t>
            </a:r>
            <a:endParaRPr/>
          </a:p>
        </p:txBody>
      </p:sp>
      <p:sp>
        <p:nvSpPr>
          <p:cNvPr id="254" name="Google Shape;254;p21"/>
          <p:cNvSpPr txBox="1"/>
          <p:nvPr/>
        </p:nvSpPr>
        <p:spPr>
          <a:xfrm>
            <a:off x="866775" y="4780000"/>
            <a:ext cx="11325225" cy="5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sz="1350">
                <a:solidFill>
                  <a:srgbClr val="1C1819"/>
                </a:solidFill>
              </a:defRPr>
            </a:pPr>
            <a:r>
              <a:rPr lang="en-US" sz="1350" b="0" i="0" u="none" strike="noStrike" cap="none">
                <a:solidFill>
                  <a:srgbClr val="1C1819"/>
                </a:solidFill>
                <a:latin typeface="Plus Jakarta Sans"/>
                <a:ea typeface="Plus Jakarta Sans"/>
                <a:cs typeface="Plus Jakarta Sans"/>
                <a:sym typeface="Plus Jakarta Sans"/>
              </a:rPr>
              <a:t>Researchers can lock confirmed geological clusters and re-partition only unresolved swarms with refined parameters.</a:t>
            </a:r>
            <a:endParaRPr/>
          </a:p>
        </p:txBody>
      </p:sp>
      <p:sp>
        <p:nvSpPr>
          <p:cNvPr id="255" name="Google Shape;255;p21"/>
          <p:cNvSpPr txBox="1"/>
          <p:nvPr/>
        </p:nvSpPr>
        <p:spPr>
          <a:xfrm>
            <a:off x="828675" y="2580000"/>
            <a:ext cx="3187749" cy="6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sz="1150">
                <a:solidFill>
                  <a:srgbClr val="1C1819"/>
                </a:solidFill>
              </a:defRPr>
            </a:pPr>
            <a:r>
              <a:rPr lang="en-US" sz="1150" b="0" i="0" u="none" strike="noStrike" cap="none">
                <a:solidFill>
                  <a:srgbClr val="1C1819"/>
                </a:solidFill>
                <a:latin typeface="Plus Jakarta Sans"/>
                <a:ea typeface="Plus Jakarta Sans"/>
                <a:cs typeface="Plus Jakarta Sans"/>
                <a:sym typeface="Plus Jakarta Sans"/>
              </a:rPr>
              <a:t>Why chosen: Detects non-planar, arbitrary fault shapes without prior K count; isolates background noise (label -1).</a:t>
            </a:r>
            <a:endParaRPr/>
          </a:p>
        </p:txBody>
      </p:sp>
      <p:sp>
        <p:nvSpPr>
          <p:cNvPr id="256" name="Google Shape;256;p21"/>
          <p:cNvSpPr txBox="1"/>
          <p:nvPr/>
        </p:nvSpPr>
        <p:spPr>
          <a:xfrm>
            <a:off x="828675" y="3320000"/>
            <a:ext cx="3187749" cy="6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sz="1150">
                <a:solidFill>
                  <a:srgbClr val="1C1819"/>
                </a:solidFill>
              </a:defRPr>
            </a:pPr>
            <a:r>
              <a:rPr lang="en-US" sz="1150" b="0" i="0" u="none" strike="noStrike" cap="none">
                <a:solidFill>
                  <a:srgbClr val="1C1819"/>
                </a:solidFill>
                <a:latin typeface="Plus Jakarta Sans"/>
                <a:ea typeface="Plus Jakarta Sans"/>
                <a:cs typeface="Plus Jakarta Sans"/>
                <a:sym typeface="Plus Jakarta Sans"/>
              </a:rPr>
              <a:t>Auto-Tuning: Radius ε* estimated from k-distance knee via Kneedle algorithm.</a:t>
            </a:r>
            <a:endParaRPr/>
          </a:p>
        </p:txBody>
      </p:sp>
      <p:sp>
        <p:nvSpPr>
          <p:cNvPr id="257" name="Google Shape;257;p21"/>
          <p:cNvSpPr txBox="1"/>
          <p:nvPr/>
        </p:nvSpPr>
        <p:spPr>
          <a:xfrm>
            <a:off x="4549824" y="2580000"/>
            <a:ext cx="3187749" cy="6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sz="1150">
                <a:solidFill>
                  <a:srgbClr val="1C1819"/>
                </a:solidFill>
              </a:defRPr>
            </a:pPr>
            <a:r>
              <a:rPr lang="en-US" sz="1150" b="0" i="0" u="none" strike="noStrike" cap="none">
                <a:solidFill>
                  <a:srgbClr val="1C1819"/>
                </a:solidFill>
                <a:latin typeface="Plus Jakarta Sans"/>
                <a:ea typeface="Plus Jakarta Sans"/>
                <a:cs typeface="Plus Jakarta Sans"/>
                <a:sym typeface="Plus Jakarta Sans"/>
              </a:rPr>
              <a:t>Why chosen: Scalable centroid partitioning across random batches (b=1024) for instant parameter slider response.</a:t>
            </a:r>
            <a:endParaRPr/>
          </a:p>
        </p:txBody>
      </p:sp>
      <p:sp>
        <p:nvSpPr>
          <p:cNvPr id="258" name="Google Shape;258;p21"/>
          <p:cNvSpPr txBox="1"/>
          <p:nvPr/>
        </p:nvSpPr>
        <p:spPr>
          <a:xfrm>
            <a:off x="4549824" y="3320000"/>
            <a:ext cx="3187749" cy="6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sz="1150">
                <a:solidFill>
                  <a:srgbClr val="1C1819"/>
                </a:solidFill>
              </a:defRPr>
            </a:pPr>
            <a:r>
              <a:rPr lang="en-US" sz="1150" b="0" i="0" u="none" strike="noStrike" cap="none">
                <a:solidFill>
                  <a:srgbClr val="1C1819"/>
                </a:solidFill>
                <a:latin typeface="Plus Jakarta Sans"/>
                <a:ea typeface="Plus Jakarta Sans"/>
                <a:cs typeface="Plus Jakarta Sans"/>
                <a:sym typeface="Plus Jakarta Sans"/>
              </a:rPr>
              <a:t>Adaptation: Post-distance filter (d_max) eliminates outliers forced into clusters.</a:t>
            </a:r>
            <a:endParaRPr/>
          </a:p>
        </p:txBody>
      </p:sp>
      <p:sp>
        <p:nvSpPr>
          <p:cNvPr id="259" name="Google Shape;259;p21"/>
          <p:cNvSpPr txBox="1"/>
          <p:nvPr/>
        </p:nvSpPr>
        <p:spPr>
          <a:xfrm>
            <a:off x="8270974" y="2580000"/>
            <a:ext cx="3187749" cy="6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sz="1150">
                <a:solidFill>
                  <a:srgbClr val="1C1819"/>
                </a:solidFill>
              </a:defRPr>
            </a:pPr>
            <a:r>
              <a:rPr lang="en-US" sz="1150" b="0" i="0" u="none" strike="noStrike" cap="none">
                <a:solidFill>
                  <a:srgbClr val="1C1819"/>
                </a:solidFill>
                <a:latin typeface="Plus Jakarta Sans"/>
                <a:ea typeface="Plus Jakarta Sans"/>
                <a:cs typeface="Plus Jakarta Sans"/>
                <a:sym typeface="Plus Jakarta Sans"/>
              </a:rPr>
              <a:t>Why chosen: Regular vertical partitioning (r=0.5 km) breaking complex geometries into planar segments.</a:t>
            </a:r>
            <a:endParaRPr/>
          </a:p>
        </p:txBody>
      </p:sp>
      <p:sp>
        <p:nvSpPr>
          <p:cNvPr id="260" name="Google Shape;260;p21"/>
          <p:cNvSpPr txBox="1"/>
          <p:nvPr/>
        </p:nvSpPr>
        <p:spPr>
          <a:xfrm>
            <a:off x="8270974" y="3320000"/>
            <a:ext cx="3187749" cy="6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sz="1150">
                <a:solidFill>
                  <a:srgbClr val="1C1819"/>
                </a:solidFill>
              </a:defRPr>
            </a:pPr>
            <a:r>
              <a:rPr lang="en-US" sz="1150" b="0" i="0" u="none" strike="noStrike" cap="none">
                <a:solidFill>
                  <a:srgbClr val="1C1819"/>
                </a:solidFill>
                <a:latin typeface="Plus Jakarta Sans"/>
                <a:ea typeface="Plus Jakarta Sans"/>
                <a:cs typeface="Plus Jakarta Sans"/>
                <a:sym typeface="Plus Jakarta Sans"/>
              </a:rPr>
              <a:t>Adaptation: Enforces spatial continuity across 4D animation frames.</a:t>
            </a:r>
            <a:endParaRPr/>
          </a:p>
        </p:txBody>
      </p:sp>
      <p:sp>
        <p:nvSpPr>
          <p:cNvPr id="261" name="Google Shape;261;p21"/>
          <p:cNvSpPr txBox="1"/>
          <p:nvPr/>
        </p:nvSpPr>
        <p:spPr>
          <a:xfrm>
            <a:off x="1095375" y="2200000"/>
            <a:ext cx="25000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550">
                <a:solidFill>
                  <a:srgbClr val="236B5E"/>
                </a:solidFill>
              </a:defRPr>
            </a:pPr>
            <a:r>
              <a:rPr lang="en-US" sz="1550" b="1" i="0" u="none" strike="noStrike" cap="none">
                <a:solidFill>
                  <a:srgbClr val="236B5E"/>
                </a:solidFill>
                <a:latin typeface="Plus Jakarta Sans"/>
                <a:ea typeface="Plus Jakarta Sans"/>
                <a:cs typeface="Plus Jakarta Sans"/>
                <a:sym typeface="Plus Jakarta Sans"/>
              </a:rPr>
              <a:t>DBSCAN</a:t>
            </a:r>
            <a:endParaRPr/>
          </a:p>
        </p:txBody>
      </p:sp>
      <p:sp>
        <p:nvSpPr>
          <p:cNvPr id="262" name="Google Shape;262;p21"/>
          <p:cNvSpPr txBox="1"/>
          <p:nvPr/>
        </p:nvSpPr>
        <p:spPr>
          <a:xfrm>
            <a:off x="4816524" y="2200000"/>
            <a:ext cx="25000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550">
                <a:solidFill>
                  <a:srgbClr val="204060"/>
                </a:solidFill>
              </a:defRPr>
            </a:pPr>
            <a:r>
              <a:rPr lang="en-US" sz="1550" b="1" i="0" u="none" strike="noStrike" cap="none">
                <a:solidFill>
                  <a:srgbClr val="204060"/>
                </a:solidFill>
                <a:latin typeface="Plus Jakarta Sans"/>
                <a:ea typeface="Plus Jakarta Sans"/>
                <a:cs typeface="Plus Jakarta Sans"/>
                <a:sym typeface="Plus Jakarta Sans"/>
              </a:rPr>
              <a:t>MiniBatchKMeans</a:t>
            </a:r>
            <a:endParaRPr/>
          </a:p>
        </p:txBody>
      </p:sp>
      <p:sp>
        <p:nvSpPr>
          <p:cNvPr id="263" name="Google Shape;263;p21"/>
          <p:cNvSpPr txBox="1"/>
          <p:nvPr/>
        </p:nvSpPr>
        <p:spPr>
          <a:xfrm>
            <a:off x="8518624" y="2200000"/>
            <a:ext cx="25000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sz="1550">
                <a:solidFill>
                  <a:srgbClr val="B85828"/>
                </a:solidFill>
              </a:defRPr>
            </a:pPr>
            <a:r>
              <a:rPr lang="en-US" sz="1550" b="1" i="0" u="none" strike="noStrike" cap="none">
                <a:solidFill>
                  <a:srgbClr val="B85828"/>
                </a:solidFill>
                <a:latin typeface="Plus Jakarta Sans"/>
                <a:ea typeface="Plus Jakarta Sans"/>
                <a:cs typeface="Plus Jakarta Sans"/>
                <a:sym typeface="Plus Jakarta Sans"/>
              </a:rPr>
              <a:t>Cylinder Grid</a:t>
            </a:r>
            <a:endParaRPr/>
          </a:p>
        </p:txBody>
      </p:sp>
      <p:pic>
        <p:nvPicPr>
          <p:cNvPr id="264" name="Picture 263" descr="sapienza_logo.png"/>
          <p:cNvPicPr>
            <a:picLocks noChangeAspect="1"/>
          </p:cNvPicPr>
          <p:nvPr/>
        </p:nvPicPr>
        <p:blipFill>
          <a:blip r:embed="rId6"/>
          <a:stretch>
            <a:fillRect/>
          </a:stretch>
        </p:blipFill>
        <p:spPr>
          <a:xfrm>
            <a:off x="9750000" y="400000"/>
            <a:ext cx="1900000" cy="570000"/>
          </a:xfrm>
          <a:prstGeom prst="rect">
            <a:avLst/>
          </a:prstGeom>
        </p:spPr>
      </p:pic>
      <p:sp>
        <p:nvSpPr>
          <p:cNvPr id="265"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267"/>
        <p:cNvGrpSpPr/>
        <p:nvPr/>
      </p:nvGrpSpPr>
      <p:grpSpPr>
        <a:xfrm>
          <a:off x="0" y="0"/>
          <a:ext cx="0" cy="0"/>
          <a:chOff x="0" y="0"/>
          <a:chExt cx="0" cy="0"/>
        </a:xfrm>
      </p:grpSpPr>
      <p:sp>
        <p:nvSpPr>
          <p:cNvPr id="268" name="Google Shape;268;p22"/>
          <p:cNvSpPr/>
          <p:nvPr/>
        </p:nvSpPr>
        <p:spPr>
          <a:xfrm>
            <a:off x="609600" y="2271712"/>
            <a:ext cx="4791967" cy="1066800"/>
          </a:xfrm>
          <a:prstGeom prst="roundRect">
            <a:avLst>
              <a:gd name="adj" fmla="val 12500"/>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22"/>
          <p:cNvSpPr/>
          <p:nvPr/>
        </p:nvSpPr>
        <p:spPr>
          <a:xfrm>
            <a:off x="609600" y="3490912"/>
            <a:ext cx="4791967" cy="1066800"/>
          </a:xfrm>
          <a:prstGeom prst="roundRect">
            <a:avLst>
              <a:gd name="adj" fmla="val 12500"/>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22"/>
          <p:cNvSpPr/>
          <p:nvPr/>
        </p:nvSpPr>
        <p:spPr>
          <a:xfrm>
            <a:off x="609600" y="4710112"/>
            <a:ext cx="4791967" cy="685800"/>
          </a:xfrm>
          <a:prstGeom prst="roundRect">
            <a:avLst>
              <a:gd name="adj" fmla="val 19444"/>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1" name="Google Shape;271;p22" descr="image.png"/>
          <p:cNvPicPr preferRelativeResize="0"/>
          <p:nvPr/>
        </p:nvPicPr>
        <p:blipFill rotWithShape="1">
          <a:blip r:embed="rId3">
            <a:alphaModFix/>
          </a:blip>
          <a:srcRect/>
          <a:stretch/>
        </p:blipFill>
        <p:spPr>
          <a:xfrm>
            <a:off x="5706367" y="1890013"/>
            <a:ext cx="5876032" cy="3887598"/>
          </a:xfrm>
          <a:prstGeom prst="rect">
            <a:avLst/>
          </a:prstGeom>
          <a:noFill/>
          <a:ln>
            <a:noFill/>
          </a:ln>
        </p:spPr>
      </p:pic>
      <p:pic>
        <p:nvPicPr>
          <p:cNvPr id="272" name="Google Shape;272;p22" descr="image.png"/>
          <p:cNvPicPr preferRelativeResize="0"/>
          <p:nvPr/>
        </p:nvPicPr>
        <p:blipFill rotWithShape="1">
          <a:blip r:embed="rId4">
            <a:alphaModFix/>
          </a:blip>
          <a:srcRect/>
          <a:stretch/>
        </p:blipFill>
        <p:spPr>
          <a:xfrm>
            <a:off x="5715892" y="1899538"/>
            <a:ext cx="5856982" cy="3868548"/>
          </a:xfrm>
          <a:prstGeom prst="rect">
            <a:avLst/>
          </a:prstGeom>
          <a:noFill/>
          <a:ln>
            <a:noFill/>
          </a:ln>
        </p:spPr>
      </p:pic>
      <p:sp>
        <p:nvSpPr>
          <p:cNvPr id="273" name="Google Shape;273;p22"/>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STRUCTURAL GEOLOGY &amp; MATHEMATICS</a:t>
            </a:r>
            <a:endParaRPr/>
          </a:p>
        </p:txBody>
      </p:sp>
      <p:sp>
        <p:nvSpPr>
          <p:cNvPr id="274" name="Google Shape;274;p22"/>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Automated Fault Plane Estimation: RANSAC + SVD</a:t>
            </a:r>
            <a:endParaRPr/>
          </a:p>
        </p:txBody>
      </p:sp>
      <p:sp>
        <p:nvSpPr>
          <p:cNvPr id="275" name="Google Shape;275;p22"/>
          <p:cNvSpPr txBox="1"/>
          <p:nvPr/>
        </p:nvSpPr>
        <p:spPr>
          <a:xfrm>
            <a:off x="809625" y="2471737"/>
            <a:ext cx="576439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275" b="1" i="0" u="none" strike="noStrike" cap="none">
                <a:solidFill>
                  <a:srgbClr val="822433"/>
                </a:solidFill>
                <a:latin typeface="Plus Jakarta Sans"/>
                <a:ea typeface="Plus Jakarta Sans"/>
                <a:cs typeface="Plus Jakarta Sans"/>
                <a:sym typeface="Plus Jakarta Sans"/>
              </a:rPr>
              <a:t>Step 1: RANSAC Inlier Extraction</a:t>
            </a:r>
            <a:endParaRPr/>
          </a:p>
        </p:txBody>
      </p:sp>
      <p:sp>
        <p:nvSpPr>
          <p:cNvPr id="276" name="Google Shape;276;p22"/>
          <p:cNvSpPr txBox="1"/>
          <p:nvPr/>
        </p:nvSpPr>
        <p:spPr>
          <a:xfrm>
            <a:off x="809625" y="2738437"/>
            <a:ext cx="44871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Samples triplet candidate planes over 100 iterations to eliminate diffuse non-planar noise.</a:t>
            </a:r>
            <a:endParaRPr/>
          </a:p>
        </p:txBody>
      </p:sp>
      <p:sp>
        <p:nvSpPr>
          <p:cNvPr id="277" name="Google Shape;277;p22"/>
          <p:cNvSpPr txBox="1"/>
          <p:nvPr/>
        </p:nvSpPr>
        <p:spPr>
          <a:xfrm>
            <a:off x="809625" y="3690937"/>
            <a:ext cx="576439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275" b="1" i="0" u="none" strike="noStrike" cap="none">
                <a:solidFill>
                  <a:srgbClr val="822433"/>
                </a:solidFill>
                <a:latin typeface="Plus Jakarta Sans"/>
                <a:ea typeface="Plus Jakarta Sans"/>
                <a:cs typeface="Plus Jakarta Sans"/>
                <a:sym typeface="Plus Jakarta Sans"/>
              </a:rPr>
              <a:t>Step 2: SVD &amp; Geological Angles</a:t>
            </a:r>
            <a:endParaRPr/>
          </a:p>
        </p:txBody>
      </p:sp>
      <p:sp>
        <p:nvSpPr>
          <p:cNvPr id="278" name="Google Shape;278;p22"/>
          <p:cNvSpPr txBox="1"/>
          <p:nvPr/>
        </p:nvSpPr>
        <p:spPr>
          <a:xfrm>
            <a:off x="809625" y="3957637"/>
            <a:ext cx="44871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Normal vector derived from smallest singular value. Computes Strike, Dip, and Planarity P = (σ₂ - σ₃)/σ₁.</a:t>
            </a:r>
            <a:endParaRPr/>
          </a:p>
        </p:txBody>
      </p:sp>
      <p:sp>
        <p:nvSpPr>
          <p:cNvPr id="279" name="Google Shape;279;p22"/>
          <p:cNvSpPr txBox="1"/>
          <p:nvPr/>
        </p:nvSpPr>
        <p:spPr>
          <a:xfrm>
            <a:off x="771525" y="4872037"/>
            <a:ext cx="4563367"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Triangulated meshes display strike/dip vectors on hover inside the 3D scene.</a:t>
            </a:r>
            <a:endParaRPr/>
          </a:p>
        </p:txBody>
      </p:sp>
      <p:pic>
        <p:nvPicPr>
          <p:cNvPr id="280" name="Picture 279" descr="sapienza_logo.png"/>
          <p:cNvPicPr>
            <a:picLocks noChangeAspect="1"/>
          </p:cNvPicPr>
          <p:nvPr/>
        </p:nvPicPr>
        <p:blipFill>
          <a:blip r:embed="rId5"/>
          <a:stretch>
            <a:fillRect/>
          </a:stretch>
        </p:blipFill>
        <p:spPr>
          <a:xfrm>
            <a:off x="9750000" y="400000"/>
            <a:ext cx="1900000" cy="570000"/>
          </a:xfrm>
          <a:prstGeom prst="rect">
            <a:avLst/>
          </a:prstGeom>
        </p:spPr>
      </p:pic>
      <p:sp>
        <p:nvSpPr>
          <p:cNvPr id="281"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283"/>
        <p:cNvGrpSpPr/>
        <p:nvPr/>
      </p:nvGrpSpPr>
      <p:grpSpPr>
        <a:xfrm>
          <a:off x="0" y="0"/>
          <a:ext cx="0" cy="0"/>
          <a:chOff x="0" y="0"/>
          <a:chExt cx="0" cy="0"/>
        </a:xfrm>
      </p:grpSpPr>
      <p:sp>
        <p:nvSpPr>
          <p:cNvPr id="284" name="Google Shape;284;p23"/>
          <p:cNvSpPr/>
          <p:nvPr/>
        </p:nvSpPr>
        <p:spPr>
          <a:xfrm>
            <a:off x="6790432" y="2271712"/>
            <a:ext cx="4791967" cy="1066800"/>
          </a:xfrm>
          <a:prstGeom prst="roundRect">
            <a:avLst>
              <a:gd name="adj" fmla="val 12500"/>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3"/>
          <p:cNvSpPr/>
          <p:nvPr/>
        </p:nvSpPr>
        <p:spPr>
          <a:xfrm>
            <a:off x="6790432" y="3490912"/>
            <a:ext cx="4791967" cy="1066800"/>
          </a:xfrm>
          <a:prstGeom prst="roundRect">
            <a:avLst>
              <a:gd name="adj" fmla="val 12500"/>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23"/>
          <p:cNvSpPr/>
          <p:nvPr/>
        </p:nvSpPr>
        <p:spPr>
          <a:xfrm>
            <a:off x="6790432" y="4710112"/>
            <a:ext cx="4791967" cy="685800"/>
          </a:xfrm>
          <a:prstGeom prst="roundRect">
            <a:avLst>
              <a:gd name="adj" fmla="val 19444"/>
            </a:avLst>
          </a:prstGeom>
          <a:solidFill>
            <a:srgbClr val="FFFFFF"/>
          </a:solidFill>
          <a:ln w="12700" cap="flat" cmpd="sng">
            <a:solidFill>
              <a:srgbClr val="E4DE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7" name="Google Shape;287;p23" descr="image.png"/>
          <p:cNvPicPr preferRelativeResize="0"/>
          <p:nvPr/>
        </p:nvPicPr>
        <p:blipFill rotWithShape="1">
          <a:blip r:embed="rId3">
            <a:alphaModFix/>
          </a:blip>
          <a:srcRect/>
          <a:stretch/>
        </p:blipFill>
        <p:spPr>
          <a:xfrm>
            <a:off x="609600" y="1890013"/>
            <a:ext cx="5876032" cy="3887598"/>
          </a:xfrm>
          <a:prstGeom prst="rect">
            <a:avLst/>
          </a:prstGeom>
          <a:noFill/>
          <a:ln>
            <a:noFill/>
          </a:ln>
        </p:spPr>
      </p:pic>
      <p:pic>
        <p:nvPicPr>
          <p:cNvPr id="288" name="Google Shape;288;p23" descr="image.png"/>
          <p:cNvPicPr preferRelativeResize="0"/>
          <p:nvPr/>
        </p:nvPicPr>
        <p:blipFill rotWithShape="1">
          <a:blip r:embed="rId4">
            <a:alphaModFix/>
          </a:blip>
          <a:srcRect/>
          <a:stretch/>
        </p:blipFill>
        <p:spPr>
          <a:xfrm>
            <a:off x="619125" y="1899538"/>
            <a:ext cx="5856982" cy="3868548"/>
          </a:xfrm>
          <a:prstGeom prst="rect">
            <a:avLst/>
          </a:prstGeom>
          <a:noFill/>
          <a:ln>
            <a:noFill/>
          </a:ln>
        </p:spPr>
      </p:pic>
      <p:sp>
        <p:nvSpPr>
          <p:cNvPr id="289" name="Google Shape;289;p23"/>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ALGORITHMIC INNOVATION</a:t>
            </a:r>
            <a:endParaRPr/>
          </a:p>
        </p:txBody>
      </p:sp>
      <p:sp>
        <p:nvSpPr>
          <p:cNvPr id="290" name="Google Shape;290;p23"/>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4D Cylinder Partitioning &amp; Label Stability</a:t>
            </a:r>
            <a:endParaRPr/>
          </a:p>
        </p:txBody>
      </p:sp>
      <p:sp>
        <p:nvSpPr>
          <p:cNvPr id="291" name="Google Shape;291;p23"/>
          <p:cNvSpPr txBox="1"/>
          <p:nvPr/>
        </p:nvSpPr>
        <p:spPr>
          <a:xfrm>
            <a:off x="6990457" y="2471737"/>
            <a:ext cx="520154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275" b="1" i="0" u="none" strike="noStrike" cap="none">
                <a:solidFill>
                  <a:srgbClr val="822433"/>
                </a:solidFill>
                <a:latin typeface="Plus Jakarta Sans"/>
                <a:ea typeface="Plus Jakarta Sans"/>
                <a:cs typeface="Plus Jakarta Sans"/>
                <a:sym typeface="Plus Jakarta Sans"/>
              </a:rPr>
              <a:t>Why Cylinder Partitioning?</a:t>
            </a:r>
            <a:endParaRPr/>
          </a:p>
        </p:txBody>
      </p:sp>
      <p:sp>
        <p:nvSpPr>
          <p:cNvPr id="292" name="Google Shape;292;p23"/>
          <p:cNvSpPr txBox="1"/>
          <p:nvPr/>
        </p:nvSpPr>
        <p:spPr>
          <a:xfrm>
            <a:off x="6990457" y="2738437"/>
            <a:ext cx="44871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a:solidFill>
                  <a:srgbClr val="2D2628"/>
                </a:solidFill>
              </a:defRPr>
            </a:pPr>
            <a:r>
              <a:rPr lang="en-US" sz="1125" b="0" i="0" u="none" strike="noStrike" cap="none" dirty="0">
                <a:solidFill>
                  <a:srgbClr val="2D2628"/>
                </a:solidFill>
                <a:latin typeface="Plus Jakarta Sans"/>
                <a:ea typeface="Plus Jakarta Sans"/>
                <a:cs typeface="Plus Jakarta Sans"/>
                <a:sym typeface="Plus Jakarta Sans"/>
              </a:rPr>
              <a:t>Global 3D swarms curve across the caldera; spatial vertical cylinders isolate local linear fault segments.</a:t>
            </a:r>
            <a:endParaRPr dirty="0"/>
          </a:p>
        </p:txBody>
      </p:sp>
      <p:sp>
        <p:nvSpPr>
          <p:cNvPr id="293" name="Google Shape;293;p23"/>
          <p:cNvSpPr txBox="1"/>
          <p:nvPr/>
        </p:nvSpPr>
        <p:spPr>
          <a:xfrm>
            <a:off x="6990457" y="3690937"/>
            <a:ext cx="520154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275" b="1" i="0" u="none" strike="noStrike" cap="none">
                <a:solidFill>
                  <a:srgbClr val="822433"/>
                </a:solidFill>
                <a:latin typeface="Plus Jakarta Sans"/>
                <a:ea typeface="Plus Jakarta Sans"/>
                <a:cs typeface="Plus Jakarta Sans"/>
                <a:sym typeface="Plus Jakarta Sans"/>
              </a:rPr>
              <a:t>Global Label Matching</a:t>
            </a:r>
            <a:endParaRPr/>
          </a:p>
        </p:txBody>
      </p:sp>
      <p:sp>
        <p:nvSpPr>
          <p:cNvPr id="294" name="Google Shape;294;p23"/>
          <p:cNvSpPr txBox="1"/>
          <p:nvPr/>
        </p:nvSpPr>
        <p:spPr>
          <a:xfrm>
            <a:off x="6990457" y="3957637"/>
            <a:ext cx="4487167" cy="4000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Historical majority voting eliminates cluster colour flickering across sequential animation frames.</a:t>
            </a:r>
            <a:endParaRPr/>
          </a:p>
        </p:txBody>
      </p:sp>
      <p:sp>
        <p:nvSpPr>
          <p:cNvPr id="295" name="Google Shape;295;p23"/>
          <p:cNvSpPr txBox="1"/>
          <p:nvPr/>
        </p:nvSpPr>
        <p:spPr>
          <a:xfrm>
            <a:off x="6952357" y="4872037"/>
            <a:ext cx="4563367"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0">
                <a:solidFill>
                  <a:srgbClr val="2D2628"/>
                </a:solidFill>
              </a:defRPr>
            </a:pPr>
            <a:r>
              <a:rPr lang="en-US" sz="1125" b="0" i="0" u="none" strike="noStrike" cap="none">
                <a:solidFill>
                  <a:srgbClr val="2D2628"/>
                </a:solidFill>
                <a:latin typeface="Plus Jakarta Sans"/>
                <a:ea typeface="Plus Jakarta Sans"/>
                <a:cs typeface="Plus Jakarta Sans"/>
                <a:sym typeface="Plus Jakarta Sans"/>
              </a:rPr>
              <a:t>Multithreaded ThreadPoolExecutor (8 workers) fits cylinder planes in parallel across frames.</a:t>
            </a:r>
            <a:endParaRPr/>
          </a:p>
        </p:txBody>
      </p:sp>
      <p:pic>
        <p:nvPicPr>
          <p:cNvPr id="296" name="Picture 295" descr="sapienza_logo.png"/>
          <p:cNvPicPr>
            <a:picLocks noChangeAspect="1"/>
          </p:cNvPicPr>
          <p:nvPr/>
        </p:nvPicPr>
        <p:blipFill>
          <a:blip r:embed="rId5"/>
          <a:stretch>
            <a:fillRect/>
          </a:stretch>
        </p:blipFill>
        <p:spPr>
          <a:xfrm>
            <a:off x="9750000" y="400000"/>
            <a:ext cx="1900000" cy="570000"/>
          </a:xfrm>
          <a:prstGeom prst="rect">
            <a:avLst/>
          </a:prstGeom>
        </p:spPr>
      </p:pic>
      <p:sp>
        <p:nvSpPr>
          <p:cNvPr id="297"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299"/>
        <p:cNvGrpSpPr/>
        <p:nvPr/>
      </p:nvGrpSpPr>
      <p:grpSpPr>
        <a:xfrm>
          <a:off x="0" y="0"/>
          <a:ext cx="0" cy="0"/>
          <a:chOff x="0" y="0"/>
          <a:chExt cx="0" cy="0"/>
        </a:xfrm>
      </p:grpSpPr>
      <p:sp>
        <p:nvSpPr>
          <p:cNvPr id="300" name="Google Shape;300;p24"/>
          <p:cNvSpPr/>
          <p:nvPr/>
        </p:nvSpPr>
        <p:spPr>
          <a:xfrm>
            <a:off x="609600" y="4250000"/>
            <a:ext cx="10972800" cy="1050000"/>
          </a:xfrm>
          <a:prstGeom prst="roundRect">
            <a:avLst>
              <a:gd name="adj" fmla="val 14583"/>
            </a:avLst>
          </a:prstGeom>
          <a:solidFill>
            <a:schemeClr val="tx2"/>
          </a:solidFill>
          <a:ln w="19050"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24"/>
          <p:cNvSpPr/>
          <p:nvPr/>
        </p:nvSpPr>
        <p:spPr>
          <a:xfrm>
            <a:off x="609600" y="1950000"/>
            <a:ext cx="2628900" cy="2050000"/>
          </a:xfrm>
          <a:prstGeom prst="roundRect">
            <a:avLst>
              <a:gd name="adj" fmla="val 9163"/>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24"/>
          <p:cNvSpPr/>
          <p:nvPr/>
        </p:nvSpPr>
        <p:spPr>
          <a:xfrm>
            <a:off x="3371850" y="1950000"/>
            <a:ext cx="2628900" cy="2050000"/>
          </a:xfrm>
          <a:prstGeom prst="roundRect">
            <a:avLst>
              <a:gd name="adj" fmla="val 9163"/>
            </a:avLst>
          </a:prstGeom>
          <a:solidFill>
            <a:srgbClr val="FDF8F2"/>
          </a:solidFill>
          <a:ln w="12700" cap="flat" cmpd="sng">
            <a:solidFill>
              <a:srgbClr val="EBD7C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303" name="Google Shape;303;p24"/>
          <p:cNvSpPr/>
          <p:nvPr/>
        </p:nvSpPr>
        <p:spPr>
          <a:xfrm>
            <a:off x="6172200" y="1950000"/>
            <a:ext cx="2628900" cy="2050000"/>
          </a:xfrm>
          <a:prstGeom prst="roundRect">
            <a:avLst>
              <a:gd name="adj" fmla="val 9163"/>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24"/>
          <p:cNvSpPr/>
          <p:nvPr/>
        </p:nvSpPr>
        <p:spPr>
          <a:xfrm>
            <a:off x="8953500" y="1950000"/>
            <a:ext cx="2628900" cy="2050000"/>
          </a:xfrm>
          <a:prstGeom prst="roundRect">
            <a:avLst>
              <a:gd name="adj" fmla="val 9163"/>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24"/>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DATA ENGINEERING PIPELINE</a:t>
            </a:r>
            <a:endParaRPr/>
          </a:p>
        </p:txBody>
      </p:sp>
      <p:sp>
        <p:nvSpPr>
          <p:cNvPr id="306" name="Google Shape;306;p24"/>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Geospatial Ingestion &amp; Sanitisation Choices</a:t>
            </a:r>
            <a:endParaRPr/>
          </a:p>
        </p:txBody>
      </p:sp>
      <p:sp>
        <p:nvSpPr>
          <p:cNvPr id="307" name="Google Shape;307;p24"/>
          <p:cNvSpPr txBox="1"/>
          <p:nvPr/>
        </p:nvSpPr>
        <p:spPr>
          <a:xfrm>
            <a:off x="781050" y="2100000"/>
            <a:ext cx="2381250" cy="2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204060"/>
                </a:solidFill>
              </a:defRPr>
            </a:pPr>
            <a:r>
              <a:rPr lang="en-US" sz="1050" b="1" i="0" u="none" strike="noStrike" cap="none">
                <a:solidFill>
                  <a:srgbClr val="204060"/>
                </a:solidFill>
                <a:latin typeface="Plus Jakarta Sans"/>
                <a:ea typeface="Plus Jakarta Sans"/>
                <a:cs typeface="Plus Jakarta Sans"/>
                <a:sym typeface="Plus Jakarta Sans"/>
              </a:rPr>
              <a:t>STAGE 1 &amp; 2</a:t>
            </a:r>
            <a:endParaRPr/>
          </a:p>
        </p:txBody>
      </p:sp>
      <p:sp>
        <p:nvSpPr>
          <p:cNvPr id="308" name="Google Shape;308;p24"/>
          <p:cNvSpPr txBox="1"/>
          <p:nvPr/>
        </p:nvSpPr>
        <p:spPr>
          <a:xfrm>
            <a:off x="3562350" y="2100000"/>
            <a:ext cx="2381250" cy="2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B85828"/>
                </a:solidFill>
              </a:defRPr>
            </a:pPr>
            <a:r>
              <a:rPr lang="en-US" sz="1050" b="1" i="0" u="none" strike="noStrike" cap="none">
                <a:solidFill>
                  <a:srgbClr val="B85828"/>
                </a:solidFill>
                <a:latin typeface="Plus Jakarta Sans"/>
                <a:ea typeface="Plus Jakarta Sans"/>
                <a:cs typeface="Plus Jakarta Sans"/>
                <a:sym typeface="Plus Jakarta Sans"/>
              </a:rPr>
              <a:t>CRITICAL DECISION</a:t>
            </a:r>
            <a:endParaRPr/>
          </a:p>
        </p:txBody>
      </p:sp>
      <p:sp>
        <p:nvSpPr>
          <p:cNvPr id="309" name="Google Shape;309;p24"/>
          <p:cNvSpPr txBox="1"/>
          <p:nvPr/>
        </p:nvSpPr>
        <p:spPr>
          <a:xfrm>
            <a:off x="6343650" y="2100000"/>
            <a:ext cx="2381250" cy="2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236B5E"/>
                </a:solidFill>
              </a:defRPr>
            </a:pPr>
            <a:r>
              <a:rPr lang="en-US" sz="1050" b="1" i="0" u="none" strike="noStrike" cap="none">
                <a:solidFill>
                  <a:srgbClr val="236B5E"/>
                </a:solidFill>
                <a:latin typeface="Plus Jakarta Sans"/>
                <a:ea typeface="Plus Jakarta Sans"/>
                <a:cs typeface="Plus Jakarta Sans"/>
                <a:sym typeface="Plus Jakarta Sans"/>
              </a:rPr>
              <a:t>STAGE 3 &amp; 4</a:t>
            </a:r>
            <a:endParaRPr/>
          </a:p>
        </p:txBody>
      </p:sp>
      <p:sp>
        <p:nvSpPr>
          <p:cNvPr id="310" name="Google Shape;310;p24"/>
          <p:cNvSpPr txBox="1"/>
          <p:nvPr/>
        </p:nvSpPr>
        <p:spPr>
          <a:xfrm>
            <a:off x="9124950" y="2100000"/>
            <a:ext cx="2381250" cy="2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050" b="1">
                <a:solidFill>
                  <a:srgbClr val="822433"/>
                </a:solidFill>
              </a:defRPr>
            </a:pPr>
            <a:r>
              <a:rPr lang="en-US" sz="1050" b="1" i="0" u="none" strike="noStrike" cap="none">
                <a:solidFill>
                  <a:srgbClr val="822433"/>
                </a:solidFill>
                <a:latin typeface="Plus Jakarta Sans"/>
                <a:ea typeface="Plus Jakarta Sans"/>
                <a:cs typeface="Plus Jakarta Sans"/>
                <a:sym typeface="Plus Jakarta Sans"/>
              </a:rPr>
              <a:t>STAGE 5</a:t>
            </a:r>
            <a:endParaRPr/>
          </a:p>
        </p:txBody>
      </p:sp>
      <p:sp>
        <p:nvSpPr>
          <p:cNvPr id="311" name="Google Shape;311;p24"/>
          <p:cNvSpPr txBox="1"/>
          <p:nvPr/>
        </p:nvSpPr>
        <p:spPr>
          <a:xfrm>
            <a:off x="9200000" y="4400000"/>
            <a:ext cx="2200000" cy="4001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defRPr sz="2600" b="1">
                <a:solidFill>
                  <a:srgbClr val="F6AD55"/>
                </a:solidFill>
              </a:defRPr>
            </a:pPr>
            <a:r>
              <a:rPr lang="en-US" sz="2600" b="1" i="0" u="none" strike="noStrike" cap="none" dirty="0">
                <a:solidFill>
                  <a:schemeClr val="bg2"/>
                </a:solidFill>
                <a:latin typeface="Plus Jakarta Sans"/>
                <a:ea typeface="Plus Jakarta Sans"/>
                <a:cs typeface="Plus Jakarta Sans"/>
                <a:sym typeface="Plus Jakarta Sans"/>
              </a:rPr>
              <a:t>-80% Size</a:t>
            </a:r>
            <a:endParaRPr dirty="0">
              <a:solidFill>
                <a:schemeClr val="bg2"/>
              </a:solidFill>
            </a:endParaRPr>
          </a:p>
        </p:txBody>
      </p:sp>
      <p:sp>
        <p:nvSpPr>
          <p:cNvPr id="312" name="Google Shape;312;p24"/>
          <p:cNvSpPr txBox="1"/>
          <p:nvPr/>
        </p:nvSpPr>
        <p:spPr>
          <a:xfrm>
            <a:off x="781050" y="2320000"/>
            <a:ext cx="23812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b="1">
                <a:solidFill>
                  <a:srgbClr val="204060"/>
                </a:solidFill>
              </a:defRPr>
            </a:pPr>
            <a:r>
              <a:rPr lang="en-US" sz="1550" b="1" i="0" u="none" strike="noStrike" cap="none">
                <a:solidFill>
                  <a:srgbClr val="204060"/>
                </a:solidFill>
                <a:latin typeface="Plus Jakarta Sans"/>
                <a:ea typeface="Plus Jakarta Sans"/>
                <a:cs typeface="Plus Jakarta Sans"/>
                <a:sym typeface="Plus Jakarta Sans"/>
              </a:rPr>
              <a:t>Multi-Source Loading</a:t>
            </a:r>
            <a:endParaRPr/>
          </a:p>
        </p:txBody>
      </p:sp>
      <p:sp>
        <p:nvSpPr>
          <p:cNvPr id="313" name="Google Shape;313;p24"/>
          <p:cNvSpPr txBox="1"/>
          <p:nvPr/>
        </p:nvSpPr>
        <p:spPr>
          <a:xfrm>
            <a:off x="781050" y="2700000"/>
            <a:ext cx="2362200" cy="11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dirty="0">
                <a:solidFill>
                  <a:srgbClr val="1C1819"/>
                </a:solidFill>
                <a:latin typeface="Plus Jakarta Sans"/>
                <a:ea typeface="Plus Jakarta Sans"/>
                <a:cs typeface="Plus Jakarta Sans"/>
                <a:sym typeface="Plus Jakarta Sans"/>
              </a:rPr>
              <a:t>Dynamic CSV header alias detection and segmented yearly queries to INGV GOSSIP API.</a:t>
            </a:r>
            <a:endParaRPr dirty="0"/>
          </a:p>
        </p:txBody>
      </p:sp>
      <p:sp>
        <p:nvSpPr>
          <p:cNvPr id="314" name="Google Shape;314;p24"/>
          <p:cNvSpPr txBox="1"/>
          <p:nvPr/>
        </p:nvSpPr>
        <p:spPr>
          <a:xfrm>
            <a:off x="3562350" y="2320000"/>
            <a:ext cx="23812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b="1">
                <a:solidFill>
                  <a:srgbClr val="B85828"/>
                </a:solidFill>
              </a:defRPr>
            </a:pPr>
            <a:r>
              <a:rPr lang="en-US" sz="1550" b="1" i="0" u="none" strike="noStrike" cap="none">
                <a:solidFill>
                  <a:srgbClr val="B85828"/>
                </a:solidFill>
                <a:latin typeface="Plus Jakarta Sans"/>
                <a:ea typeface="Plus Jakarta Sans"/>
                <a:cs typeface="Plus Jakarta Sans"/>
                <a:sym typeface="Plus Jakarta Sans"/>
              </a:rPr>
              <a:t>Sentinel Depth Handling</a:t>
            </a:r>
            <a:endParaRPr/>
          </a:p>
        </p:txBody>
      </p:sp>
      <p:sp>
        <p:nvSpPr>
          <p:cNvPr id="316" name="Google Shape;316;p24"/>
          <p:cNvSpPr txBox="1"/>
          <p:nvPr/>
        </p:nvSpPr>
        <p:spPr>
          <a:xfrm>
            <a:off x="6343650" y="2320000"/>
            <a:ext cx="23812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b="1">
                <a:solidFill>
                  <a:srgbClr val="236B5E"/>
                </a:solidFill>
              </a:defRPr>
            </a:pPr>
            <a:r>
              <a:rPr lang="en-US" sz="1550" b="1" i="0" u="none" strike="noStrike" cap="none">
                <a:solidFill>
                  <a:srgbClr val="236B5E"/>
                </a:solidFill>
                <a:latin typeface="Plus Jakarta Sans"/>
                <a:ea typeface="Plus Jakarta Sans"/>
                <a:cs typeface="Plus Jakarta Sans"/>
                <a:sym typeface="Plus Jakarta Sans"/>
              </a:rPr>
              <a:t>Physical Bounds Check</a:t>
            </a:r>
            <a:endParaRPr/>
          </a:p>
        </p:txBody>
      </p:sp>
      <p:sp>
        <p:nvSpPr>
          <p:cNvPr id="317" name="Google Shape;317;p24"/>
          <p:cNvSpPr txBox="1"/>
          <p:nvPr/>
        </p:nvSpPr>
        <p:spPr>
          <a:xfrm>
            <a:off x="6343650" y="2700000"/>
            <a:ext cx="2362200" cy="11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Filters depth [-10, +800 km], preserves volcanic mountain events, and drops future dates.</a:t>
            </a:r>
            <a:endParaRPr/>
          </a:p>
        </p:txBody>
      </p:sp>
      <p:sp>
        <p:nvSpPr>
          <p:cNvPr id="318" name="Google Shape;318;p24"/>
          <p:cNvSpPr txBox="1"/>
          <p:nvPr/>
        </p:nvSpPr>
        <p:spPr>
          <a:xfrm>
            <a:off x="9124950" y="2320000"/>
            <a:ext cx="23812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b="1">
                <a:solidFill>
                  <a:srgbClr val="822433"/>
                </a:solidFill>
              </a:defRPr>
            </a:pPr>
            <a:r>
              <a:rPr lang="en-US" sz="1550" b="1" i="0" u="none" strike="noStrike" cap="none">
                <a:solidFill>
                  <a:srgbClr val="822433"/>
                </a:solidFill>
                <a:latin typeface="Plus Jakarta Sans"/>
                <a:ea typeface="Plus Jakarta Sans"/>
                <a:cs typeface="Plus Jakarta Sans"/>
                <a:sym typeface="Plus Jakarta Sans"/>
              </a:rPr>
              <a:t>Geospatial Projection</a:t>
            </a:r>
            <a:endParaRPr/>
          </a:p>
        </p:txBody>
      </p:sp>
      <p:sp>
        <p:nvSpPr>
          <p:cNvPr id="319" name="Google Shape;319;p24"/>
          <p:cNvSpPr txBox="1"/>
          <p:nvPr/>
        </p:nvSpPr>
        <p:spPr>
          <a:xfrm>
            <a:off x="9124950" y="2700000"/>
            <a:ext cx="2362200" cy="11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Converts UTM Zone 33N tomography grids to WGS84 and maps OSM tile coordinates.</a:t>
            </a:r>
            <a:endParaRPr/>
          </a:p>
        </p:txBody>
      </p:sp>
      <p:sp>
        <p:nvSpPr>
          <p:cNvPr id="320" name="Google Shape;320;p24"/>
          <p:cNvSpPr txBox="1"/>
          <p:nvPr/>
        </p:nvSpPr>
        <p:spPr>
          <a:xfrm>
            <a:off x="885825" y="4420000"/>
            <a:ext cx="800000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50" b="1">
                <a:solidFill>
                  <a:srgbClr val="FFFFFF"/>
                </a:solidFill>
              </a:defRPr>
            </a:pPr>
            <a:r>
              <a:rPr lang="en-US" sz="1650" b="1" i="0" u="none" strike="noStrike" cap="none" dirty="0">
                <a:solidFill>
                  <a:schemeClr val="bg2"/>
                </a:solidFill>
                <a:latin typeface="Plus Jakarta Sans"/>
                <a:ea typeface="Plus Jakarta Sans"/>
                <a:cs typeface="Plus Jakarta Sans"/>
                <a:sym typeface="Plus Jakarta Sans"/>
              </a:rPr>
              <a:t>Float32 Contiguous Binary Protocol (/</a:t>
            </a:r>
            <a:r>
              <a:rPr lang="en-US" sz="1650" b="1" i="0" u="none" strike="noStrike" cap="none" dirty="0" err="1">
                <a:solidFill>
                  <a:schemeClr val="bg2"/>
                </a:solidFill>
                <a:latin typeface="Plus Jakarta Sans"/>
                <a:ea typeface="Plus Jakarta Sans"/>
                <a:cs typeface="Plus Jakarta Sans"/>
                <a:sym typeface="Plus Jakarta Sans"/>
              </a:rPr>
              <a:t>api</a:t>
            </a:r>
            <a:r>
              <a:rPr lang="en-US" sz="1650" b="1" i="0" u="none" strike="noStrike" cap="none" dirty="0">
                <a:solidFill>
                  <a:schemeClr val="bg2"/>
                </a:solidFill>
                <a:latin typeface="Plus Jakarta Sans"/>
                <a:ea typeface="Plus Jakarta Sans"/>
                <a:cs typeface="Plus Jakarta Sans"/>
                <a:sym typeface="Plus Jakarta Sans"/>
              </a:rPr>
              <a:t>/data/{id}/bin)</a:t>
            </a:r>
            <a:endParaRPr dirty="0">
              <a:solidFill>
                <a:schemeClr val="bg2"/>
              </a:solidFill>
            </a:endParaRPr>
          </a:p>
        </p:txBody>
      </p:sp>
      <p:sp>
        <p:nvSpPr>
          <p:cNvPr id="321" name="Google Shape;321;p24"/>
          <p:cNvSpPr txBox="1"/>
          <p:nvPr/>
        </p:nvSpPr>
        <p:spPr>
          <a:xfrm>
            <a:off x="885825" y="4780000"/>
            <a:ext cx="8000000" cy="20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300" b="0">
                <a:solidFill>
                  <a:srgbClr val="CBD5E1"/>
                </a:solidFill>
              </a:defRPr>
            </a:pPr>
            <a:r>
              <a:rPr lang="en-US" sz="1300" b="0" i="0" u="none" strike="noStrike" cap="none" dirty="0">
                <a:solidFill>
                  <a:schemeClr val="tx1"/>
                </a:solidFill>
                <a:latin typeface="Plus Jakarta Sans"/>
                <a:ea typeface="Plus Jakarta Sans"/>
                <a:cs typeface="Plus Jakarta Sans"/>
                <a:sym typeface="Plus Jakarta Sans"/>
              </a:rPr>
              <a:t>Replaced JSON text payloads: packs coordinates into Float32Array buffers with 2-float header [N, Lc].</a:t>
            </a:r>
            <a:endParaRPr dirty="0">
              <a:solidFill>
                <a:schemeClr val="tx1"/>
              </a:solidFill>
            </a:endParaRPr>
          </a:p>
        </p:txBody>
      </p:sp>
      <p:sp>
        <p:nvSpPr>
          <p:cNvPr id="322" name="Google Shape;322;p24"/>
          <p:cNvSpPr txBox="1"/>
          <p:nvPr/>
        </p:nvSpPr>
        <p:spPr>
          <a:xfrm>
            <a:off x="9200000" y="4850000"/>
            <a:ext cx="2200000" cy="20005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defRPr sz="1300" b="1">
                <a:solidFill>
                  <a:srgbClr val="FFFFFF"/>
                </a:solidFill>
              </a:defRPr>
            </a:pPr>
            <a:r>
              <a:rPr lang="en-US" sz="1300" b="1" i="0" u="none" strike="noStrike" cap="none" dirty="0">
                <a:solidFill>
                  <a:schemeClr val="bg2"/>
                </a:solidFill>
                <a:latin typeface="Plus Jakarta Sans"/>
                <a:ea typeface="Plus Jakarta Sans"/>
                <a:cs typeface="Plus Jakarta Sans"/>
                <a:sym typeface="Plus Jakarta Sans"/>
              </a:rPr>
              <a:t>&lt; 0.01 </a:t>
            </a:r>
            <a:r>
              <a:rPr lang="en-US" sz="1300" b="1" i="0" u="none" strike="noStrike" cap="none" dirty="0" err="1">
                <a:solidFill>
                  <a:schemeClr val="bg2"/>
                </a:solidFill>
                <a:latin typeface="Plus Jakarta Sans"/>
                <a:ea typeface="Plus Jakarta Sans"/>
                <a:cs typeface="Plus Jakarta Sans"/>
                <a:sym typeface="Plus Jakarta Sans"/>
              </a:rPr>
              <a:t>ms</a:t>
            </a:r>
            <a:r>
              <a:rPr lang="en-US" sz="1300" b="1" i="0" u="none" strike="noStrike" cap="none" dirty="0">
                <a:solidFill>
                  <a:schemeClr val="bg2"/>
                </a:solidFill>
                <a:latin typeface="Plus Jakarta Sans"/>
                <a:ea typeface="Plus Jakarta Sans"/>
                <a:cs typeface="Plus Jakarta Sans"/>
                <a:sym typeface="Plus Jakarta Sans"/>
              </a:rPr>
              <a:t> decode time</a:t>
            </a:r>
            <a:endParaRPr dirty="0">
              <a:solidFill>
                <a:schemeClr val="bg2"/>
              </a:solidFill>
            </a:endParaRPr>
          </a:p>
        </p:txBody>
      </p:sp>
      <p:pic>
        <p:nvPicPr>
          <p:cNvPr id="323" name="Picture 322" descr="sapienza_logo.png"/>
          <p:cNvPicPr>
            <a:picLocks noChangeAspect="1"/>
          </p:cNvPicPr>
          <p:nvPr/>
        </p:nvPicPr>
        <p:blipFill>
          <a:blip r:embed="rId3"/>
          <a:stretch>
            <a:fillRect/>
          </a:stretch>
        </p:blipFill>
        <p:spPr>
          <a:xfrm>
            <a:off x="9750000" y="400000"/>
            <a:ext cx="1900000" cy="570000"/>
          </a:xfrm>
          <a:prstGeom prst="rect">
            <a:avLst/>
          </a:prstGeom>
        </p:spPr>
      </p:pic>
      <p:sp>
        <p:nvSpPr>
          <p:cNvPr id="324"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CasellaDiTesto 1">
            <a:extLst>
              <a:ext uri="{FF2B5EF4-FFF2-40B4-BE49-F238E27FC236}">
                <a16:creationId xmlns:a16="http://schemas.microsoft.com/office/drawing/2014/main" id="{7F1CBB75-106E-02F7-2FA3-5B26466B2BFD}"/>
              </a:ext>
            </a:extLst>
          </p:cNvPr>
          <p:cNvSpPr txBox="1"/>
          <p:nvPr/>
        </p:nvSpPr>
        <p:spPr>
          <a:xfrm>
            <a:off x="3559683" y="2588234"/>
            <a:ext cx="2253234" cy="1555682"/>
          </a:xfrm>
          <a:prstGeom prst="rect">
            <a:avLst/>
          </a:prstGeom>
          <a:noFill/>
        </p:spPr>
        <p:txBody>
          <a:bodyPr wrap="square" rtlCol="0">
            <a:spAutoFit/>
          </a:bodyPr>
          <a:lstStyle/>
          <a:p>
            <a:pPr>
              <a:lnSpc>
                <a:spcPct val="150000"/>
              </a:lnSpc>
            </a:pPr>
            <a:r>
              <a:rPr lang="en-US" sz="1300" dirty="0">
                <a:solidFill>
                  <a:schemeClr val="dk1"/>
                </a:solidFill>
                <a:latin typeface="Plus Jakarta Sans" panose="020B0604020202020204" charset="0"/>
                <a:ea typeface="Calibri"/>
                <a:cs typeface="Plus Jakarta Sans" panose="020B0604020202020204" charset="0"/>
                <a:sym typeface="Calibri"/>
              </a:rPr>
              <a:t>Missing depths kept for 2D maps, but excluded from 3d/clustering to prevent artificial planes.</a:t>
            </a:r>
          </a:p>
          <a:p>
            <a:pPr>
              <a:lnSpc>
                <a:spcPct val="150000"/>
              </a:lnSpc>
            </a:pPr>
            <a:endParaRPr lang="it-IT"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326"/>
        <p:cNvGrpSpPr/>
        <p:nvPr/>
      </p:nvGrpSpPr>
      <p:grpSpPr>
        <a:xfrm>
          <a:off x="0" y="0"/>
          <a:ext cx="0" cy="0"/>
          <a:chOff x="0" y="0"/>
          <a:chExt cx="0" cy="0"/>
        </a:xfrm>
      </p:grpSpPr>
      <p:sp>
        <p:nvSpPr>
          <p:cNvPr id="327" name="Google Shape;327;p25"/>
          <p:cNvSpPr/>
          <p:nvPr/>
        </p:nvSpPr>
        <p:spPr>
          <a:xfrm>
            <a:off x="609600" y="1950000"/>
            <a:ext cx="5353050" cy="1900000"/>
          </a:xfrm>
          <a:prstGeom prst="roundRect">
            <a:avLst>
              <a:gd name="adj" fmla="val 7909"/>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8" name="Google Shape;328;p25"/>
          <p:cNvSpPr/>
          <p:nvPr/>
        </p:nvSpPr>
        <p:spPr>
          <a:xfrm>
            <a:off x="609600" y="4050000"/>
            <a:ext cx="5353050" cy="1450000"/>
          </a:xfrm>
          <a:prstGeom prst="roundRect">
            <a:avLst>
              <a:gd name="adj" fmla="val 11475"/>
            </a:avLst>
          </a:prstGeom>
          <a:solidFill>
            <a:srgbClr val="FBF4F3"/>
          </a:solidFill>
          <a:ln w="12700" cap="flat" cmpd="sng">
            <a:solidFill>
              <a:srgbClr val="E8D5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9" name="Google Shape;329;p25"/>
          <p:cNvSpPr/>
          <p:nvPr/>
        </p:nvSpPr>
        <p:spPr>
          <a:xfrm>
            <a:off x="6229350" y="1950000"/>
            <a:ext cx="5353050" cy="1900000"/>
          </a:xfrm>
          <a:prstGeom prst="roundRect">
            <a:avLst>
              <a:gd name="adj" fmla="val 9333"/>
            </a:avLst>
          </a:prstGeom>
          <a:solidFill>
            <a:srgbClr val="FDF8F2"/>
          </a:solidFill>
          <a:ln w="12700" cap="flat" cmpd="sng">
            <a:solidFill>
              <a:srgbClr val="EBD7C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0" name="Google Shape;330;p25"/>
          <p:cNvSpPr/>
          <p:nvPr/>
        </p:nvSpPr>
        <p:spPr>
          <a:xfrm>
            <a:off x="6229350" y="4050000"/>
            <a:ext cx="5353050" cy="1450000"/>
          </a:xfrm>
          <a:prstGeom prst="roundRect">
            <a:avLst>
              <a:gd name="adj" fmla="val 11475"/>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1" name="Google Shape;331;p25"/>
          <p:cNvSpPr txBox="1"/>
          <p:nvPr/>
        </p:nvSpPr>
        <p:spPr>
          <a:xfrm>
            <a:off x="609600" y="580000"/>
            <a:ext cx="11582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Plus Jakarta Sans"/>
                <a:ea typeface="Plus Jakarta Sans"/>
                <a:cs typeface="Plus Jakarta Sans"/>
                <a:sym typeface="Plus Jakarta Sans"/>
              </a:rPr>
              <a:t>RESULTS &amp; QUANTITATIVE VALIDATION</a:t>
            </a:r>
            <a:endParaRPr/>
          </a:p>
        </p:txBody>
      </p:sp>
      <p:sp>
        <p:nvSpPr>
          <p:cNvPr id="332" name="Google Shape;332;p25"/>
          <p:cNvSpPr txBox="1"/>
          <p:nvPr/>
        </p:nvSpPr>
        <p:spPr>
          <a:xfrm>
            <a:off x="609600" y="840000"/>
            <a:ext cx="1158240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Benchmarks: Accuracy, Throughput &amp; Scaling</a:t>
            </a:r>
            <a:endParaRPr/>
          </a:p>
        </p:txBody>
      </p:sp>
      <p:sp>
        <p:nvSpPr>
          <p:cNvPr id="333" name="Google Shape;333;p25"/>
          <p:cNvSpPr txBox="1"/>
          <p:nvPr/>
        </p:nvSpPr>
        <p:spPr>
          <a:xfrm>
            <a:off x="847725" y="2050000"/>
            <a:ext cx="49720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50" b="1">
                <a:solidFill>
                  <a:srgbClr val="236B5E"/>
                </a:solidFill>
              </a:defRPr>
            </a:pPr>
            <a:r>
              <a:rPr lang="en-US" sz="1650" b="1" i="0" u="none" strike="noStrike" cap="none">
                <a:solidFill>
                  <a:srgbClr val="236B5E"/>
                </a:solidFill>
                <a:latin typeface="Plus Jakarta Sans"/>
                <a:ea typeface="Plus Jakarta Sans"/>
                <a:cs typeface="Plus Jakarta Sans"/>
                <a:sym typeface="Plus Jakarta Sans"/>
              </a:rPr>
              <a:t>Synthetic Monte Carlo Validation (500 runs)</a:t>
            </a:r>
            <a:endParaRPr/>
          </a:p>
        </p:txBody>
      </p:sp>
      <p:sp>
        <p:nvSpPr>
          <p:cNvPr id="334" name="Google Shape;334;p25"/>
          <p:cNvSpPr txBox="1"/>
          <p:nvPr/>
        </p:nvSpPr>
        <p:spPr>
          <a:xfrm>
            <a:off x="847725" y="2380000"/>
            <a:ext cx="4972050" cy="6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Evaluated plane extraction under Gaussian noise σ ∈ [10, 100] m and up to 30% uniform outlier contamination.</a:t>
            </a:r>
            <a:endParaRPr/>
          </a:p>
        </p:txBody>
      </p:sp>
      <p:sp>
        <p:nvSpPr>
          <p:cNvPr id="335" name="Google Shape;335;p25"/>
          <p:cNvSpPr txBox="1"/>
          <p:nvPr/>
        </p:nvSpPr>
        <p:spPr>
          <a:xfrm>
            <a:off x="847725" y="4180000"/>
            <a:ext cx="49720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50" b="1">
                <a:solidFill>
                  <a:srgbClr val="822433"/>
                </a:solidFill>
              </a:defRPr>
            </a:pPr>
            <a:r>
              <a:rPr lang="en-US" sz="1650" b="1" i="0" u="none" strike="noStrike" cap="none">
                <a:solidFill>
                  <a:srgbClr val="822433"/>
                </a:solidFill>
                <a:latin typeface="Plus Jakarta Sans"/>
                <a:ea typeface="Plus Jakarta Sans"/>
                <a:cs typeface="Plus Jakarta Sans"/>
                <a:sym typeface="Plus Jakarta Sans"/>
              </a:rPr>
              <a:t>Real Catalogue Testing (Campi Flegrei)</a:t>
            </a:r>
            <a:endParaRPr/>
          </a:p>
        </p:txBody>
      </p:sp>
      <p:sp>
        <p:nvSpPr>
          <p:cNvPr id="336" name="Google Shape;336;p25"/>
          <p:cNvSpPr txBox="1"/>
          <p:nvPr/>
        </p:nvSpPr>
        <p:spPr>
          <a:xfrm>
            <a:off x="847725" y="4500000"/>
            <a:ext cx="4972050" cy="8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1">
                <a:solidFill>
                  <a:srgbClr val="1C1819"/>
                </a:solidFill>
              </a:defRPr>
            </a:pPr>
            <a:r>
              <a:rPr lang="en-US" sz="1300" b="1" i="0" u="none" strike="noStrike" cap="none">
                <a:solidFill>
                  <a:srgbClr val="1C1819"/>
                </a:solidFill>
                <a:latin typeface="Plus Jakarta Sans"/>
                <a:ea typeface="Plus Jakarta Sans"/>
                <a:cs typeface="Plus Jakarta Sans"/>
                <a:sym typeface="Plus Jakarta Sans"/>
              </a:rPr>
              <a:t>Tested on 3,225 INGV events (2014–2024) and stress-tested up to 50,000 synthetic hypocentres maintaining 55–60 FPS.</a:t>
            </a:r>
            <a:endParaRPr/>
          </a:p>
        </p:txBody>
      </p:sp>
      <p:sp>
        <p:nvSpPr>
          <p:cNvPr id="337" name="Google Shape;337;p25"/>
          <p:cNvSpPr txBox="1"/>
          <p:nvPr/>
        </p:nvSpPr>
        <p:spPr>
          <a:xfrm>
            <a:off x="6467475" y="2050000"/>
            <a:ext cx="49720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50" b="1">
                <a:solidFill>
                  <a:srgbClr val="B85828"/>
                </a:solidFill>
              </a:defRPr>
            </a:pPr>
            <a:r>
              <a:rPr lang="en-US" sz="1650" b="1" i="0" u="none" strike="noStrike" cap="none">
                <a:solidFill>
                  <a:srgbClr val="B85828"/>
                </a:solidFill>
                <a:latin typeface="Plus Jakarta Sans"/>
                <a:ea typeface="Plus Jakarta Sans"/>
                <a:cs typeface="Plus Jakarta Sans"/>
                <a:sym typeface="Plus Jakarta Sans"/>
              </a:rPr>
              <a:t>Serialization &amp; Memory Footprint</a:t>
            </a:r>
            <a:endParaRPr/>
          </a:p>
        </p:txBody>
      </p:sp>
      <p:sp>
        <p:nvSpPr>
          <p:cNvPr id="338" name="Google Shape;338;p25"/>
          <p:cNvSpPr txBox="1"/>
          <p:nvPr/>
        </p:nvSpPr>
        <p:spPr>
          <a:xfrm>
            <a:off x="6467475" y="4180000"/>
            <a:ext cx="4972050" cy="25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650" b="1">
                <a:solidFill>
                  <a:srgbClr val="204060"/>
                </a:solidFill>
              </a:defRPr>
            </a:pPr>
            <a:r>
              <a:rPr lang="en-US" sz="1650" b="1" i="0" u="none" strike="noStrike" cap="none">
                <a:solidFill>
                  <a:srgbClr val="204060"/>
                </a:solidFill>
                <a:latin typeface="Plus Jakarta Sans"/>
                <a:ea typeface="Plus Jakarta Sans"/>
                <a:cs typeface="Plus Jakarta Sans"/>
                <a:sym typeface="Plus Jakarta Sans"/>
              </a:rPr>
              <a:t>Algorithmic Throughput</a:t>
            </a:r>
            <a:endParaRPr/>
          </a:p>
        </p:txBody>
      </p:sp>
      <p:sp>
        <p:nvSpPr>
          <p:cNvPr id="339" name="Google Shape;339;p25"/>
          <p:cNvSpPr txBox="1"/>
          <p:nvPr/>
        </p:nvSpPr>
        <p:spPr>
          <a:xfrm>
            <a:off x="6467475" y="4500000"/>
            <a:ext cx="4972050" cy="850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defRPr sz="1300" b="1">
                <a:solidFill>
                  <a:srgbClr val="1C1819"/>
                </a:solidFill>
              </a:defRPr>
            </a:pPr>
            <a:r>
              <a:rPr lang="en-US" sz="1300" b="1" i="0" u="none" strike="noStrike" cap="none">
                <a:solidFill>
                  <a:srgbClr val="1C1819"/>
                </a:solidFill>
                <a:latin typeface="Plus Jakarta Sans"/>
                <a:ea typeface="Plus Jakarta Sans"/>
                <a:cs typeface="Plus Jakarta Sans"/>
                <a:sym typeface="Plus Jakarta Sans"/>
              </a:rPr>
              <a:t>Cylinder grid partitioning executes in 36.5 ms and MiniBatchKMeans in 301 ms for 50,000 hypocentres.</a:t>
            </a:r>
            <a:endParaRPr/>
          </a:p>
        </p:txBody>
      </p:sp>
      <p:sp>
        <p:nvSpPr>
          <p:cNvPr id="340" name="Google Shape;340;p25"/>
          <p:cNvSpPr txBox="1"/>
          <p:nvPr/>
        </p:nvSpPr>
        <p:spPr>
          <a:xfrm>
            <a:off x="847725" y="3100000"/>
            <a:ext cx="1600000" cy="42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400" b="1">
                <a:solidFill>
                  <a:srgbClr val="236B5E"/>
                </a:solidFill>
              </a:defRPr>
            </a:pPr>
            <a:r>
              <a:rPr lang="en-US" sz="2400" b="1" i="0" u="none" strike="noStrike" cap="none">
                <a:solidFill>
                  <a:srgbClr val="236B5E"/>
                </a:solidFill>
                <a:latin typeface="Plus Jakarta Sans"/>
                <a:ea typeface="Plus Jakarta Sans"/>
                <a:cs typeface="Plus Jakarta Sans"/>
                <a:sym typeface="Plus Jakarta Sans"/>
              </a:rPr>
              <a:t>&lt; 0.51°</a:t>
            </a:r>
            <a:endParaRPr/>
          </a:p>
        </p:txBody>
      </p:sp>
      <p:sp>
        <p:nvSpPr>
          <p:cNvPr id="341" name="Google Shape;341;p25"/>
          <p:cNvSpPr txBox="1"/>
          <p:nvPr/>
        </p:nvSpPr>
        <p:spPr>
          <a:xfrm>
            <a:off x="2800000" y="3100000"/>
            <a:ext cx="1600000" cy="42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400" b="1">
                <a:solidFill>
                  <a:srgbClr val="236B5E"/>
                </a:solidFill>
              </a:defRPr>
            </a:pPr>
            <a:r>
              <a:rPr lang="en-US" sz="2400" b="1" i="0" u="none" strike="noStrike" cap="none">
                <a:solidFill>
                  <a:srgbClr val="236B5E"/>
                </a:solidFill>
                <a:latin typeface="Plus Jakarta Sans"/>
                <a:ea typeface="Plus Jakarta Sans"/>
                <a:cs typeface="Plus Jakarta Sans"/>
                <a:sym typeface="Plus Jakarta Sans"/>
              </a:rPr>
              <a:t>&lt; 0.93°</a:t>
            </a:r>
            <a:endParaRPr/>
          </a:p>
        </p:txBody>
      </p:sp>
      <p:sp>
        <p:nvSpPr>
          <p:cNvPr id="342" name="Google Shape;342;p25"/>
          <p:cNvSpPr txBox="1"/>
          <p:nvPr/>
        </p:nvSpPr>
        <p:spPr>
          <a:xfrm>
            <a:off x="6467475" y="2450000"/>
            <a:ext cx="4972050" cy="3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Payload reduction: 4.75 MB JSON vs 976 KB Float32 (-79.4%).</a:t>
            </a:r>
            <a:endParaRPr/>
          </a:p>
        </p:txBody>
      </p:sp>
      <p:sp>
        <p:nvSpPr>
          <p:cNvPr id="343" name="Google Shape;343;p25"/>
          <p:cNvSpPr txBox="1"/>
          <p:nvPr/>
        </p:nvSpPr>
        <p:spPr>
          <a:xfrm>
            <a:off x="6467475" y="2850000"/>
            <a:ext cx="4972050" cy="3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300" b="1">
                <a:solidFill>
                  <a:srgbClr val="B85828"/>
                </a:solidFill>
              </a:defRPr>
            </a:pPr>
            <a:r>
              <a:rPr lang="en-US" sz="1300" b="1" i="0" u="none" strike="noStrike" cap="none">
                <a:solidFill>
                  <a:srgbClr val="B85828"/>
                </a:solidFill>
                <a:latin typeface="Plus Jakarta Sans"/>
                <a:ea typeface="Plus Jakarta Sans"/>
                <a:cs typeface="Plus Jakarta Sans"/>
                <a:sym typeface="Plus Jakarta Sans"/>
              </a:rPr>
              <a:t>Browser parse time: Dropped from 39.7 ms to &lt; 0.01 ms.</a:t>
            </a:r>
            <a:endParaRPr/>
          </a:p>
        </p:txBody>
      </p:sp>
      <p:sp>
        <p:nvSpPr>
          <p:cNvPr id="344" name="Google Shape;344;p25"/>
          <p:cNvSpPr txBox="1"/>
          <p:nvPr/>
        </p:nvSpPr>
        <p:spPr>
          <a:xfrm>
            <a:off x="6467475" y="3250000"/>
            <a:ext cx="4972050" cy="3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300" b="0">
                <a:solidFill>
                  <a:srgbClr val="1C1819"/>
                </a:solidFill>
              </a:defRPr>
            </a:pPr>
            <a:r>
              <a:rPr lang="en-US" sz="1300" b="0" i="0" u="none" strike="noStrike" cap="none">
                <a:solidFill>
                  <a:srgbClr val="1C1819"/>
                </a:solidFill>
                <a:latin typeface="Plus Jakarta Sans"/>
                <a:ea typeface="Plus Jakarta Sans"/>
                <a:cs typeface="Plus Jakarta Sans"/>
                <a:sym typeface="Plus Jakarta Sans"/>
              </a:rPr>
              <a:t>Bounded memory: FIFO stores hold RAM strictly under 500 MB.</a:t>
            </a:r>
            <a:endParaRPr/>
          </a:p>
        </p:txBody>
      </p:sp>
      <p:sp>
        <p:nvSpPr>
          <p:cNvPr id="345" name="Google Shape;345;p25"/>
          <p:cNvSpPr txBox="1"/>
          <p:nvPr/>
        </p:nvSpPr>
        <p:spPr>
          <a:xfrm>
            <a:off x="847725" y="3520000"/>
            <a:ext cx="2000000" cy="2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5A5052"/>
                </a:solidFill>
              </a:defRPr>
            </a:pPr>
            <a:r>
              <a:rPr lang="en-US" sz="1100" b="1" i="0" u="none" strike="noStrike" cap="none">
                <a:solidFill>
                  <a:srgbClr val="5A5052"/>
                </a:solidFill>
                <a:latin typeface="Plus Jakarta Sans"/>
                <a:ea typeface="Plus Jakarta Sans"/>
                <a:cs typeface="Plus Jakarta Sans"/>
                <a:sym typeface="Plus Jakarta Sans"/>
              </a:rPr>
              <a:t>Dip MAE (100m noise)</a:t>
            </a:r>
            <a:endParaRPr/>
          </a:p>
        </p:txBody>
      </p:sp>
      <p:sp>
        <p:nvSpPr>
          <p:cNvPr id="346" name="Google Shape;346;p25"/>
          <p:cNvSpPr txBox="1"/>
          <p:nvPr/>
        </p:nvSpPr>
        <p:spPr>
          <a:xfrm>
            <a:off x="2800000" y="3520000"/>
            <a:ext cx="2000000" cy="20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5A5052"/>
                </a:solidFill>
              </a:defRPr>
            </a:pPr>
            <a:r>
              <a:rPr lang="en-US" sz="1100" b="1" i="0" u="none" strike="noStrike" cap="none">
                <a:solidFill>
                  <a:srgbClr val="5A5052"/>
                </a:solidFill>
                <a:latin typeface="Plus Jakarta Sans"/>
                <a:ea typeface="Plus Jakarta Sans"/>
                <a:cs typeface="Plus Jakarta Sans"/>
                <a:sym typeface="Plus Jakarta Sans"/>
              </a:rPr>
              <a:t>Strike MAE (100m noise)</a:t>
            </a:r>
            <a:endParaRPr/>
          </a:p>
        </p:txBody>
      </p:sp>
      <p:pic>
        <p:nvPicPr>
          <p:cNvPr id="347" name="Picture 346" descr="sapienza_logo.png"/>
          <p:cNvPicPr>
            <a:picLocks noChangeAspect="1"/>
          </p:cNvPicPr>
          <p:nvPr/>
        </p:nvPicPr>
        <p:blipFill>
          <a:blip r:embed="rId3"/>
          <a:stretch>
            <a:fillRect/>
          </a:stretch>
        </p:blipFill>
        <p:spPr>
          <a:xfrm>
            <a:off x="9750000" y="400000"/>
            <a:ext cx="1900000" cy="570000"/>
          </a:xfrm>
          <a:prstGeom prst="rect">
            <a:avLst/>
          </a:prstGeom>
        </p:spPr>
      </p:pic>
      <p:sp>
        <p:nvSpPr>
          <p:cNvPr id="348"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2"/>
        </a:solidFill>
        <a:effectLst/>
      </p:bgPr>
    </p:bg>
    <p:spTree>
      <p:nvGrpSpPr>
        <p:cNvPr id="1" name="Shape 350"/>
        <p:cNvGrpSpPr/>
        <p:nvPr/>
      </p:nvGrpSpPr>
      <p:grpSpPr>
        <a:xfrm>
          <a:off x="0" y="0"/>
          <a:ext cx="0" cy="0"/>
          <a:chOff x="0" y="0"/>
          <a:chExt cx="0" cy="0"/>
        </a:xfrm>
      </p:grpSpPr>
      <p:sp>
        <p:nvSpPr>
          <p:cNvPr id="351" name="Google Shape;351;p26"/>
          <p:cNvSpPr/>
          <p:nvPr/>
        </p:nvSpPr>
        <p:spPr>
          <a:xfrm>
            <a:off x="762000" y="5572125"/>
            <a:ext cx="10668000" cy="676275"/>
          </a:xfrm>
          <a:prstGeom prst="rect">
            <a:avLst/>
          </a:prstGeom>
          <a:solidFill>
            <a:srgbClr val="FFFFFF"/>
          </a:solidFill>
          <a:ln w="12700">
            <a:solidFill>
              <a:srgbClr val="E4DED4"/>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3" name="Google Shape;353;p26"/>
          <p:cNvSpPr/>
          <p:nvPr/>
        </p:nvSpPr>
        <p:spPr>
          <a:xfrm>
            <a:off x="762000" y="5572125"/>
            <a:ext cx="10668000" cy="30000"/>
          </a:xfrm>
          <a:prstGeom prst="rect">
            <a:avLst/>
          </a:prstGeom>
          <a:solidFill>
            <a:srgbClr val="8224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4" name="Google Shape;354;p26"/>
          <p:cNvSpPr/>
          <p:nvPr/>
        </p:nvSpPr>
        <p:spPr>
          <a:xfrm>
            <a:off x="762000" y="2200000"/>
            <a:ext cx="5162550" cy="2700000"/>
          </a:xfrm>
          <a:prstGeom prst="roundRect">
            <a:avLst>
              <a:gd name="adj" fmla="val 9427"/>
            </a:avLst>
          </a:prstGeom>
          <a:solidFill>
            <a:srgbClr val="F2F8F6"/>
          </a:solidFill>
          <a:ln w="12700" cap="flat" cmpd="sng">
            <a:solidFill>
              <a:srgbClr val="CDE0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5" name="Google Shape;355;p26"/>
          <p:cNvSpPr/>
          <p:nvPr/>
        </p:nvSpPr>
        <p:spPr>
          <a:xfrm>
            <a:off x="6267450" y="2200000"/>
            <a:ext cx="5162550" cy="2700000"/>
          </a:xfrm>
          <a:prstGeom prst="roundRect">
            <a:avLst>
              <a:gd name="adj" fmla="val 9427"/>
            </a:avLst>
          </a:prstGeom>
          <a:solidFill>
            <a:srgbClr val="F2F6FA"/>
          </a:solidFill>
          <a:ln w="12700" cap="flat" cmpd="sng">
            <a:solidFill>
              <a:srgbClr val="D0DCE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6" name="Google Shape;356;p26" descr="image.png"/>
          <p:cNvPicPr preferRelativeResize="0"/>
          <p:nvPr/>
        </p:nvPicPr>
        <p:blipFill rotWithShape="1">
          <a:blip r:embed="rId3">
            <a:alphaModFix/>
          </a:blip>
          <a:srcRect/>
          <a:stretch/>
        </p:blipFill>
        <p:spPr>
          <a:xfrm>
            <a:off x="1000125" y="2470000"/>
            <a:ext cx="171450" cy="171450"/>
          </a:xfrm>
          <a:prstGeom prst="rect">
            <a:avLst/>
          </a:prstGeom>
          <a:noFill/>
          <a:ln>
            <a:noFill/>
          </a:ln>
        </p:spPr>
      </p:pic>
      <p:pic>
        <p:nvPicPr>
          <p:cNvPr id="357" name="Google Shape;357;p26" descr="image.png"/>
          <p:cNvPicPr preferRelativeResize="0"/>
          <p:nvPr/>
        </p:nvPicPr>
        <p:blipFill rotWithShape="1">
          <a:blip r:embed="rId4">
            <a:alphaModFix/>
          </a:blip>
          <a:srcRect/>
          <a:stretch/>
        </p:blipFill>
        <p:spPr>
          <a:xfrm>
            <a:off x="6505575" y="2470000"/>
            <a:ext cx="171450" cy="171450"/>
          </a:xfrm>
          <a:prstGeom prst="rect">
            <a:avLst/>
          </a:prstGeom>
          <a:noFill/>
          <a:ln>
            <a:noFill/>
          </a:ln>
        </p:spPr>
      </p:pic>
      <p:sp>
        <p:nvSpPr>
          <p:cNvPr id="358" name="Google Shape;358;p26"/>
          <p:cNvSpPr txBox="1"/>
          <p:nvPr/>
        </p:nvSpPr>
        <p:spPr>
          <a:xfrm>
            <a:off x="762000" y="580000"/>
            <a:ext cx="4179093"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100" b="1">
                <a:solidFill>
                  <a:srgbClr val="204060"/>
                </a:solidFill>
              </a:defRPr>
            </a:pPr>
            <a:r>
              <a:rPr lang="en-US" sz="1100" b="1" i="0" u="none" strike="noStrike" cap="none">
                <a:solidFill>
                  <a:srgbClr val="204060"/>
                </a:solidFill>
                <a:latin typeface="Cinzel"/>
                <a:ea typeface="Cinzel"/>
                <a:cs typeface="Cinzel"/>
                <a:sym typeface="Cinzel"/>
              </a:rPr>
              <a:t>SAPIENZA UNIVERSITY OF ROME</a:t>
            </a:r>
            <a:endParaRPr/>
          </a:p>
        </p:txBody>
      </p:sp>
      <p:sp>
        <p:nvSpPr>
          <p:cNvPr id="360" name="Google Shape;360;p26"/>
          <p:cNvSpPr txBox="1"/>
          <p:nvPr/>
        </p:nvSpPr>
        <p:spPr>
          <a:xfrm>
            <a:off x="762000" y="840000"/>
            <a:ext cx="1143000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600" b="1">
                <a:solidFill>
                  <a:srgbClr val="822433"/>
                </a:solidFill>
              </a:defRPr>
            </a:pPr>
            <a:r>
              <a:rPr lang="en-US" sz="2600" b="1" i="0" u="none" strike="noStrike" cap="none">
                <a:solidFill>
                  <a:srgbClr val="822433"/>
                </a:solidFill>
                <a:latin typeface="Cinzel"/>
                <a:ea typeface="Cinzel"/>
                <a:cs typeface="Cinzel"/>
                <a:sym typeface="Cinzel"/>
              </a:rPr>
              <a:t>Conclusions &amp; Future Work</a:t>
            </a:r>
            <a:endParaRPr/>
          </a:p>
        </p:txBody>
      </p:sp>
      <p:sp>
        <p:nvSpPr>
          <p:cNvPr id="361" name="Google Shape;361;p26"/>
          <p:cNvSpPr txBox="1"/>
          <p:nvPr/>
        </p:nvSpPr>
        <p:spPr>
          <a:xfrm>
            <a:off x="762000" y="5810250"/>
            <a:ext cx="386953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500" b="1" i="0" u="none" strike="noStrike" cap="none">
                <a:solidFill>
                  <a:srgbClr val="822433"/>
                </a:solidFill>
                <a:latin typeface="Plus Jakarta Sans"/>
                <a:ea typeface="Plus Jakarta Sans"/>
                <a:cs typeface="Plus Jakarta Sans"/>
                <a:sym typeface="Plus Jakarta Sans"/>
              </a:rPr>
              <a:t>Thank you for your attention</a:t>
            </a:r>
            <a:endParaRPr/>
          </a:p>
        </p:txBody>
      </p:sp>
      <p:sp>
        <p:nvSpPr>
          <p:cNvPr id="362" name="Google Shape;362;p26"/>
          <p:cNvSpPr txBox="1"/>
          <p:nvPr/>
        </p:nvSpPr>
        <p:spPr>
          <a:xfrm>
            <a:off x="762000" y="6067425"/>
            <a:ext cx="3869531"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b="1">
                <a:solidFill>
                  <a:srgbClr val="822433"/>
                </a:solidFill>
              </a:defRPr>
            </a:pPr>
            <a:r>
              <a:rPr lang="en-US" sz="1125" b="1" i="0" u="none" strike="noStrike" cap="none">
                <a:solidFill>
                  <a:srgbClr val="822433"/>
                </a:solidFill>
                <a:latin typeface="Plus Jakarta Sans"/>
                <a:ea typeface="Plus Jakarta Sans"/>
                <a:cs typeface="Plus Jakarta Sans"/>
                <a:sym typeface="Plus Jakarta Sans"/>
              </a:rPr>
              <a:t>Alessio Curcio • alessio.curcio04@gmail.com</a:t>
            </a:r>
            <a:endParaRPr/>
          </a:p>
        </p:txBody>
      </p:sp>
      <p:sp>
        <p:nvSpPr>
          <p:cNvPr id="363" name="Google Shape;363;p26"/>
          <p:cNvSpPr txBox="1"/>
          <p:nvPr/>
        </p:nvSpPr>
        <p:spPr>
          <a:xfrm>
            <a:off x="6107906" y="5943600"/>
            <a:ext cx="5322093" cy="1714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defRPr b="0">
                <a:solidFill>
                  <a:srgbClr val="2D2628"/>
                </a:solidFill>
              </a:defRPr>
            </a:pPr>
            <a:r>
              <a:rPr lang="en-US" sz="1050" b="0" i="0" u="none" strike="noStrike" cap="none">
                <a:solidFill>
                  <a:srgbClr val="2D2628"/>
                </a:solidFill>
                <a:latin typeface="Plus Jakarta Sans"/>
                <a:ea typeface="Plus Jakarta Sans"/>
                <a:cs typeface="Plus Jakarta Sans"/>
                <a:sym typeface="Plus Jakarta Sans"/>
              </a:rPr>
              <a:t>Faculty of Information Engineering, Computer Science and Statistics</a:t>
            </a:r>
            <a:endParaRPr/>
          </a:p>
        </p:txBody>
      </p:sp>
      <p:sp>
        <p:nvSpPr>
          <p:cNvPr id="364" name="Google Shape;364;p26"/>
          <p:cNvSpPr txBox="1"/>
          <p:nvPr/>
        </p:nvSpPr>
        <p:spPr>
          <a:xfrm>
            <a:off x="1000125" y="2450000"/>
            <a:ext cx="6150768" cy="219075"/>
          </a:xfrm>
          <a:prstGeom prst="rect">
            <a:avLst/>
          </a:prstGeom>
          <a:noFill/>
          <a:ln>
            <a:noFill/>
          </a:ln>
        </p:spPr>
        <p:txBody>
          <a:bodyPr spcFirstLastPara="1" wrap="square" lIns="247650" tIns="0" rIns="0" bIns="0" anchor="t" anchorCtr="0">
            <a:spAutoFit/>
          </a:bodyPr>
          <a:lstStyle/>
          <a:p>
            <a:pPr marL="0" marR="0" lvl="0" indent="0" algn="l" rtl="0">
              <a:spcBef>
                <a:spcPts val="0"/>
              </a:spcBef>
              <a:spcAft>
                <a:spcPts val="0"/>
              </a:spcAft>
              <a:buNone/>
              <a:defRPr sz="1700" b="1">
                <a:solidFill>
                  <a:srgbClr val="236B5E"/>
                </a:solidFill>
              </a:defRPr>
            </a:pPr>
            <a:r>
              <a:rPr lang="en-US" sz="1700" b="1" i="0" u="none" strike="noStrike" cap="none">
                <a:solidFill>
                  <a:srgbClr val="236B5E"/>
                </a:solidFill>
                <a:latin typeface="Plus Jakarta Sans"/>
                <a:ea typeface="Plus Jakarta Sans"/>
                <a:cs typeface="Plus Jakarta Sans"/>
                <a:sym typeface="Plus Jakarta Sans"/>
              </a:rPr>
              <a:t>Validated Contributions</a:t>
            </a:r>
            <a:endParaRPr/>
          </a:p>
        </p:txBody>
      </p:sp>
      <p:sp>
        <p:nvSpPr>
          <p:cNvPr id="365" name="Google Shape;365;p26"/>
          <p:cNvSpPr txBox="1"/>
          <p:nvPr/>
        </p:nvSpPr>
        <p:spPr>
          <a:xfrm>
            <a:off x="1000125" y="2850000"/>
            <a:ext cx="4781550" cy="18000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defRPr sz="1400" b="0">
                <a:solidFill>
                  <a:srgbClr val="1C1819"/>
                </a:solidFill>
              </a:defRPr>
            </a:pPr>
            <a:r>
              <a:rPr lang="en-US" sz="1400" b="0" i="0" u="none" strike="noStrike" cap="none">
                <a:solidFill>
                  <a:srgbClr val="1C1819"/>
                </a:solidFill>
                <a:latin typeface="Plus Jakarta Sans"/>
                <a:ea typeface="Plus Jakarta Sans"/>
                <a:cs typeface="Plus Jakarta Sans"/>
                <a:sym typeface="Plus Jakarta Sans"/>
              </a:rPr>
              <a:t>Unified desktop architecture delivering 4D visualization, machine learning clustering, and automated fault plane extraction with sub-second response times.</a:t>
            </a:r>
            <a:endParaRPr/>
          </a:p>
        </p:txBody>
      </p:sp>
      <p:sp>
        <p:nvSpPr>
          <p:cNvPr id="366" name="Google Shape;366;p26"/>
          <p:cNvSpPr txBox="1"/>
          <p:nvPr/>
        </p:nvSpPr>
        <p:spPr>
          <a:xfrm>
            <a:off x="6505575" y="2450000"/>
            <a:ext cx="5686425" cy="219075"/>
          </a:xfrm>
          <a:prstGeom prst="rect">
            <a:avLst/>
          </a:prstGeom>
          <a:noFill/>
          <a:ln>
            <a:noFill/>
          </a:ln>
        </p:spPr>
        <p:txBody>
          <a:bodyPr spcFirstLastPara="1" wrap="square" lIns="247650" tIns="0" rIns="0" bIns="0" anchor="t" anchorCtr="0">
            <a:spAutoFit/>
          </a:bodyPr>
          <a:lstStyle/>
          <a:p>
            <a:pPr marL="0" marR="0" lvl="0" indent="0" algn="l" rtl="0">
              <a:spcBef>
                <a:spcPts val="0"/>
              </a:spcBef>
              <a:spcAft>
                <a:spcPts val="0"/>
              </a:spcAft>
              <a:buNone/>
              <a:defRPr sz="1700" b="1">
                <a:solidFill>
                  <a:srgbClr val="204060"/>
                </a:solidFill>
              </a:defRPr>
            </a:pPr>
            <a:r>
              <a:rPr lang="en-US" sz="1700" b="1" i="0" u="none" strike="noStrike" cap="none">
                <a:solidFill>
                  <a:srgbClr val="204060"/>
                </a:solidFill>
                <a:latin typeface="Plus Jakarta Sans"/>
                <a:ea typeface="Plus Jakarta Sans"/>
                <a:cs typeface="Plus Jakarta Sans"/>
                <a:sym typeface="Plus Jakarta Sans"/>
              </a:rPr>
              <a:t>Future Extensions</a:t>
            </a:r>
            <a:endParaRPr/>
          </a:p>
        </p:txBody>
      </p:sp>
      <p:sp>
        <p:nvSpPr>
          <p:cNvPr id="367" name="Google Shape;367;p26"/>
          <p:cNvSpPr txBox="1"/>
          <p:nvPr/>
        </p:nvSpPr>
        <p:spPr>
          <a:xfrm>
            <a:off x="6505575" y="2850000"/>
            <a:ext cx="4781550" cy="18000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defRPr sz="1400" b="0">
                <a:solidFill>
                  <a:srgbClr val="1C1819"/>
                </a:solidFill>
              </a:defRPr>
            </a:pPr>
            <a:r>
              <a:rPr lang="en-US" sz="1400" b="0" i="0" u="none" strike="noStrike" cap="none">
                <a:solidFill>
                  <a:srgbClr val="1C1819"/>
                </a:solidFill>
                <a:latin typeface="Plus Jakarta Sans"/>
                <a:ea typeface="Plus Jakarta Sans"/>
                <a:cs typeface="Plus Jakarta Sans"/>
                <a:sym typeface="Plus Jakarta Sans"/>
              </a:rPr>
              <a:t>Live SeedLink streaming for seismic surveillance rooms, focal mechanism tensor solutions, Coulomb static stress transfer maps, and Deck.gl WebGL rendering.</a:t>
            </a:r>
            <a:endParaRPr/>
          </a:p>
        </p:txBody>
      </p:sp>
      <p:pic>
        <p:nvPicPr>
          <p:cNvPr id="368" name="Picture 367" descr="sapienza_logo.png"/>
          <p:cNvPicPr>
            <a:picLocks noChangeAspect="1"/>
          </p:cNvPicPr>
          <p:nvPr/>
        </p:nvPicPr>
        <p:blipFill>
          <a:blip r:embed="rId5"/>
          <a:stretch>
            <a:fillRect/>
          </a:stretch>
        </p:blipFill>
        <p:spPr>
          <a:xfrm>
            <a:off x="9750000" y="400000"/>
            <a:ext cx="1900000" cy="570000"/>
          </a:xfrm>
          <a:prstGeom prst="rect">
            <a:avLst/>
          </a:prstGeom>
        </p:spPr>
      </p:pic>
      <p:sp>
        <p:nvSpPr>
          <p:cNvPr id="369" name="SapienzaTopStripe"/>
          <p:cNvSpPr/>
          <p:nvPr/>
        </p:nvSpPr>
        <p:spPr>
          <a:xfrm>
            <a:off x="0" y="0"/>
            <a:ext cx="12192000" cy="76200"/>
          </a:xfrm>
          <a:prstGeom prst="rect">
            <a:avLst/>
          </a:prstGeom>
          <a:solidFill>
            <a:srgbClr val="82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4752</Words>
  <Application>Microsoft Office PowerPoint</Application>
  <PresentationFormat>Widescreen</PresentationFormat>
  <Paragraphs>370</Paragraphs>
  <Slides>14</Slides>
  <Notes>14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Arial</vt:lpstr>
      <vt:lpstr>Calibri</vt:lpstr>
      <vt:lpstr>Plus Jakarta Sans</vt:lpstr>
      <vt:lpstr>Cinzel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Alessio Curcio</cp:lastModifiedBy>
  <cp:revision>1</cp:revision>
  <dcterms:modified xsi:type="dcterms:W3CDTF">2026-10-12T14:43:44Z</dcterms:modified>
</cp:coreProperties>
</file>