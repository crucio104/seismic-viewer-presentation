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3" r:id="rId8"/>
    <p:sldId id="262" r:id="rId9"/>
    <p:sldId id="266" r:id="rId10"/>
    <p:sldId id="264" r:id="rId11"/>
    <p:sldId id="265" r:id="rId12"/>
    <p:sldId id="267" r:id="rId13"/>
    <p:sldId id="268" r:id="rId14"/>
    <p:sldId id="269" r:id="rId15"/>
    <p:sldId id="270" r:id="rId16"/>
  </p:sldIdLst>
  <p:sldSz cx="12192000" cy="6858000"/>
  <p:notesSz cx="6858000" cy="9144000"/>
  <p:embeddedFontLst>
    <p:embeddedFont>
      <p:font typeface="Cambria Math" panose="02040503050406030204" pitchFamily="18" charset="0"/>
      <p:regular r:id="rId18"/>
    </p:embeddedFont>
    <p:embeddedFont>
      <p:font typeface="Cinzel" panose="020B0604020202020204" charset="0"/>
      <p:regular r:id="rId19"/>
      <p:bold r:id="rId20"/>
    </p:embeddedFont>
    <p:embeddedFont>
      <p:font typeface="Plus Jakarta Sans" panose="020B0604020202020204" charset="0"/>
      <p:regular r:id="rId21"/>
      <p:bold r:id="rId22"/>
      <p:italic r:id="rId23"/>
      <p:boldItalic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9011E"/>
    <a:srgbClr val="750133"/>
    <a:srgbClr val="960000"/>
    <a:srgbClr val="4674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349" autoAdjust="0"/>
  </p:normalViewPr>
  <p:slideViewPr>
    <p:cSldViewPr snapToGrid="0">
      <p:cViewPr varScale="1">
        <p:scale>
          <a:sx n="69" d="100"/>
          <a:sy n="69" d="100"/>
        </p:scale>
        <p:origin x="2154" y="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 | TIME: 0:00 - 0:30 | TARGET: 30 SECONDS]</a:t>
            </a:r>
          </a:p>
          <a:p>
            <a:endParaRPr dirty="0"/>
          </a:p>
          <a:p>
            <a:r>
              <a:rPr dirty="0"/>
              <a:t>SPEECH (EN):</a:t>
            </a:r>
          </a:p>
          <a:p>
            <a:r>
              <a:rPr dirty="0"/>
              <a:t>"Hello everyone, </a:t>
            </a:r>
            <a:r>
              <a:rPr lang="it-IT" dirty="0" err="1"/>
              <a:t>I’m</a:t>
            </a:r>
            <a:r>
              <a:rPr lang="it-IT" dirty="0"/>
              <a:t> </a:t>
            </a:r>
            <a:r>
              <a:rPr dirty="0"/>
              <a:t>Alessio</a:t>
            </a:r>
            <a:r>
              <a:rPr lang="it-IT" dirty="0"/>
              <a:t> Curcio</a:t>
            </a:r>
            <a:r>
              <a:rPr dirty="0"/>
              <a:t>, and today I am </a:t>
            </a:r>
            <a:r>
              <a:rPr lang="it-IT" dirty="0" err="1"/>
              <a:t>going</a:t>
            </a:r>
            <a:r>
              <a:rPr lang="it-IT" dirty="0"/>
              <a:t> to </a:t>
            </a:r>
            <a:r>
              <a:rPr dirty="0"/>
              <a:t>present my internship project titled:</a:t>
            </a:r>
          </a:p>
          <a:p>
            <a:r>
              <a:rPr dirty="0"/>
              <a:t>'Seismic Viewer: Design, Implementation and Evaluation of an Interactive 4D </a:t>
            </a:r>
            <a:r>
              <a:rPr dirty="0" err="1"/>
              <a:t>Spatio</a:t>
            </a:r>
            <a:r>
              <a:rPr dirty="0"/>
              <a:t>-Temporal </a:t>
            </a:r>
            <a:r>
              <a:rPr dirty="0" err="1"/>
              <a:t>Visualisation</a:t>
            </a:r>
            <a:r>
              <a:rPr dirty="0"/>
              <a:t> System for Seismological Data'.</a:t>
            </a:r>
          </a:p>
          <a:p>
            <a:endParaRPr dirty="0"/>
          </a:p>
          <a:p>
            <a:r>
              <a:rPr dirty="0"/>
              <a:t>This work was carried out during my curricular internship at the National Institute of Geophysics and Volcanology (INGV), under the supervision of Prof. Danilo Avola from Sapienza and Dr. Daniele Bailo from INGV."</a:t>
            </a:r>
          </a:p>
          <a:p>
            <a:endParaRPr dirty="0"/>
          </a:p>
          <a:p>
            <a:r>
              <a:rPr dirty="0"/>
              <a:t>[VISUAL ACTION: Stand upright, smile, make warm eye contact with the Committee, project confidence]</a:t>
            </a: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2 | TIME: 0:30 - 1:15 | TARGET: 45 SECONDS]</a:t>
            </a:r>
          </a:p>
          <a:p>
            <a:endParaRPr dirty="0"/>
          </a:p>
          <a:p>
            <a:r>
              <a:rPr dirty="0"/>
              <a:t>SPEECH (EN):</a:t>
            </a:r>
          </a:p>
          <a:p>
            <a:r>
              <a:rPr dirty="0"/>
              <a:t>"To understand the motivation of this project, we look at the ongoing volcanic unrest at Campi </a:t>
            </a:r>
            <a:r>
              <a:rPr dirty="0" err="1"/>
              <a:t>Flegrei</a:t>
            </a:r>
            <a:r>
              <a:rPr dirty="0"/>
              <a:t> near Naples.</a:t>
            </a:r>
          </a:p>
          <a:p>
            <a:r>
              <a:rPr dirty="0"/>
              <a:t>Since 2005, continuous ground uplift accompanied by dense earthquake swarms has required multi-parametric monitoring.</a:t>
            </a:r>
          </a:p>
          <a:p>
            <a:endParaRPr dirty="0"/>
          </a:p>
          <a:p>
            <a:r>
              <a:rPr dirty="0"/>
              <a:t>Recently, in 2025, a landmark study published in Nature Communications Earth &amp; Environment by </a:t>
            </a:r>
            <a:r>
              <a:rPr lang="it-IT" dirty="0"/>
              <a:t>Prof. </a:t>
            </a:r>
            <a:r>
              <a:rPr dirty="0"/>
              <a:t>Guido Giordano and </a:t>
            </a:r>
            <a:r>
              <a:rPr lang="it-IT" dirty="0"/>
              <a:t>Giada </a:t>
            </a:r>
            <a:r>
              <a:rPr dirty="0"/>
              <a:t>Alfonsi showed that these earthquakes aren't just diffuse clusters: they outline active, growing planar fault structures.</a:t>
            </a:r>
          </a:p>
          <a:p>
            <a:endParaRPr dirty="0"/>
          </a:p>
          <a:p>
            <a:r>
              <a:rPr dirty="0"/>
              <a:t>During my internship, I worked in direct collaboration with Giordano and Alfonsi.</a:t>
            </a:r>
          </a:p>
          <a:p>
            <a:r>
              <a:rPr dirty="0"/>
              <a:t>Our goal was to solve an operational need at INGV: building an interactive system that bridges raw earthquake catalogues, </a:t>
            </a:r>
            <a:r>
              <a:rPr lang="it-IT" dirty="0"/>
              <a:t>clustering techniques</a:t>
            </a:r>
            <a:r>
              <a:rPr dirty="0"/>
              <a:t>, and automated fault plane extraction in </a:t>
            </a:r>
            <a:r>
              <a:rPr lang="it-IT" dirty="0"/>
              <a:t>a single </a:t>
            </a:r>
            <a:r>
              <a:rPr dirty="0"/>
              <a:t>workspace."</a:t>
            </a:r>
          </a:p>
          <a:p>
            <a:endParaRPr dirty="0"/>
          </a:p>
          <a:p>
            <a:r>
              <a:rPr dirty="0"/>
              <a:t>[VISUAL ACTION: Point to Active Volcanic Unrest on Card 1, highlight the Giordano &amp; Alfonsi Nature 2025 study on Card 2, and point to INGV Operational Need on Card 3]</a:t>
            </a:r>
          </a:p>
        </p:txBody>
      </p:sp>
      <p:sp>
        <p:nvSpPr>
          <p:cNvPr id="100" name="Google Shape;10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3 | TIME: 1:15 - 1:55 | TARGET: 40 SECONDS]</a:t>
            </a:r>
          </a:p>
          <a:p>
            <a:endParaRPr dirty="0"/>
          </a:p>
          <a:p>
            <a:r>
              <a:rPr dirty="0"/>
              <a:t>SPEECH (EN):</a:t>
            </a:r>
          </a:p>
          <a:p>
            <a:r>
              <a:rPr dirty="0"/>
              <a:t>"When we analyzed existing seismological tools, we found a clear functional gap:</a:t>
            </a:r>
          </a:p>
          <a:p>
            <a:endParaRPr dirty="0"/>
          </a:p>
          <a:p>
            <a:r>
              <a:rPr dirty="0"/>
              <a:t>First, General GIS platforms like QGIS and ArcGIS have a 2D projection bias that flattens depth into static plan-views. When navigating dense 3D point clouds over 10,000 events, they suffer major frame drops and lack native 4D time playback.</a:t>
            </a:r>
          </a:p>
          <a:p>
            <a:r>
              <a:rPr dirty="0"/>
              <a:t>Second, Scientific Code like </a:t>
            </a:r>
            <a:r>
              <a:rPr dirty="0" err="1"/>
              <a:t>ObsPy</a:t>
            </a:r>
            <a:r>
              <a:rPr dirty="0"/>
              <a:t> and GMT produces static image files in batch mode without real-time interaction, requiring continuous scripting. Even 3D tools like </a:t>
            </a:r>
            <a:r>
              <a:rPr dirty="0" err="1"/>
              <a:t>ParaView</a:t>
            </a:r>
            <a:r>
              <a:rPr dirty="0"/>
              <a:t> involve complex manual pipelines and lack direct seismological integrations."</a:t>
            </a:r>
          </a:p>
          <a:p>
            <a:endParaRPr dirty="0"/>
          </a:p>
          <a:p>
            <a:r>
              <a:rPr dirty="0"/>
              <a:t>[VISUAL ACTION: Walk through the three columns on Slide 3: GIS platforms, Scientific Code (</a:t>
            </a:r>
            <a:r>
              <a:rPr dirty="0" err="1"/>
              <a:t>ObsPy</a:t>
            </a:r>
            <a:r>
              <a:rPr dirty="0"/>
              <a:t>/GMT/</a:t>
            </a:r>
            <a:r>
              <a:rPr dirty="0" err="1"/>
              <a:t>ParaView</a:t>
            </a:r>
            <a:r>
              <a:rPr dirty="0"/>
              <a:t>), and our solution Seismic Viewer]</a:t>
            </a:r>
          </a:p>
        </p:txBody>
      </p:sp>
      <p:sp>
        <p:nvSpPr>
          <p:cNvPr id="121" name="Google Shape;12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4 | TIME: 1:55 - 2:40 | TARGET: 45 SECONDS]</a:t>
            </a:r>
          </a:p>
          <a:p>
            <a:endParaRPr dirty="0"/>
          </a:p>
          <a:p>
            <a:r>
              <a:rPr dirty="0"/>
              <a:t>SPEECH (EN):</a:t>
            </a:r>
          </a:p>
          <a:p>
            <a:r>
              <a:rPr dirty="0"/>
              <a:t>"We defined three core functional pillars:</a:t>
            </a:r>
          </a:p>
          <a:p>
            <a:r>
              <a:rPr dirty="0"/>
              <a:t>Hardware-accelerated Interactive </a:t>
            </a:r>
            <a:r>
              <a:rPr dirty="0" err="1"/>
              <a:t>Visualisations</a:t>
            </a:r>
            <a:r>
              <a:rPr dirty="0"/>
              <a:t> in 2D, 3D, and 4D;</a:t>
            </a:r>
          </a:p>
          <a:p>
            <a:r>
              <a:rPr dirty="0"/>
              <a:t>Automated Structural Analysis combining spatial clustering with plane fitting;</a:t>
            </a:r>
          </a:p>
          <a:p>
            <a:r>
              <a:rPr dirty="0"/>
              <a:t>and Multi-Layer Geophysical </a:t>
            </a:r>
            <a:r>
              <a:rPr lang="it-IT" dirty="0"/>
              <a:t>Integration</a:t>
            </a:r>
            <a:r>
              <a:rPr dirty="0"/>
              <a:t> combining tomography, ground uplift, and seismic stations.</a:t>
            </a:r>
          </a:p>
          <a:p>
            <a:endParaRPr dirty="0"/>
          </a:p>
          <a:p>
            <a:r>
              <a:rPr dirty="0"/>
              <a:t>Working closely with researchers Giordano and Alfonsi, development progressed through six iterative phases:</a:t>
            </a:r>
          </a:p>
          <a:p>
            <a:r>
              <a:rPr dirty="0"/>
              <a:t>starting with 3D prototypes and CSV parsing,</a:t>
            </a:r>
          </a:p>
          <a:p>
            <a:r>
              <a:rPr dirty="0"/>
              <a:t>testing K-Means and the Python-WebView bridge,</a:t>
            </a:r>
          </a:p>
          <a:p>
            <a:r>
              <a:rPr dirty="0"/>
              <a:t>building the analytical dashboard and querying the INGV GOSSIP API,</a:t>
            </a:r>
          </a:p>
          <a:p>
            <a:r>
              <a:rPr dirty="0"/>
              <a:t>introducing DBSCAN with knee tuning, 4D cylinders, and cluster locking,</a:t>
            </a:r>
          </a:p>
          <a:p>
            <a:r>
              <a:rPr dirty="0"/>
              <a:t>integrating </a:t>
            </a:r>
            <a:r>
              <a:rPr dirty="0" err="1"/>
              <a:t>Vp</a:t>
            </a:r>
            <a:r>
              <a:rPr dirty="0"/>
              <a:t>/Vs tomography and GNSS surface deformation,</a:t>
            </a:r>
          </a:p>
          <a:p>
            <a:r>
              <a:rPr dirty="0"/>
              <a:t>and finalizing high-speed Float32 binary streaming."</a:t>
            </a:r>
          </a:p>
          <a:p>
            <a:endParaRPr dirty="0"/>
          </a:p>
          <a:p>
            <a:r>
              <a:rPr dirty="0"/>
              <a:t>[VISUAL ACTION: Point to the three functional pillars on Card 1, then follow the 6-Phase Timeline from Phase 1 to Phase 6 on Card 2]</a:t>
            </a:r>
          </a:p>
        </p:txBody>
      </p:sp>
      <p:sp>
        <p:nvSpPr>
          <p:cNvPr id="145" name="Google Shape;145;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5 | TIME: 2:40 - 3:20 | TARGET: 40 SECONDS]</a:t>
            </a:r>
          </a:p>
          <a:p>
            <a:endParaRPr dirty="0"/>
          </a:p>
          <a:p>
            <a:r>
              <a:rPr dirty="0"/>
              <a:t>SPEECH (EN):</a:t>
            </a:r>
          </a:p>
          <a:p>
            <a:r>
              <a:rPr dirty="0"/>
              <a:t>"Starting with the 2D Application Workspace:</a:t>
            </a:r>
          </a:p>
          <a:p>
            <a:endParaRPr dirty="0"/>
          </a:p>
          <a:p>
            <a:r>
              <a:rPr dirty="0"/>
              <a:t>All event filtering across Magnitude, Depth, and Date ranges runs entirely in JavaScript inside the browser. This eliminates HTTP roundtrips during parameter adjustments, providing instant filtering without re-fetching raw catalogues.</a:t>
            </a:r>
          </a:p>
          <a:p>
            <a:r>
              <a:rPr dirty="0"/>
              <a:t>For spatial representation, we provide a bi-modal display:</a:t>
            </a:r>
          </a:p>
          <a:p>
            <a:r>
              <a:rPr dirty="0"/>
              <a:t>Users can toggle between Proportional Scatter Markers—where marker radius scales with earthquake magnitude—and a Continuous Kernel Density heatmap that aggregates </a:t>
            </a:r>
            <a:r>
              <a:rPr dirty="0" err="1"/>
              <a:t>hypocentres</a:t>
            </a:r>
            <a:r>
              <a:rPr dirty="0"/>
              <a:t> into Gaussian density fields.</a:t>
            </a:r>
          </a:p>
          <a:p>
            <a:r>
              <a:rPr dirty="0"/>
              <a:t>This allows geophysicists to immediately highlight dense swarm concentrations across Pozzuoli and the Solfatara crater."</a:t>
            </a:r>
          </a:p>
          <a:p>
            <a:endParaRPr dirty="0"/>
          </a:p>
          <a:p>
            <a:r>
              <a:rPr dirty="0"/>
              <a:t>[VISUAL ACTION: Point to the interactive drawer filters on the left and show the switch between Proportional Scatter Markers and Continuous Kernel Density]</a:t>
            </a:r>
          </a:p>
        </p:txBody>
      </p:sp>
      <p:sp>
        <p:nvSpPr>
          <p:cNvPr id="171" name="Google Shape;17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6 | TIME: 3:20 - 4:00 | TARGET: 40 SECONDS]</a:t>
            </a:r>
          </a:p>
          <a:p>
            <a:endParaRPr dirty="0"/>
          </a:p>
          <a:p>
            <a:r>
              <a:rPr dirty="0"/>
              <a:t>SPEECH (EN):</a:t>
            </a:r>
          </a:p>
          <a:p>
            <a:r>
              <a:rPr dirty="0"/>
              <a:t>"Switching to the 3D Workspace, </a:t>
            </a:r>
            <a:r>
              <a:rPr dirty="0" err="1"/>
              <a:t>hypocentres</a:t>
            </a:r>
            <a:r>
              <a:rPr dirty="0"/>
              <a:t> are rendered in physical space via WebGL.</a:t>
            </a:r>
          </a:p>
          <a:p>
            <a:r>
              <a:rPr dirty="0"/>
              <a:t>To guarantee scientific fidelity, we implemented three key mechanisms:</a:t>
            </a:r>
          </a:p>
          <a:p>
            <a:endParaRPr dirty="0"/>
          </a:p>
          <a:p>
            <a:r>
              <a:rPr dirty="0"/>
              <a:t>First, Geographic Coordinate Retention: horizontal axes preserve standard geographic degrees alongside physical depth measured in </a:t>
            </a:r>
            <a:r>
              <a:rPr dirty="0" err="1"/>
              <a:t>kilometres</a:t>
            </a:r>
            <a:r>
              <a:rPr dirty="0"/>
              <a:t>.</a:t>
            </a:r>
          </a:p>
          <a:p>
            <a:r>
              <a:rPr dirty="0"/>
              <a:t>Second, Aspect Ratio Correction: to prevent distortion caused by Earth's sphericity, the system scales the 3D bounding box so that 1 </a:t>
            </a:r>
            <a:r>
              <a:rPr dirty="0" err="1"/>
              <a:t>kilometre</a:t>
            </a:r>
            <a:r>
              <a:rPr dirty="0"/>
              <a:t> along X, Y, and Z renders with identical physical proportions.</a:t>
            </a:r>
          </a:p>
          <a:p>
            <a:r>
              <a:rPr dirty="0"/>
              <a:t>And third, Viewpoint Persistence: camera azimuth, elevation, and zoom coordinates are strictly preserved across filter updates using </a:t>
            </a:r>
            <a:r>
              <a:rPr dirty="0" err="1"/>
              <a:t>Plotly's</a:t>
            </a:r>
            <a:r>
              <a:rPr dirty="0"/>
              <a:t> </a:t>
            </a:r>
            <a:r>
              <a:rPr dirty="0" err="1"/>
              <a:t>uirevision</a:t>
            </a:r>
            <a:r>
              <a:rPr dirty="0"/>
              <a:t> property."</a:t>
            </a:r>
          </a:p>
          <a:p>
            <a:endParaRPr dirty="0"/>
          </a:p>
          <a:p>
            <a:r>
              <a:rPr dirty="0"/>
              <a:t>[VISUAL ACTION: Highlight Geographic Coordinate Retention, Aspect Ratio Correction (1 km metric proportionality), and Viewpoint Persistence on the cards]</a:t>
            </a:r>
          </a:p>
        </p:txBody>
      </p:sp>
      <p:sp>
        <p:nvSpPr>
          <p:cNvPr id="187" name="Google Shape;18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7 | TIME: 4:00 - 4:45 | TARGET: 45 SECONDS]</a:t>
            </a:r>
          </a:p>
          <a:p>
            <a:endParaRPr dirty="0"/>
          </a:p>
          <a:p>
            <a:r>
              <a:rPr dirty="0"/>
              <a:t>SPEECH (EN):</a:t>
            </a:r>
          </a:p>
          <a:p>
            <a:r>
              <a:rPr dirty="0"/>
              <a:t>"A central </a:t>
            </a:r>
            <a:r>
              <a:rPr lang="it-IT" dirty="0"/>
              <a:t>feature</a:t>
            </a:r>
            <a:r>
              <a:rPr dirty="0"/>
              <a:t> of Seismic Viewer is fusing multiple geophysical layers in the exact same 3D coordinate space.</a:t>
            </a:r>
          </a:p>
          <a:p>
            <a:endParaRPr dirty="0"/>
          </a:p>
          <a:p>
            <a:r>
              <a:rPr dirty="0"/>
              <a:t>First, 3D </a:t>
            </a:r>
            <a:r>
              <a:rPr dirty="0" err="1"/>
              <a:t>Vp</a:t>
            </a:r>
            <a:r>
              <a:rPr dirty="0"/>
              <a:t>/Vs Seismic Tomography: we convert tomographic velocity ratios into a 3D volumetric grid using Inverse Distance Weighting with 16 nearest </a:t>
            </a:r>
            <a:r>
              <a:rPr dirty="0" err="1"/>
              <a:t>neighbours</a:t>
            </a:r>
            <a:r>
              <a:rPr dirty="0"/>
              <a:t>, applying a Gaussian spatial decay that blends outside sampled points.</a:t>
            </a:r>
          </a:p>
          <a:p>
            <a:r>
              <a:rPr dirty="0"/>
              <a:t>Second, GNSS Ground Uplift Columns: we ingest GPS deformation time-series across Campi </a:t>
            </a:r>
            <a:r>
              <a:rPr dirty="0" err="1"/>
              <a:t>Flegrei</a:t>
            </a:r>
            <a:r>
              <a:rPr dirty="0"/>
              <a:t>, rendering explicit 3D vertical displacement columns directly at station locations</a:t>
            </a:r>
            <a:r>
              <a:rPr lang="it-IT" dirty="0"/>
              <a:t> and </a:t>
            </a:r>
            <a:r>
              <a:rPr lang="it-IT" dirty="0" err="1"/>
              <a:t>applying</a:t>
            </a:r>
            <a:r>
              <a:rPr lang="it-IT" dirty="0"/>
              <a:t> an Inverse Distance </a:t>
            </a:r>
            <a:r>
              <a:rPr lang="it-IT" dirty="0" err="1"/>
              <a:t>Weighting</a:t>
            </a:r>
            <a:r>
              <a:rPr lang="it-IT" dirty="0"/>
              <a:t> </a:t>
            </a:r>
            <a:r>
              <a:rPr lang="it-IT" dirty="0" err="1"/>
              <a:t>interpolation</a:t>
            </a:r>
            <a:r>
              <a:rPr lang="it-IT" dirty="0"/>
              <a:t> for the </a:t>
            </a:r>
            <a:r>
              <a:rPr lang="it-IT" dirty="0" err="1"/>
              <a:t>rest</a:t>
            </a:r>
            <a:r>
              <a:rPr lang="it-IT" dirty="0"/>
              <a:t> of the </a:t>
            </a:r>
            <a:r>
              <a:rPr lang="it-IT" dirty="0" err="1"/>
              <a:t>grid</a:t>
            </a:r>
            <a:r>
              <a:rPr dirty="0"/>
              <a:t>.</a:t>
            </a:r>
          </a:p>
          <a:p>
            <a:r>
              <a:rPr dirty="0"/>
              <a:t>By seeing these layers together, researchers can directly correlate surface ground </a:t>
            </a:r>
            <a:r>
              <a:rPr lang="it-IT" dirty="0" err="1"/>
              <a:t>uplift</a:t>
            </a:r>
            <a:r>
              <a:rPr dirty="0"/>
              <a:t> with underlying fluid pockets and earthquake swarms."</a:t>
            </a:r>
          </a:p>
          <a:p>
            <a:endParaRPr dirty="0"/>
          </a:p>
          <a:p>
            <a:r>
              <a:rPr dirty="0"/>
              <a:t>[VISUAL ACTION: Point to the 3D </a:t>
            </a:r>
            <a:r>
              <a:rPr dirty="0" err="1"/>
              <a:t>Vp</a:t>
            </a:r>
            <a:r>
              <a:rPr dirty="0"/>
              <a:t>/Vs tomography volume on Card 1 and the GNSS vertical uplift columns on Card 2]</a:t>
            </a:r>
          </a:p>
        </p:txBody>
      </p:sp>
      <p:sp>
        <p:nvSpPr>
          <p:cNvPr id="226" name="Google Shape;226;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8 | TIME: 4:45 - 5:25 | TARGET: 40 SECONDS]</a:t>
            </a:r>
          </a:p>
          <a:p>
            <a:endParaRPr dirty="0"/>
          </a:p>
          <a:p>
            <a:r>
              <a:rPr dirty="0"/>
              <a:t>SPEECH (EN):</a:t>
            </a:r>
          </a:p>
          <a:p>
            <a:r>
              <a:rPr dirty="0"/>
              <a:t>"Earthquake swarms migrate over time. Our 4D engine provides sequence slicing across three distinct analytical playback modes:</a:t>
            </a:r>
          </a:p>
          <a:p>
            <a:endParaRPr dirty="0"/>
          </a:p>
          <a:p>
            <a:r>
              <a:rPr dirty="0"/>
              <a:t>Accumulation Mode, showing cumulative seismic buildup from the first event to track stress release over time;</a:t>
            </a:r>
          </a:p>
          <a:p>
            <a:r>
              <a:rPr dirty="0"/>
              <a:t>Sliding Window Mode, which moves a window of width W across time—one frame per</a:t>
            </a:r>
            <a:r>
              <a:rPr lang="it-IT" dirty="0"/>
              <a:t> </a:t>
            </a:r>
            <a:r>
              <a:rPr lang="it-IT" dirty="0" err="1"/>
              <a:t>occurence</a:t>
            </a:r>
            <a:r>
              <a:rPr dirty="0"/>
              <a:t> day—to isolate active </a:t>
            </a:r>
            <a:r>
              <a:rPr dirty="0" err="1"/>
              <a:t>hypocentral</a:t>
            </a:r>
            <a:r>
              <a:rPr dirty="0"/>
              <a:t> migration fronts;</a:t>
            </a:r>
          </a:p>
          <a:p>
            <a:r>
              <a:rPr dirty="0"/>
              <a:t>and Block Mode, moving a window with a custom step to allow flexible temporal </a:t>
            </a:r>
            <a:r>
              <a:rPr dirty="0" err="1"/>
              <a:t>downsampling</a:t>
            </a:r>
            <a:r>
              <a:rPr dirty="0"/>
              <a:t> and multi-day epoch comparisons.</a:t>
            </a:r>
          </a:p>
          <a:p>
            <a:r>
              <a:rPr dirty="0"/>
              <a:t>At the bottom, an Interactive Timeline Histogram </a:t>
            </a:r>
            <a:r>
              <a:rPr lang="it-IT" dirty="0" err="1"/>
              <a:t>allows</a:t>
            </a:r>
            <a:r>
              <a:rPr lang="it-IT" dirty="0"/>
              <a:t> </a:t>
            </a:r>
            <a:r>
              <a:rPr dirty="0"/>
              <a:t>chronological navigation </a:t>
            </a:r>
            <a:r>
              <a:rPr lang="it-IT" dirty="0"/>
              <a:t>and a</a:t>
            </a:r>
            <a:r>
              <a:rPr dirty="0"/>
              <a:t> real-time tracking of active event counts, peak magnitude, and cumulative seismic energy release</a:t>
            </a:r>
            <a:r>
              <a:rPr lang="it-IT" dirty="0"/>
              <a:t> </a:t>
            </a:r>
            <a:r>
              <a:rPr lang="it-IT" dirty="0" err="1"/>
              <a:t>at</a:t>
            </a:r>
            <a:r>
              <a:rPr lang="it-IT" dirty="0"/>
              <a:t> the top </a:t>
            </a:r>
            <a:r>
              <a:rPr lang="it-IT" dirty="0" err="1"/>
              <a:t>right</a:t>
            </a:r>
            <a:r>
              <a:rPr dirty="0"/>
              <a:t>."</a:t>
            </a:r>
          </a:p>
          <a:p>
            <a:endParaRPr dirty="0"/>
          </a:p>
          <a:p>
            <a:r>
              <a:rPr dirty="0"/>
              <a:t>[VISUAL ACTION: Walk through the three modes (Accumulation, Sliding Window, Block Mode) and point to the interactive timeline histogram and energy meter at the bottom]</a:t>
            </a:r>
          </a:p>
        </p:txBody>
      </p:sp>
      <p:sp>
        <p:nvSpPr>
          <p:cNvPr id="203" name="Google Shape;203;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9 | TIME: 5:25 - 6:05 | TARGET: 40 SECONDS]</a:t>
            </a:r>
          </a:p>
          <a:p>
            <a:endParaRPr dirty="0"/>
          </a:p>
          <a:p>
            <a:r>
              <a:rPr dirty="0"/>
              <a:t>SPEECH (EN):</a:t>
            </a:r>
          </a:p>
          <a:p>
            <a:r>
              <a:rPr i="0" dirty="0">
                <a:latin typeface="+mn-lt"/>
              </a:rPr>
              <a:t>"</a:t>
            </a:r>
            <a:r>
              <a:rPr lang="it-IT" sz="1100" b="0" i="0" dirty="0">
                <a:solidFill>
                  <a:srgbClr val="CCCCCC"/>
                </a:solidFill>
                <a:effectLst/>
                <a:latin typeface="+mn-lt"/>
              </a:rPr>
              <a:t>During 4D playback, </a:t>
            </a:r>
            <a:r>
              <a:rPr lang="it-IT" sz="1100" b="0" i="0" dirty="0" err="1">
                <a:solidFill>
                  <a:srgbClr val="CCCCCC"/>
                </a:solidFill>
                <a:effectLst/>
                <a:latin typeface="+mn-lt"/>
              </a:rPr>
              <a:t>we</a:t>
            </a:r>
            <a:r>
              <a:rPr lang="it-IT" sz="1100" b="0" i="0" dirty="0">
                <a:solidFill>
                  <a:srgbClr val="CCCCCC"/>
                </a:solidFill>
                <a:effectLst/>
                <a:latin typeface="+mn-lt"/>
              </a:rPr>
              <a:t> </a:t>
            </a:r>
            <a:r>
              <a:rPr lang="it-IT" sz="1100" b="0" i="0" dirty="0" err="1">
                <a:solidFill>
                  <a:srgbClr val="CCCCCC"/>
                </a:solidFill>
                <a:effectLst/>
                <a:latin typeface="+mn-lt"/>
              </a:rPr>
              <a:t>ran</a:t>
            </a:r>
            <a:r>
              <a:rPr lang="it-IT" sz="1100" b="0" i="0" dirty="0">
                <a:solidFill>
                  <a:srgbClr val="CCCCCC"/>
                </a:solidFill>
                <a:effectLst/>
                <a:latin typeface="+mn-lt"/>
              </a:rPr>
              <a:t> </a:t>
            </a:r>
            <a:r>
              <a:rPr lang="it-IT" sz="1100" b="0" i="0" dirty="0" err="1">
                <a:solidFill>
                  <a:srgbClr val="CCCCCC"/>
                </a:solidFill>
                <a:effectLst/>
                <a:latin typeface="+mn-lt"/>
              </a:rPr>
              <a:t>into</a:t>
            </a:r>
            <a:r>
              <a:rPr lang="it-IT" sz="1100" b="0" i="0" dirty="0">
                <a:solidFill>
                  <a:srgbClr val="CCCCCC"/>
                </a:solidFill>
                <a:effectLst/>
                <a:latin typeface="+mn-lt"/>
              </a:rPr>
              <a:t> </a:t>
            </a:r>
            <a:r>
              <a:rPr lang="it-IT" sz="1100" b="0" i="0" dirty="0" err="1">
                <a:solidFill>
                  <a:srgbClr val="CCCCCC"/>
                </a:solidFill>
                <a:effectLst/>
                <a:latin typeface="+mn-lt"/>
              </a:rPr>
              <a:t>two</a:t>
            </a:r>
            <a:r>
              <a:rPr lang="it-IT" sz="1100" b="0" i="0" dirty="0">
                <a:solidFill>
                  <a:srgbClr val="CCCCCC"/>
                </a:solidFill>
                <a:effectLst/>
                <a:latin typeface="+mn-lt"/>
              </a:rPr>
              <a:t> </a:t>
            </a:r>
            <a:r>
              <a:rPr lang="it-IT" sz="1100" b="0" i="0" dirty="0" err="1">
                <a:solidFill>
                  <a:srgbClr val="CCCCCC"/>
                </a:solidFill>
                <a:effectLst/>
                <a:latin typeface="+mn-lt"/>
              </a:rPr>
              <a:t>very</a:t>
            </a:r>
            <a:r>
              <a:rPr lang="it-IT" sz="1100" b="0" i="0" dirty="0">
                <a:solidFill>
                  <a:srgbClr val="CCCCCC"/>
                </a:solidFill>
                <a:effectLst/>
                <a:latin typeface="+mn-lt"/>
              </a:rPr>
              <a:t> </a:t>
            </a:r>
            <a:r>
              <a:rPr lang="it-IT" sz="1100" b="0" i="0" dirty="0" err="1">
                <a:solidFill>
                  <a:srgbClr val="CCCCCC"/>
                </a:solidFill>
                <a:effectLst/>
                <a:latin typeface="+mn-lt"/>
              </a:rPr>
              <a:t>interesting</a:t>
            </a:r>
            <a:r>
              <a:rPr lang="it-IT" sz="1100" b="0" i="0" dirty="0">
                <a:solidFill>
                  <a:srgbClr val="CCCCCC"/>
                </a:solidFill>
                <a:effectLst/>
                <a:latin typeface="+mn-lt"/>
              </a:rPr>
              <a:t> </a:t>
            </a:r>
            <a:r>
              <a:rPr lang="it-IT" sz="1100" b="0" i="0" dirty="0" err="1">
                <a:solidFill>
                  <a:srgbClr val="CCCCCC"/>
                </a:solidFill>
                <a:effectLst/>
                <a:latin typeface="+mn-lt"/>
              </a:rPr>
              <a:t>algorithmic</a:t>
            </a:r>
            <a:r>
              <a:rPr lang="it-IT" sz="1100" b="0" i="0" dirty="0">
                <a:solidFill>
                  <a:srgbClr val="CCCCCC"/>
                </a:solidFill>
                <a:effectLst/>
                <a:latin typeface="+mn-lt"/>
              </a:rPr>
              <a:t> </a:t>
            </a:r>
            <a:r>
              <a:rPr lang="it-IT" sz="1100" b="0" i="0" dirty="0" err="1">
                <a:solidFill>
                  <a:srgbClr val="CCCCCC"/>
                </a:solidFill>
                <a:effectLst/>
                <a:latin typeface="+mn-lt"/>
              </a:rPr>
              <a:t>problems</a:t>
            </a:r>
            <a:r>
              <a:rPr lang="it-IT" sz="1100" b="0" i="0" dirty="0">
                <a:solidFill>
                  <a:srgbClr val="CCCCCC"/>
                </a:solidFill>
                <a:effectLst/>
                <a:latin typeface="+mn-lt"/>
              </a:rPr>
              <a:t>.</a:t>
            </a:r>
            <a:br>
              <a:rPr lang="it-IT" sz="1100" b="0" i="0" dirty="0">
                <a:solidFill>
                  <a:srgbClr val="CCCCCC"/>
                </a:solidFill>
                <a:effectLst/>
                <a:latin typeface="+mn-lt"/>
              </a:rPr>
            </a:br>
            <a:r>
              <a:rPr lang="it-IT" sz="1100" b="0" i="0" dirty="0">
                <a:solidFill>
                  <a:srgbClr val="CCCCCC"/>
                </a:solidFill>
                <a:effectLst/>
                <a:latin typeface="+mn-lt"/>
              </a:rPr>
              <a:t>First, Campi Flegrei </a:t>
            </a:r>
            <a:r>
              <a:rPr lang="it-IT" sz="1100" b="0" i="0" dirty="0" err="1">
                <a:solidFill>
                  <a:srgbClr val="CCCCCC"/>
                </a:solidFill>
                <a:effectLst/>
                <a:latin typeface="+mn-lt"/>
              </a:rPr>
              <a:t>is</a:t>
            </a:r>
            <a:r>
              <a:rPr lang="it-IT" sz="1100" b="0" i="0" dirty="0">
                <a:solidFill>
                  <a:srgbClr val="CCCCCC"/>
                </a:solidFill>
                <a:effectLst/>
                <a:latin typeface="+mn-lt"/>
              </a:rPr>
              <a:t> a </a:t>
            </a:r>
            <a:r>
              <a:rPr lang="it-IT" sz="1100" b="0" i="0" dirty="0" err="1">
                <a:solidFill>
                  <a:srgbClr val="CCCCCC"/>
                </a:solidFill>
                <a:effectLst/>
                <a:latin typeface="+mn-lt"/>
              </a:rPr>
              <a:t>circular</a:t>
            </a:r>
            <a:r>
              <a:rPr lang="it-IT" sz="1100" b="0" i="0" dirty="0">
                <a:solidFill>
                  <a:srgbClr val="CCCCCC"/>
                </a:solidFill>
                <a:effectLst/>
                <a:latin typeface="+mn-lt"/>
              </a:rPr>
              <a:t> caldera, so the faults curve </a:t>
            </a:r>
            <a:r>
              <a:rPr lang="it-IT" sz="1100" b="0" i="0" dirty="0" err="1">
                <a:solidFill>
                  <a:srgbClr val="CCCCCC"/>
                </a:solidFill>
                <a:effectLst/>
                <a:latin typeface="+mn-lt"/>
              </a:rPr>
              <a:t>around</a:t>
            </a:r>
            <a:r>
              <a:rPr lang="it-IT" sz="1100" b="0" i="0" dirty="0">
                <a:solidFill>
                  <a:srgbClr val="CCCCCC"/>
                </a:solidFill>
                <a:effectLst/>
                <a:latin typeface="+mn-lt"/>
              </a:rPr>
              <a:t> the </a:t>
            </a:r>
            <a:r>
              <a:rPr lang="it-IT" sz="1100" b="0" i="0" dirty="0" err="1">
                <a:solidFill>
                  <a:srgbClr val="CCCCCC"/>
                </a:solidFill>
                <a:effectLst/>
                <a:latin typeface="+mn-lt"/>
              </a:rPr>
              <a:t>volcano</a:t>
            </a:r>
            <a:r>
              <a:rPr lang="it-IT" sz="1100" b="0" i="0" dirty="0">
                <a:solidFill>
                  <a:srgbClr val="CCCCCC"/>
                </a:solidFill>
                <a:effectLst/>
                <a:latin typeface="+mn-lt"/>
              </a:rPr>
              <a:t> like a ring. </a:t>
            </a:r>
            <a:r>
              <a:rPr lang="it-IT" sz="1100" b="0" i="0" dirty="0" err="1">
                <a:solidFill>
                  <a:srgbClr val="CCCCCC"/>
                </a:solidFill>
                <a:effectLst/>
                <a:latin typeface="+mn-lt"/>
              </a:rPr>
              <a:t>If</a:t>
            </a:r>
            <a:r>
              <a:rPr lang="it-IT" sz="1100" b="0" i="0" dirty="0">
                <a:solidFill>
                  <a:srgbClr val="CCCCCC"/>
                </a:solidFill>
                <a:effectLst/>
                <a:latin typeface="+mn-lt"/>
              </a:rPr>
              <a:t> </a:t>
            </a:r>
            <a:r>
              <a:rPr lang="it-IT" sz="1100" b="0" i="0" dirty="0" err="1">
                <a:solidFill>
                  <a:srgbClr val="CCCCCC"/>
                </a:solidFill>
                <a:effectLst/>
                <a:latin typeface="+mn-lt"/>
              </a:rPr>
              <a:t>you</a:t>
            </a:r>
            <a:r>
              <a:rPr lang="it-IT" sz="1100" b="0" i="0" dirty="0">
                <a:solidFill>
                  <a:srgbClr val="CCCCCC"/>
                </a:solidFill>
                <a:effectLst/>
                <a:latin typeface="+mn-lt"/>
              </a:rPr>
              <a:t> </a:t>
            </a:r>
            <a:r>
              <a:rPr lang="it-IT" sz="1100" b="0" i="0" dirty="0" err="1">
                <a:solidFill>
                  <a:srgbClr val="CCCCCC"/>
                </a:solidFill>
                <a:effectLst/>
                <a:latin typeface="+mn-lt"/>
              </a:rPr>
              <a:t>try</a:t>
            </a:r>
            <a:r>
              <a:rPr lang="it-IT" sz="1100" b="0" i="0" dirty="0">
                <a:solidFill>
                  <a:srgbClr val="CCCCCC"/>
                </a:solidFill>
                <a:effectLst/>
                <a:latin typeface="+mn-lt"/>
              </a:rPr>
              <a:t> to </a:t>
            </a:r>
            <a:r>
              <a:rPr lang="it-IT" sz="1100" b="0" i="0" dirty="0" err="1">
                <a:solidFill>
                  <a:srgbClr val="CCCCCC"/>
                </a:solidFill>
                <a:effectLst/>
                <a:latin typeface="+mn-lt"/>
              </a:rPr>
              <a:t>fit</a:t>
            </a:r>
            <a:r>
              <a:rPr lang="it-IT" sz="1100" b="0" i="0" dirty="0">
                <a:solidFill>
                  <a:srgbClr val="CCCCCC"/>
                </a:solidFill>
                <a:effectLst/>
                <a:latin typeface="+mn-lt"/>
              </a:rPr>
              <a:t> a single </a:t>
            </a:r>
            <a:r>
              <a:rPr lang="it-IT" sz="1100" b="0" i="0" dirty="0" err="1">
                <a:solidFill>
                  <a:srgbClr val="CCCCCC"/>
                </a:solidFill>
                <a:effectLst/>
                <a:latin typeface="+mn-lt"/>
              </a:rPr>
              <a:t>flat</a:t>
            </a:r>
            <a:r>
              <a:rPr lang="it-IT" sz="1100" b="0" i="0" dirty="0">
                <a:solidFill>
                  <a:srgbClr val="CCCCCC"/>
                </a:solidFill>
                <a:effectLst/>
                <a:latin typeface="+mn-lt"/>
              </a:rPr>
              <a:t> </a:t>
            </a:r>
            <a:r>
              <a:rPr lang="it-IT" sz="1100" b="0" i="0" dirty="0" err="1">
                <a:solidFill>
                  <a:srgbClr val="CCCCCC"/>
                </a:solidFill>
                <a:effectLst/>
                <a:latin typeface="+mn-lt"/>
              </a:rPr>
              <a:t>plane</a:t>
            </a:r>
            <a:r>
              <a:rPr lang="it-IT" sz="1100" b="0" i="0" dirty="0">
                <a:solidFill>
                  <a:srgbClr val="CCCCCC"/>
                </a:solidFill>
                <a:effectLst/>
                <a:latin typeface="+mn-lt"/>
              </a:rPr>
              <a:t> to the </a:t>
            </a:r>
            <a:r>
              <a:rPr lang="it-IT" sz="1100" b="0" i="0" dirty="0" err="1">
                <a:solidFill>
                  <a:srgbClr val="CCCCCC"/>
                </a:solidFill>
                <a:effectLst/>
                <a:latin typeface="+mn-lt"/>
              </a:rPr>
              <a:t>entire</a:t>
            </a:r>
            <a:r>
              <a:rPr lang="it-IT" sz="1100" b="0" i="0" dirty="0">
                <a:solidFill>
                  <a:srgbClr val="CCCCCC"/>
                </a:solidFill>
                <a:effectLst/>
                <a:latin typeface="+mn-lt"/>
              </a:rPr>
              <a:t> caldera, the </a:t>
            </a:r>
            <a:r>
              <a:rPr lang="it-IT" sz="1100" b="0" i="0" dirty="0" err="1">
                <a:solidFill>
                  <a:srgbClr val="CCCCCC"/>
                </a:solidFill>
                <a:effectLst/>
                <a:latin typeface="+mn-lt"/>
              </a:rPr>
              <a:t>geometry</a:t>
            </a:r>
            <a:r>
              <a:rPr lang="it-IT" sz="1100" b="0" i="0" dirty="0">
                <a:solidFill>
                  <a:srgbClr val="CCCCCC"/>
                </a:solidFill>
                <a:effectLst/>
                <a:latin typeface="+mn-lt"/>
              </a:rPr>
              <a:t> </a:t>
            </a:r>
            <a:r>
              <a:rPr lang="it-IT" sz="1100" b="0" i="0" dirty="0" err="1">
                <a:solidFill>
                  <a:srgbClr val="CCCCCC"/>
                </a:solidFill>
                <a:effectLst/>
                <a:latin typeface="+mn-lt"/>
              </a:rPr>
              <a:t>fails</a:t>
            </a:r>
            <a:r>
              <a:rPr lang="it-IT" sz="1100" b="0" i="0" dirty="0">
                <a:solidFill>
                  <a:srgbClr val="CCCCCC"/>
                </a:solidFill>
                <a:effectLst/>
                <a:latin typeface="+mn-lt"/>
              </a:rPr>
              <a:t>. So </a:t>
            </a:r>
            <a:r>
              <a:rPr lang="it-IT" sz="1100" b="0" i="0" dirty="0" err="1">
                <a:solidFill>
                  <a:srgbClr val="CCCCCC"/>
                </a:solidFill>
                <a:effectLst/>
                <a:latin typeface="+mn-lt"/>
              </a:rPr>
              <a:t>we</a:t>
            </a:r>
            <a:r>
              <a:rPr lang="it-IT" sz="1100" b="0" i="0" dirty="0">
                <a:solidFill>
                  <a:srgbClr val="CCCCCC"/>
                </a:solidFill>
                <a:effectLst/>
                <a:latin typeface="+mn-lt"/>
              </a:rPr>
              <a:t> </a:t>
            </a:r>
            <a:r>
              <a:rPr lang="it-IT" sz="1100" b="0" i="0" dirty="0" err="1">
                <a:solidFill>
                  <a:srgbClr val="CCCCCC"/>
                </a:solidFill>
                <a:effectLst/>
                <a:latin typeface="+mn-lt"/>
              </a:rPr>
              <a:t>sliced</a:t>
            </a:r>
            <a:r>
              <a:rPr lang="it-IT" sz="1100" b="0" i="0" dirty="0">
                <a:solidFill>
                  <a:srgbClr val="CCCCCC"/>
                </a:solidFill>
                <a:effectLst/>
                <a:latin typeface="+mn-lt"/>
              </a:rPr>
              <a:t> the </a:t>
            </a:r>
            <a:r>
              <a:rPr lang="it-IT" sz="1100" b="0" i="0" dirty="0" err="1">
                <a:solidFill>
                  <a:srgbClr val="CCCCCC"/>
                </a:solidFill>
                <a:effectLst/>
                <a:latin typeface="+mn-lt"/>
              </a:rPr>
              <a:t>crust</a:t>
            </a:r>
            <a:r>
              <a:rPr lang="it-IT" sz="1100" b="0" i="0" dirty="0">
                <a:solidFill>
                  <a:srgbClr val="CCCCCC"/>
                </a:solidFill>
                <a:effectLst/>
                <a:latin typeface="+mn-lt"/>
              </a:rPr>
              <a:t> </a:t>
            </a:r>
            <a:r>
              <a:rPr lang="it-IT" sz="1100" b="0" i="0" dirty="0" err="1">
                <a:solidFill>
                  <a:srgbClr val="CCCCCC"/>
                </a:solidFill>
                <a:effectLst/>
                <a:latin typeface="+mn-lt"/>
              </a:rPr>
              <a:t>into</a:t>
            </a:r>
            <a:r>
              <a:rPr lang="it-IT" sz="1100" b="0" i="0" dirty="0">
                <a:solidFill>
                  <a:srgbClr val="CCCCCC"/>
                </a:solidFill>
                <a:effectLst/>
                <a:latin typeface="+mn-lt"/>
              </a:rPr>
              <a:t> </a:t>
            </a:r>
            <a:r>
              <a:rPr lang="it-IT" sz="1100" b="0" i="0" dirty="0" err="1">
                <a:solidFill>
                  <a:srgbClr val="CCCCCC"/>
                </a:solidFill>
                <a:effectLst/>
                <a:latin typeface="+mn-lt"/>
              </a:rPr>
              <a:t>vertical</a:t>
            </a:r>
            <a:r>
              <a:rPr lang="it-IT" sz="1100" b="0" i="0" dirty="0">
                <a:solidFill>
                  <a:srgbClr val="CCCCCC"/>
                </a:solidFill>
                <a:effectLst/>
                <a:latin typeface="+mn-lt"/>
              </a:rPr>
              <a:t> </a:t>
            </a:r>
            <a:r>
              <a:rPr lang="it-IT" sz="1100" b="0" i="0" dirty="0" err="1">
                <a:solidFill>
                  <a:srgbClr val="CCCCCC"/>
                </a:solidFill>
                <a:effectLst/>
                <a:latin typeface="+mn-lt"/>
              </a:rPr>
              <a:t>cylindrical</a:t>
            </a:r>
            <a:r>
              <a:rPr lang="it-IT" sz="1100" b="0" i="0" dirty="0">
                <a:solidFill>
                  <a:srgbClr val="CCCCCC"/>
                </a:solidFill>
                <a:effectLst/>
                <a:latin typeface="+mn-lt"/>
              </a:rPr>
              <a:t> </a:t>
            </a:r>
            <a:r>
              <a:rPr lang="it-IT" sz="1100" b="0" i="0" dirty="0" err="1">
                <a:solidFill>
                  <a:srgbClr val="CCCCCC"/>
                </a:solidFill>
                <a:effectLst/>
                <a:latin typeface="+mn-lt"/>
              </a:rPr>
              <a:t>columns</a:t>
            </a:r>
            <a:r>
              <a:rPr lang="it-IT" sz="1100" b="0" i="0" dirty="0">
                <a:solidFill>
                  <a:srgbClr val="CCCCCC"/>
                </a:solidFill>
                <a:effectLst/>
                <a:latin typeface="+mn-lt"/>
              </a:rPr>
              <a:t>, </a:t>
            </a:r>
            <a:r>
              <a:rPr lang="it-IT" sz="1100" b="0" i="0" dirty="0" err="1">
                <a:solidFill>
                  <a:srgbClr val="CCCCCC"/>
                </a:solidFill>
                <a:effectLst/>
                <a:latin typeface="+mn-lt"/>
              </a:rPr>
              <a:t>exactly</a:t>
            </a:r>
            <a:r>
              <a:rPr lang="it-IT" sz="1100" b="0" i="0" dirty="0">
                <a:solidFill>
                  <a:srgbClr val="CCCCCC"/>
                </a:solidFill>
                <a:effectLst/>
                <a:latin typeface="+mn-lt"/>
              </a:rPr>
              <a:t> </a:t>
            </a:r>
            <a:r>
              <a:rPr lang="it-IT" sz="1100" b="0" i="0" dirty="0" err="1">
                <a:solidFill>
                  <a:srgbClr val="CCCCCC"/>
                </a:solidFill>
                <a:effectLst/>
                <a:latin typeface="+mn-lt"/>
              </a:rPr>
              <a:t>replicating</a:t>
            </a:r>
            <a:r>
              <a:rPr lang="it-IT" sz="1100" b="0" i="0" dirty="0">
                <a:solidFill>
                  <a:srgbClr val="CCCCCC"/>
                </a:solidFill>
                <a:effectLst/>
                <a:latin typeface="+mn-lt"/>
              </a:rPr>
              <a:t> the </a:t>
            </a:r>
            <a:r>
              <a:rPr lang="it-IT" sz="1100" b="0" i="0" dirty="0" err="1">
                <a:solidFill>
                  <a:srgbClr val="CCCCCC"/>
                </a:solidFill>
                <a:effectLst/>
                <a:latin typeface="+mn-lt"/>
              </a:rPr>
              <a:t>spatial</a:t>
            </a:r>
            <a:r>
              <a:rPr lang="it-IT" sz="1100" b="0" i="0" dirty="0">
                <a:solidFill>
                  <a:srgbClr val="CCCCCC"/>
                </a:solidFill>
                <a:effectLst/>
                <a:latin typeface="+mn-lt"/>
              </a:rPr>
              <a:t> </a:t>
            </a:r>
            <a:r>
              <a:rPr lang="it-IT" sz="1100" b="0" i="0" dirty="0" err="1">
                <a:solidFill>
                  <a:srgbClr val="CCCCCC"/>
                </a:solidFill>
                <a:effectLst/>
                <a:latin typeface="+mn-lt"/>
              </a:rPr>
              <a:t>method</a:t>
            </a:r>
            <a:r>
              <a:rPr lang="it-IT" sz="1100" b="0" i="0" dirty="0">
                <a:solidFill>
                  <a:srgbClr val="CCCCCC"/>
                </a:solidFill>
                <a:effectLst/>
                <a:latin typeface="+mn-lt"/>
              </a:rPr>
              <a:t> from the 2025 paper.</a:t>
            </a:r>
          </a:p>
          <a:p>
            <a:r>
              <a:rPr lang="it-IT" sz="1100" b="0" i="0" dirty="0">
                <a:solidFill>
                  <a:srgbClr val="CCCCCC"/>
                </a:solidFill>
                <a:effectLst/>
                <a:latin typeface="+mn-lt"/>
              </a:rPr>
              <a:t>Second, standard clustering </a:t>
            </a:r>
            <a:r>
              <a:rPr lang="it-IT" sz="1100" b="0" i="0" dirty="0" err="1">
                <a:solidFill>
                  <a:srgbClr val="CCCCCC"/>
                </a:solidFill>
                <a:effectLst/>
                <a:latin typeface="+mn-lt"/>
              </a:rPr>
              <a:t>algorithms</a:t>
            </a:r>
            <a:r>
              <a:rPr lang="it-IT" sz="1100" b="0" i="0" dirty="0">
                <a:solidFill>
                  <a:srgbClr val="CCCCCC"/>
                </a:solidFill>
                <a:effectLst/>
                <a:latin typeface="+mn-lt"/>
              </a:rPr>
              <a:t> </a:t>
            </a:r>
            <a:r>
              <a:rPr lang="it-IT" sz="1100" b="0" i="0" dirty="0" err="1">
                <a:solidFill>
                  <a:srgbClr val="CCCCCC"/>
                </a:solidFill>
                <a:effectLst/>
                <a:latin typeface="+mn-lt"/>
              </a:rPr>
              <a:t>assign</a:t>
            </a:r>
            <a:r>
              <a:rPr lang="it-IT" sz="1100" b="0" i="0" dirty="0">
                <a:solidFill>
                  <a:srgbClr val="CCCCCC"/>
                </a:solidFill>
                <a:effectLst/>
                <a:latin typeface="+mn-lt"/>
              </a:rPr>
              <a:t> random color </a:t>
            </a:r>
            <a:r>
              <a:rPr lang="it-IT" sz="1100" b="0" i="0" dirty="0" err="1">
                <a:solidFill>
                  <a:srgbClr val="CCCCCC"/>
                </a:solidFill>
                <a:effectLst/>
                <a:latin typeface="+mn-lt"/>
              </a:rPr>
              <a:t>IDs</a:t>
            </a:r>
            <a:r>
              <a:rPr lang="it-IT" sz="1100" b="0" i="0" dirty="0">
                <a:solidFill>
                  <a:srgbClr val="CCCCCC"/>
                </a:solidFill>
                <a:effectLst/>
                <a:latin typeface="+mn-lt"/>
              </a:rPr>
              <a:t> </a:t>
            </a:r>
            <a:r>
              <a:rPr lang="it-IT" sz="1100" b="0" i="0" dirty="0" err="1">
                <a:solidFill>
                  <a:srgbClr val="CCCCCC"/>
                </a:solidFill>
                <a:effectLst/>
                <a:latin typeface="+mn-lt"/>
              </a:rPr>
              <a:t>at</a:t>
            </a:r>
            <a:r>
              <a:rPr lang="it-IT" sz="1100" b="0" i="0" dirty="0">
                <a:solidFill>
                  <a:srgbClr val="CCCCCC"/>
                </a:solidFill>
                <a:effectLst/>
                <a:latin typeface="+mn-lt"/>
              </a:rPr>
              <a:t> </a:t>
            </a:r>
            <a:r>
              <a:rPr lang="it-IT" sz="1100" b="0" i="0" dirty="0" err="1">
                <a:solidFill>
                  <a:srgbClr val="CCCCCC"/>
                </a:solidFill>
                <a:effectLst/>
                <a:latin typeface="+mn-lt"/>
              </a:rPr>
              <a:t>every</a:t>
            </a:r>
            <a:r>
              <a:rPr lang="it-IT" sz="1100" b="0" i="0" dirty="0">
                <a:solidFill>
                  <a:srgbClr val="CCCCCC"/>
                </a:solidFill>
                <a:effectLst/>
                <a:latin typeface="+mn-lt"/>
              </a:rPr>
              <a:t> single time frame. In an </a:t>
            </a:r>
            <a:r>
              <a:rPr lang="it-IT" sz="1100" b="0" i="0" dirty="0" err="1">
                <a:solidFill>
                  <a:srgbClr val="CCCCCC"/>
                </a:solidFill>
                <a:effectLst/>
                <a:latin typeface="+mn-lt"/>
              </a:rPr>
              <a:t>animation</a:t>
            </a:r>
            <a:r>
              <a:rPr lang="it-IT" sz="1100" b="0" i="0" dirty="0">
                <a:solidFill>
                  <a:srgbClr val="CCCCCC"/>
                </a:solidFill>
                <a:effectLst/>
                <a:latin typeface="+mn-lt"/>
              </a:rPr>
              <a:t>, </a:t>
            </a:r>
            <a:r>
              <a:rPr lang="it-IT" sz="1100" b="0" i="0" dirty="0" err="1">
                <a:solidFill>
                  <a:srgbClr val="CCCCCC"/>
                </a:solidFill>
                <a:effectLst/>
                <a:latin typeface="+mn-lt"/>
              </a:rPr>
              <a:t>this</a:t>
            </a:r>
            <a:r>
              <a:rPr lang="it-IT" sz="1100" b="0" i="0" dirty="0">
                <a:solidFill>
                  <a:srgbClr val="CCCCCC"/>
                </a:solidFill>
                <a:effectLst/>
                <a:latin typeface="+mn-lt"/>
              </a:rPr>
              <a:t> </a:t>
            </a:r>
            <a:r>
              <a:rPr lang="it-IT" sz="1100" b="0" i="0" dirty="0" err="1">
                <a:solidFill>
                  <a:srgbClr val="CCCCCC"/>
                </a:solidFill>
                <a:effectLst/>
                <a:latin typeface="+mn-lt"/>
              </a:rPr>
              <a:t>caused</a:t>
            </a:r>
            <a:r>
              <a:rPr lang="it-IT" sz="1100" b="0" i="0" dirty="0">
                <a:solidFill>
                  <a:srgbClr val="CCCCCC"/>
                </a:solidFill>
                <a:effectLst/>
                <a:latin typeface="+mn-lt"/>
              </a:rPr>
              <a:t> colors to flicker </a:t>
            </a:r>
            <a:r>
              <a:rPr lang="it-IT" sz="1100" b="0" i="0" dirty="0" err="1">
                <a:solidFill>
                  <a:srgbClr val="CCCCCC"/>
                </a:solidFill>
                <a:effectLst/>
                <a:latin typeface="+mn-lt"/>
              </a:rPr>
              <a:t>chaotically</a:t>
            </a:r>
            <a:r>
              <a:rPr lang="it-IT" sz="1100" b="0" i="0" dirty="0">
                <a:solidFill>
                  <a:srgbClr val="CCCCCC"/>
                </a:solidFill>
                <a:effectLst/>
                <a:latin typeface="+mn-lt"/>
              </a:rPr>
              <a:t>. To fix </a:t>
            </a:r>
            <a:r>
              <a:rPr lang="it-IT" sz="1100" b="0" i="0" dirty="0" err="1">
                <a:solidFill>
                  <a:srgbClr val="CCCCCC"/>
                </a:solidFill>
                <a:effectLst/>
                <a:latin typeface="+mn-lt"/>
              </a:rPr>
              <a:t>this</a:t>
            </a:r>
            <a:r>
              <a:rPr lang="it-IT" sz="1100" b="0" i="0" dirty="0">
                <a:solidFill>
                  <a:srgbClr val="CCCCCC"/>
                </a:solidFill>
                <a:effectLst/>
                <a:latin typeface="+mn-lt"/>
              </a:rPr>
              <a:t>, I </a:t>
            </a:r>
            <a:r>
              <a:rPr lang="it-IT" sz="1100" b="0" i="0" dirty="0" err="1">
                <a:solidFill>
                  <a:srgbClr val="CCCCCC"/>
                </a:solidFill>
                <a:effectLst/>
                <a:latin typeface="+mn-lt"/>
              </a:rPr>
              <a:t>implemented</a:t>
            </a:r>
            <a:r>
              <a:rPr lang="it-IT" sz="1100" b="0" i="0" dirty="0">
                <a:solidFill>
                  <a:srgbClr val="CCCCCC"/>
                </a:solidFill>
                <a:effectLst/>
                <a:latin typeface="+mn-lt"/>
              </a:rPr>
              <a:t> Global Label Matching: </a:t>
            </a:r>
            <a:r>
              <a:rPr lang="it-IT" sz="1100" b="0" i="0" dirty="0" err="1">
                <a:solidFill>
                  <a:srgbClr val="CCCCCC"/>
                </a:solidFill>
                <a:effectLst/>
                <a:latin typeface="+mn-lt"/>
              </a:rPr>
              <a:t>it</a:t>
            </a:r>
            <a:r>
              <a:rPr lang="it-IT" sz="1100" b="0" i="0" dirty="0">
                <a:solidFill>
                  <a:srgbClr val="CCCCCC"/>
                </a:solidFill>
                <a:effectLst/>
                <a:latin typeface="+mn-lt"/>
              </a:rPr>
              <a:t> </a:t>
            </a:r>
            <a:r>
              <a:rPr lang="it-IT" sz="1100" b="0" i="0" dirty="0" err="1">
                <a:solidFill>
                  <a:srgbClr val="CCCCCC"/>
                </a:solidFill>
                <a:effectLst/>
                <a:latin typeface="+mn-lt"/>
              </a:rPr>
              <a:t>uses</a:t>
            </a:r>
            <a:r>
              <a:rPr lang="it-IT" sz="1100" b="0" i="0" dirty="0">
                <a:solidFill>
                  <a:srgbClr val="CCCCCC"/>
                </a:solidFill>
                <a:effectLst/>
                <a:latin typeface="+mn-lt"/>
              </a:rPr>
              <a:t> </a:t>
            </a:r>
            <a:r>
              <a:rPr lang="it-IT" sz="1100" b="0" i="0" dirty="0" err="1">
                <a:solidFill>
                  <a:srgbClr val="CCCCCC"/>
                </a:solidFill>
                <a:effectLst/>
                <a:latin typeface="+mn-lt"/>
              </a:rPr>
              <a:t>spatial</a:t>
            </a:r>
            <a:r>
              <a:rPr lang="it-IT" sz="1100" b="0" i="0" dirty="0">
                <a:solidFill>
                  <a:srgbClr val="CCCCCC"/>
                </a:solidFill>
                <a:effectLst/>
                <a:latin typeface="+mn-lt"/>
              </a:rPr>
              <a:t> </a:t>
            </a:r>
            <a:r>
              <a:rPr lang="it-IT" sz="1100" b="0" i="0" dirty="0" err="1">
                <a:solidFill>
                  <a:srgbClr val="CCCCCC"/>
                </a:solidFill>
                <a:effectLst/>
                <a:latin typeface="+mn-lt"/>
              </a:rPr>
              <a:t>voting</a:t>
            </a:r>
            <a:r>
              <a:rPr lang="it-IT" sz="1100" b="0" i="0" dirty="0">
                <a:solidFill>
                  <a:srgbClr val="CCCCCC"/>
                </a:solidFill>
                <a:effectLst/>
                <a:latin typeface="+mn-lt"/>
              </a:rPr>
              <a:t> </a:t>
            </a:r>
            <a:r>
              <a:rPr lang="it-IT" sz="1100" b="0" i="0" dirty="0" err="1">
                <a:solidFill>
                  <a:srgbClr val="CCCCCC"/>
                </a:solidFill>
                <a:effectLst/>
                <a:latin typeface="+mn-lt"/>
              </a:rPr>
              <a:t>between</a:t>
            </a:r>
            <a:r>
              <a:rPr lang="it-IT" sz="1100" b="0" i="0" dirty="0">
                <a:solidFill>
                  <a:srgbClr val="CCCCCC"/>
                </a:solidFill>
                <a:effectLst/>
                <a:latin typeface="+mn-lt"/>
              </a:rPr>
              <a:t> consecutive frames to </a:t>
            </a:r>
            <a:r>
              <a:rPr lang="it-IT" sz="1100" b="0" i="0" dirty="0" err="1">
                <a:solidFill>
                  <a:srgbClr val="CCCCCC"/>
                </a:solidFill>
                <a:effectLst/>
                <a:latin typeface="+mn-lt"/>
              </a:rPr>
              <a:t>keep</a:t>
            </a:r>
            <a:r>
              <a:rPr lang="it-IT" sz="1100" b="0" i="0" dirty="0">
                <a:solidFill>
                  <a:srgbClr val="CCCCCC"/>
                </a:solidFill>
                <a:effectLst/>
                <a:latin typeface="+mn-lt"/>
              </a:rPr>
              <a:t> cluster </a:t>
            </a:r>
            <a:r>
              <a:rPr lang="it-IT" sz="1100" b="0" i="0" dirty="0" err="1">
                <a:solidFill>
                  <a:srgbClr val="CCCCCC"/>
                </a:solidFill>
                <a:effectLst/>
                <a:latin typeface="+mn-lt"/>
              </a:rPr>
              <a:t>identities</a:t>
            </a:r>
            <a:r>
              <a:rPr lang="it-IT" sz="1100" b="0" i="0" dirty="0">
                <a:solidFill>
                  <a:srgbClr val="CCCCCC"/>
                </a:solidFill>
                <a:effectLst/>
                <a:latin typeface="+mn-lt"/>
              </a:rPr>
              <a:t> and colors </a:t>
            </a:r>
            <a:r>
              <a:rPr lang="it-IT" sz="1100" b="0" i="0" dirty="0" err="1">
                <a:solidFill>
                  <a:srgbClr val="CCCCCC"/>
                </a:solidFill>
                <a:effectLst/>
                <a:latin typeface="+mn-lt"/>
              </a:rPr>
              <a:t>perfectly</a:t>
            </a:r>
            <a:r>
              <a:rPr lang="it-IT" sz="1100" b="0" i="0" dirty="0">
                <a:solidFill>
                  <a:srgbClr val="CCCCCC"/>
                </a:solidFill>
                <a:effectLst/>
                <a:latin typeface="+mn-lt"/>
              </a:rPr>
              <a:t> </a:t>
            </a:r>
            <a:r>
              <a:rPr lang="it-IT" sz="1100" b="0" i="0" dirty="0" err="1">
                <a:solidFill>
                  <a:srgbClr val="CCCCCC"/>
                </a:solidFill>
                <a:effectLst/>
                <a:latin typeface="+mn-lt"/>
              </a:rPr>
              <a:t>stable</a:t>
            </a:r>
            <a:r>
              <a:rPr lang="it-IT" sz="1100" b="0" i="0" dirty="0">
                <a:solidFill>
                  <a:srgbClr val="CCCCCC"/>
                </a:solidFill>
                <a:effectLst/>
                <a:latin typeface="+mn-lt"/>
              </a:rPr>
              <a:t> </a:t>
            </a:r>
            <a:r>
              <a:rPr lang="it-IT" sz="1100" b="0" i="0" dirty="0" err="1">
                <a:solidFill>
                  <a:srgbClr val="CCCCCC"/>
                </a:solidFill>
                <a:effectLst/>
                <a:latin typeface="+mn-lt"/>
              </a:rPr>
              <a:t>during</a:t>
            </a:r>
            <a:r>
              <a:rPr lang="it-IT" sz="1100" b="0" i="0" dirty="0">
                <a:solidFill>
                  <a:srgbClr val="CCCCCC"/>
                </a:solidFill>
                <a:effectLst/>
                <a:latin typeface="+mn-lt"/>
              </a:rPr>
              <a:t> playback.</a:t>
            </a:r>
            <a:r>
              <a:rPr i="0" dirty="0">
                <a:latin typeface="+mn-lt"/>
              </a:rPr>
              <a:t>"</a:t>
            </a:r>
          </a:p>
          <a:p>
            <a:endParaRPr dirty="0"/>
          </a:p>
          <a:p>
            <a:r>
              <a:rPr dirty="0"/>
              <a:t>[VISUAL ACTION: Point to Why Cylinder Partitioning on Card 1, Global Label Matching on Card 2, and the 8-worker thread pool on Card 3]</a:t>
            </a:r>
          </a:p>
        </p:txBody>
      </p:sp>
      <p:sp>
        <p:nvSpPr>
          <p:cNvPr id="282" name="Google Shape;28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10 | TIME: 6:05 - 6:50 | TARGET: 45 SECONDS]</a:t>
            </a:r>
          </a:p>
          <a:p>
            <a:endParaRPr dirty="0"/>
          </a:p>
          <a:p>
            <a:r>
              <a:rPr dirty="0"/>
              <a:t>SPEECH (EN):</a:t>
            </a:r>
          </a:p>
          <a:p>
            <a:r>
              <a:rPr dirty="0"/>
              <a:t>"To automatically isolate fault structures from thousands of earthquakes, we designed a flexible clustering engine.</a:t>
            </a:r>
          </a:p>
          <a:p>
            <a:endParaRPr dirty="0"/>
          </a:p>
          <a:p>
            <a:r>
              <a:rPr dirty="0"/>
              <a:t>We initially evaluated K-Means, but it fails in seismology: it forces every point into a cluster and assumes spherical shapes. In reality, geological faults are elongated, and background noise surrounds them.</a:t>
            </a:r>
          </a:p>
          <a:p>
            <a:r>
              <a:rPr dirty="0"/>
              <a:t>Therefore, we adopted DBSCAN: it detects arbitrary, non-planar fault shapes without requiring a predefined cluster count, and correctly isolates background noise as label minus one. We automated radius tuning by estimating epsilon </a:t>
            </a:r>
            <a:r>
              <a:rPr lang="it-IT" dirty="0"/>
              <a:t>from k-</a:t>
            </a:r>
            <a:r>
              <a:rPr lang="it-IT" dirty="0" err="1"/>
              <a:t>nearest</a:t>
            </a:r>
            <a:r>
              <a:rPr lang="it-IT" dirty="0"/>
              <a:t>-</a:t>
            </a:r>
            <a:r>
              <a:rPr lang="it-IT" dirty="0" err="1"/>
              <a:t>neighbour</a:t>
            </a:r>
            <a:r>
              <a:rPr lang="it-IT" dirty="0"/>
              <a:t> </a:t>
            </a:r>
            <a:r>
              <a:rPr dirty="0"/>
              <a:t>using the </a:t>
            </a:r>
            <a:r>
              <a:rPr dirty="0" err="1"/>
              <a:t>Kneedle</a:t>
            </a:r>
            <a:r>
              <a:rPr dirty="0"/>
              <a:t> algorithm.</a:t>
            </a:r>
          </a:p>
          <a:p>
            <a:r>
              <a:rPr dirty="0"/>
              <a:t>We also retained </a:t>
            </a:r>
            <a:r>
              <a:rPr dirty="0" err="1"/>
              <a:t>MiniBatchKMeans</a:t>
            </a:r>
            <a:r>
              <a:rPr dirty="0"/>
              <a:t> for rapid centroid preview, and introduced a Hierarchical Cluster Lock mechanism: researchers can selectively lock confirmed faults and re-cluster only unresolved swarms with refined local parameters."</a:t>
            </a:r>
          </a:p>
          <a:p>
            <a:endParaRPr dirty="0"/>
          </a:p>
          <a:p>
            <a:r>
              <a:rPr dirty="0"/>
              <a:t>[VISUAL ACTION: Explain why K-Means failed and DBSCAN succeeded, then highlight the Hierarchical Sub-Clustering and Cluster Lock mechanism on the main card]</a:t>
            </a:r>
          </a:p>
        </p:txBody>
      </p:sp>
      <p:sp>
        <p:nvSpPr>
          <p:cNvPr id="242" name="Google Shape;24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11 | TIME: 6:50 - 7:35 | TARGET: 45 SECONDS]</a:t>
            </a:r>
          </a:p>
          <a:p>
            <a:endParaRPr dirty="0"/>
          </a:p>
          <a:p>
            <a:r>
              <a:rPr dirty="0"/>
              <a:t>SPEECH (EN):</a:t>
            </a:r>
          </a:p>
          <a:p>
            <a:r>
              <a:rPr dirty="0"/>
              <a:t>"From clustered </a:t>
            </a:r>
            <a:r>
              <a:rPr dirty="0" err="1"/>
              <a:t>hypocentres</a:t>
            </a:r>
            <a:r>
              <a:rPr dirty="0"/>
              <a:t>, the system mathematically reconstructs 3D fault planes in two steps:</a:t>
            </a:r>
          </a:p>
          <a:p>
            <a:endParaRPr dirty="0"/>
          </a:p>
          <a:p>
            <a:r>
              <a:rPr dirty="0"/>
              <a:t>Step 1 is RANSAC Inlier Consensus: it tests random 3-point combinations over 100 iterations to find the planar consensus and discard non-planar noise.</a:t>
            </a:r>
          </a:p>
          <a:p>
            <a:r>
              <a:rPr dirty="0"/>
              <a:t>Step 2 applies Singular Value Decomposition strictly to those centered inliers. The fault normal vector comes directly from the eigenvector of the smallest singular value.</a:t>
            </a:r>
          </a:p>
          <a:p>
            <a:r>
              <a:rPr dirty="0"/>
              <a:t>From this normal vector, the system calculates geological Strike, Dip, Dip Direction, and Planarity, </a:t>
            </a:r>
            <a:r>
              <a:rPr lang="it-IT" dirty="0" err="1"/>
              <a:t>these</a:t>
            </a:r>
            <a:r>
              <a:rPr lang="it-IT" dirty="0"/>
              <a:t> </a:t>
            </a:r>
            <a:r>
              <a:rPr lang="it-IT" dirty="0" err="1"/>
              <a:t>values</a:t>
            </a:r>
            <a:r>
              <a:rPr lang="it-IT" dirty="0"/>
              <a:t> are </a:t>
            </a:r>
            <a:r>
              <a:rPr lang="it-IT" dirty="0" err="1"/>
              <a:t>shown</a:t>
            </a:r>
            <a:r>
              <a:rPr lang="it-IT" dirty="0"/>
              <a:t> in the 3D </a:t>
            </a:r>
            <a:r>
              <a:rPr lang="it-IT" dirty="0" err="1"/>
              <a:t>mashes’s</a:t>
            </a:r>
            <a:r>
              <a:rPr lang="it-IT" dirty="0"/>
              <a:t> </a:t>
            </a:r>
            <a:r>
              <a:rPr lang="it-IT" dirty="0" err="1"/>
              <a:t>hovers</a:t>
            </a:r>
            <a:r>
              <a:rPr dirty="0"/>
              <a:t>."</a:t>
            </a:r>
          </a:p>
          <a:p>
            <a:endParaRPr dirty="0"/>
          </a:p>
          <a:p>
            <a:r>
              <a:rPr dirty="0"/>
              <a:t>[VISUAL ACTION: Walk through Step 1 (RANSAC Inlier Consensus), Step 2 (SVD &amp; Geological Angles), and point to the Strike, Dip, and Planarity outputs]</a:t>
            </a:r>
          </a:p>
        </p:txBody>
      </p:sp>
      <p:sp>
        <p:nvSpPr>
          <p:cNvPr id="266" name="Google Shape;26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97" name="Google Shape;29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12 | TIME: 7:35 - 8:20 | TARGET: 45 SECONDS]</a:t>
                </a:r>
              </a:p>
              <a:p>
                <a:endParaRPr dirty="0"/>
              </a:p>
              <a:p>
                <a:r>
                  <a:rPr dirty="0"/>
                  <a:t>SPEECH (EN):</a:t>
                </a:r>
              </a:p>
              <a:p>
                <a:r>
                  <a:rPr dirty="0"/>
                  <a:t>"Looking at the data engineering pipeline:</a:t>
                </a:r>
              </a:p>
              <a:p>
                <a:endParaRPr dirty="0"/>
              </a:p>
              <a:p>
                <a:r>
                  <a:rPr dirty="0"/>
                  <a:t>Stage 1 handles Heterogeneous Ingestion: querying the INGV GOSSIP REST API in yearly chunks alongside local offline CSV parsing, supported by automatic alias detection for column headers.</a:t>
                </a:r>
              </a:p>
              <a:p>
                <a:r>
                  <a:rPr dirty="0"/>
                  <a:t>Stage 2 enforces Quality </a:t>
                </a:r>
                <a:r>
                  <a:rPr dirty="0" err="1"/>
                  <a:t>Sanitisation</a:t>
                </a:r>
                <a:r>
                  <a:rPr dirty="0"/>
                  <a:t> and earthquakes without a recorded depth are retained in 2D views for catalogue completeness, but strictly excluded from 3D views and clustering to prevent artificial planes at sea level. Physical bounds checks restrict depths between minus 10 and 800 </a:t>
                </a:r>
                <a:r>
                  <a:rPr dirty="0" err="1"/>
                  <a:t>kilometres</a:t>
                </a:r>
                <a:r>
                  <a:rPr dirty="0"/>
                  <a:t>.</a:t>
                </a:r>
              </a:p>
              <a:p>
                <a:r>
                  <a:rPr lang="it-IT" b="0" dirty="0" err="1">
                    <a:effectLst/>
                  </a:rPr>
                  <a:t>Lastly</a:t>
                </a:r>
                <a:r>
                  <a:rPr lang="it-IT" b="0" dirty="0">
                    <a:effectLst/>
                  </a:rPr>
                  <a:t>, to </a:t>
                </a:r>
                <a:r>
                  <a:rPr lang="it-IT" b="0" dirty="0" err="1">
                    <a:effectLst/>
                  </a:rPr>
                  <a:t>maximize</a:t>
                </a:r>
                <a:r>
                  <a:rPr lang="it-IT" b="0" dirty="0">
                    <a:effectLst/>
                  </a:rPr>
                  <a:t> streaming </a:t>
                </a:r>
                <a:r>
                  <a:rPr lang="it-IT" b="0" dirty="0" err="1">
                    <a:effectLst/>
                  </a:rPr>
                  <a:t>efficiency</a:t>
                </a:r>
                <a:r>
                  <a:rPr lang="it-IT" b="0" dirty="0">
                    <a:effectLst/>
                  </a:rPr>
                  <a:t>, </a:t>
                </a:r>
                <a:r>
                  <a:rPr lang="it-IT" b="0" dirty="0" err="1">
                    <a:effectLst/>
                  </a:rPr>
                  <a:t>we</a:t>
                </a:r>
                <a:r>
                  <a:rPr lang="it-IT" b="0" dirty="0">
                    <a:effectLst/>
                  </a:rPr>
                  <a:t> </a:t>
                </a:r>
                <a:r>
                  <a:rPr lang="it-IT" b="0" dirty="0" err="1">
                    <a:effectLst/>
                  </a:rPr>
                  <a:t>eliminated</a:t>
                </a:r>
                <a:r>
                  <a:rPr lang="it-IT" b="0" dirty="0">
                    <a:effectLst/>
                  </a:rPr>
                  <a:t> JSON in favor of a </a:t>
                </a:r>
                <a:r>
                  <a:rPr lang="it-IT" b="0" dirty="0" err="1">
                    <a:effectLst/>
                  </a:rPr>
                  <a:t>raw</a:t>
                </a:r>
                <a:r>
                  <a:rPr lang="it-IT" b="0" dirty="0">
                    <a:effectLst/>
                  </a:rPr>
                  <a:t> Float32 </a:t>
                </a:r>
                <a:r>
                  <a:rPr lang="it-IT" b="0" dirty="0" err="1">
                    <a:effectLst/>
                  </a:rPr>
                  <a:t>transport</a:t>
                </a:r>
                <a:r>
                  <a:rPr lang="it-IT" b="0" dirty="0">
                    <a:effectLst/>
                  </a:rPr>
                  <a:t> </a:t>
                </a:r>
                <a:r>
                  <a:rPr lang="it-IT" b="0" dirty="0" err="1">
                    <a:effectLst/>
                  </a:rPr>
                  <a:t>protocol</a:t>
                </a:r>
                <a:r>
                  <a:rPr lang="it-IT" b="0" dirty="0">
                    <a:effectLst/>
                  </a:rPr>
                  <a:t>.</a:t>
                </a:r>
                <a:endParaRPr lang="it-IT" b="0" dirty="0"/>
              </a:p>
              <a:p>
                <a:r>
                  <a:rPr lang="it-IT" b="0" dirty="0">
                    <a:effectLst/>
                  </a:rPr>
                  <a:t>The data pipeline </a:t>
                </a:r>
                <a:r>
                  <a:rPr lang="it-IT" b="0" dirty="0" err="1">
                    <a:effectLst/>
                  </a:rPr>
                  <a:t>defines</a:t>
                </a:r>
                <a:r>
                  <a:rPr lang="it-IT" b="0" dirty="0">
                    <a:effectLst/>
                  </a:rPr>
                  <a:t> a </a:t>
                </a:r>
                <a:r>
                  <a:rPr lang="it-IT" b="0" dirty="0" err="1">
                    <a:effectLst/>
                  </a:rPr>
                  <a:t>contiguous</a:t>
                </a:r>
                <a:r>
                  <a:rPr lang="it-IT" b="0" dirty="0">
                    <a:effectLst/>
                  </a:rPr>
                  <a:t> </a:t>
                </a:r>
                <a:r>
                  <a:rPr lang="it-IT" b="0" dirty="0" err="1">
                    <a:effectLst/>
                  </a:rPr>
                  <a:t>memory</a:t>
                </a:r>
                <a:r>
                  <a:rPr lang="it-IT" b="0" dirty="0">
                    <a:effectLst/>
                  </a:rPr>
                  <a:t> layout </a:t>
                </a:r>
                <a:r>
                  <a:rPr lang="it-IT" b="0" dirty="0" err="1">
                    <a:effectLst/>
                  </a:rPr>
                  <a:t>structured</a:t>
                </a:r>
                <a:r>
                  <a:rPr lang="it-IT" b="0" dirty="0">
                    <a:effectLst/>
                  </a:rPr>
                  <a:t> with an </a:t>
                </a:r>
                <a14:m>
                  <m:oMath xmlns:m="http://schemas.openxmlformats.org/officeDocument/2006/math">
                    <m:d>
                      <m:dPr>
                        <m:begChr m:val="["/>
                        <m:endChr m:val="]"/>
                        <m:sepChr m:val=","/>
                        <m:ctrlPr>
                          <a:rPr lang="it-IT" sz="1100" b="0" i="1" u="none" strike="noStrike" cap="none" spc="0" smtClean="0">
                            <a:solidFill>
                              <a:srgbClr val="000000"/>
                            </a:solidFill>
                            <a:latin typeface="Cambria Math" panose="02040503050406030204" pitchFamily="18" charset="0"/>
                            <a:ea typeface="Arial"/>
                            <a:cs typeface="Arial"/>
                            <a:sym typeface="Arial"/>
                          </a:rPr>
                        </m:ctrlPr>
                      </m:dPr>
                      <m:e>
                        <m:r>
                          <a:rPr lang="it-IT" sz="1100" b="0" i="1" u="none" strike="noStrike" cap="none" spc="0" smtClean="0">
                            <a:solidFill>
                              <a:srgbClr val="000000"/>
                            </a:solidFill>
                            <a:latin typeface="Cambria Math" panose="02040503050406030204" pitchFamily="18" charset="0"/>
                            <a:ea typeface="Arial"/>
                            <a:cs typeface="Arial"/>
                            <a:sym typeface="Arial"/>
                          </a:rPr>
                          <m:t>𝑁</m:t>
                        </m:r>
                      </m:e>
                      <m:e>
                        <m:sSub>
                          <m:sSubPr>
                            <m:ctrlPr>
                              <a:rPr lang="it-IT" sz="1100" b="0" i="1" u="none" strike="noStrike" cap="none" spc="0" smtClean="0">
                                <a:solidFill>
                                  <a:srgbClr val="000000"/>
                                </a:solidFill>
                                <a:latin typeface="Cambria Math" panose="02040503050406030204" pitchFamily="18" charset="0"/>
                                <a:ea typeface="Arial"/>
                                <a:cs typeface="Arial"/>
                                <a:sym typeface="Arial"/>
                              </a:rPr>
                            </m:ctrlPr>
                          </m:sSubPr>
                          <m:e>
                            <m:r>
                              <a:rPr lang="it-IT" sz="1100" b="0" i="1" u="none" strike="noStrike" cap="none" spc="0" smtClean="0">
                                <a:solidFill>
                                  <a:srgbClr val="000000"/>
                                </a:solidFill>
                                <a:latin typeface="Cambria Math" panose="02040503050406030204" pitchFamily="18" charset="0"/>
                                <a:ea typeface="Arial"/>
                                <a:cs typeface="Arial"/>
                                <a:sym typeface="Arial"/>
                              </a:rPr>
                              <m:t>𝐿</m:t>
                            </m:r>
                          </m:e>
                          <m:sub>
                            <m:r>
                              <a:rPr lang="it-IT" sz="1100" b="0" i="1" u="none" strike="noStrike" cap="none" spc="0" smtClean="0">
                                <a:solidFill>
                                  <a:srgbClr val="000000"/>
                                </a:solidFill>
                                <a:latin typeface="Cambria Math" panose="02040503050406030204" pitchFamily="18" charset="0"/>
                                <a:ea typeface="Arial"/>
                                <a:cs typeface="Arial"/>
                                <a:sym typeface="Arial"/>
                              </a:rPr>
                              <m:t>𝑐</m:t>
                            </m:r>
                          </m:sub>
                        </m:sSub>
                      </m:e>
                    </m:d>
                  </m:oMath>
                </a14:m>
                <a:r>
                  <a:rPr lang="it-IT" b="0" dirty="0">
                    <a:effectLst/>
                  </a:rPr>
                  <a:t> </a:t>
                </a:r>
                <a:r>
                  <a:rPr lang="it-IT" b="0" dirty="0" err="1">
                    <a:effectLst/>
                  </a:rPr>
                  <a:t>descriptor</a:t>
                </a:r>
                <a:r>
                  <a:rPr lang="it-IT" b="0" dirty="0">
                    <a:effectLst/>
                  </a:rPr>
                  <a:t> </a:t>
                </a:r>
                <a:r>
                  <a:rPr lang="it-IT" b="0" dirty="0" err="1">
                    <a:effectLst/>
                  </a:rPr>
                  <a:t>header</a:t>
                </a:r>
                <a:r>
                  <a:rPr lang="it-IT" b="0" dirty="0">
                    <a:effectLst/>
                  </a:rPr>
                  <a:t>, </a:t>
                </a:r>
                <a:r>
                  <a:rPr lang="it-IT" b="0" dirty="0" err="1">
                    <a:effectLst/>
                  </a:rPr>
                  <a:t>followed</a:t>
                </a:r>
                <a:r>
                  <a:rPr lang="it-IT" b="0" dirty="0">
                    <a:effectLst/>
                  </a:rPr>
                  <a:t> by </a:t>
                </a:r>
                <a:r>
                  <a:rPr lang="it-IT" b="0" dirty="0" err="1">
                    <a:effectLst/>
                  </a:rPr>
                  <a:t>coordinates</a:t>
                </a:r>
                <a:r>
                  <a:rPr lang="it-IT" b="0" dirty="0">
                    <a:effectLst/>
                  </a:rPr>
                  <a:t> and </a:t>
                </a:r>
                <a:r>
                  <a:rPr lang="it-IT" b="0" dirty="0" err="1">
                    <a:effectLst/>
                  </a:rPr>
                  <a:t>temporal</a:t>
                </a:r>
                <a:r>
                  <a:rPr lang="it-IT" b="0" dirty="0">
                    <a:effectLst/>
                  </a:rPr>
                  <a:t> </a:t>
                </a:r>
                <a:r>
                  <a:rPr lang="it-IT" b="0" dirty="0" err="1">
                    <a:effectLst/>
                  </a:rPr>
                  <a:t>indices</a:t>
                </a:r>
                <a:r>
                  <a:rPr lang="it-IT" b="0" dirty="0">
                    <a:effectLst/>
                  </a:rPr>
                  <a:t>.</a:t>
                </a:r>
                <a:endParaRPr lang="it-IT" b="0" dirty="0"/>
              </a:p>
              <a:p>
                <a:r>
                  <a:rPr lang="it-IT" b="0" dirty="0" err="1">
                    <a:effectLst/>
                  </a:rPr>
                  <a:t>This</a:t>
                </a:r>
                <a:r>
                  <a:rPr lang="it-IT" b="0" dirty="0">
                    <a:effectLst/>
                  </a:rPr>
                  <a:t> </a:t>
                </a:r>
                <a:r>
                  <a:rPr lang="it-IT" b="0" dirty="0" err="1">
                    <a:effectLst/>
                  </a:rPr>
                  <a:t>enables</a:t>
                </a:r>
                <a:r>
                  <a:rPr lang="it-IT" b="0" dirty="0">
                    <a:effectLst/>
                  </a:rPr>
                  <a:t> a zero-copy </a:t>
                </a:r>
                <a:r>
                  <a:rPr lang="it-IT" b="0" dirty="0" err="1">
                    <a:effectLst/>
                  </a:rPr>
                  <a:t>ingestion</a:t>
                </a:r>
                <a:r>
                  <a:rPr lang="it-IT" b="0" dirty="0">
                    <a:effectLst/>
                  </a:rPr>
                  <a:t> pipeline: the client-side JavaScript </a:t>
                </a:r>
                <a:r>
                  <a:rPr lang="it-IT" b="0" dirty="0" err="1">
                    <a:effectLst/>
                  </a:rPr>
                  <a:t>engine</a:t>
                </a:r>
                <a:r>
                  <a:rPr lang="it-IT" b="0" dirty="0">
                    <a:effectLst/>
                  </a:rPr>
                  <a:t> </a:t>
                </a:r>
                <a:r>
                  <a:rPr lang="it-IT" b="0" dirty="0" err="1">
                    <a:effectLst/>
                  </a:rPr>
                  <a:t>wraps</a:t>
                </a:r>
                <a:r>
                  <a:rPr lang="it-IT" b="0" dirty="0">
                    <a:effectLst/>
                  </a:rPr>
                  <a:t> the incoming buffer </a:t>
                </a:r>
                <a:r>
                  <a:rPr lang="it-IT" b="0" dirty="0" err="1">
                    <a:effectLst/>
                  </a:rPr>
                  <a:t>directly</a:t>
                </a:r>
                <a:r>
                  <a:rPr lang="it-IT" b="0" dirty="0">
                    <a:effectLst/>
                  </a:rPr>
                  <a:t> </a:t>
                </a:r>
                <a:r>
                  <a:rPr lang="it-IT" b="0" dirty="0" err="1">
                    <a:effectLst/>
                  </a:rPr>
                  <a:t>into</a:t>
                </a:r>
                <a:r>
                  <a:rPr lang="it-IT" b="0" dirty="0">
                    <a:effectLst/>
                  </a:rPr>
                  <a:t> </a:t>
                </a:r>
                <a:r>
                  <a:rPr lang="it-IT" b="0" dirty="0" err="1">
                    <a:effectLst/>
                  </a:rPr>
                  <a:t>WebGL</a:t>
                </a:r>
                <a:r>
                  <a:rPr lang="it-IT" b="0" dirty="0">
                    <a:effectLst/>
                  </a:rPr>
                  <a:t> </a:t>
                </a:r>
                <a:r>
                  <a:rPr lang="it-IT" b="0" dirty="0" err="1">
                    <a:effectLst/>
                  </a:rPr>
                  <a:t>without</a:t>
                </a:r>
                <a:r>
                  <a:rPr lang="it-IT" b="0" dirty="0">
                    <a:effectLst/>
                  </a:rPr>
                  <a:t> </a:t>
                </a:r>
                <a:r>
                  <a:rPr lang="it-IT" b="0" dirty="0" err="1">
                    <a:effectLst/>
                  </a:rPr>
                  <a:t>invoking</a:t>
                </a:r>
                <a:r>
                  <a:rPr lang="it-IT" b="0" dirty="0">
                    <a:effectLst/>
                  </a:rPr>
                  <a:t> </a:t>
                </a:r>
                <a:r>
                  <a:rPr lang="it-IT" b="0" dirty="0" err="1">
                    <a:effectLst/>
                  </a:rPr>
                  <a:t>string</a:t>
                </a:r>
                <a:r>
                  <a:rPr lang="it-IT" b="0" dirty="0">
                    <a:effectLst/>
                  </a:rPr>
                  <a:t> parsers.</a:t>
                </a:r>
                <a:endParaRPr lang="it-IT" b="0" dirty="0"/>
              </a:p>
              <a:p>
                <a:endParaRPr dirty="0"/>
              </a:p>
              <a:p>
                <a:r>
                  <a:rPr dirty="0"/>
                  <a:t>[VISUAL ACTION: Trace through the 4 top cards (Ingestion, Missing Depth Principle, Physical Bounds, WGS84) and highlight the -80% size and &lt;0.01ms badges on the bottom card]</a:t>
                </a:r>
              </a:p>
            </p:txBody>
          </p:sp>
        </mc:Choice>
        <mc:Fallback>
          <p:sp>
            <p:nvSpPr>
              <p:cNvPr id="297" name="Google Shape;297;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12 | TIME: 7:35 - 8:20 | TARGET: 45 SECONDS]</a:t>
                </a:r>
              </a:p>
              <a:p>
                <a:endParaRPr dirty="0"/>
              </a:p>
              <a:p>
                <a:r>
                  <a:rPr dirty="0"/>
                  <a:t>SPEECH (EN):</a:t>
                </a:r>
              </a:p>
              <a:p>
                <a:r>
                  <a:rPr dirty="0"/>
                  <a:t>"Looking at the data engineering pipeline:</a:t>
                </a:r>
              </a:p>
              <a:p>
                <a:endParaRPr dirty="0"/>
              </a:p>
              <a:p>
                <a:r>
                  <a:rPr dirty="0"/>
                  <a:t>Stage 1 handles Heterogeneous Ingestion: querying the INGV GOSSIP REST API in yearly chunks alongside local offline CSV parsing, supported by automatic alias detection for column headers.</a:t>
                </a:r>
              </a:p>
              <a:p>
                <a:r>
                  <a:rPr dirty="0"/>
                  <a:t>Stage 2 enforces Quality </a:t>
                </a:r>
                <a:r>
                  <a:rPr dirty="0" err="1"/>
                  <a:t>Sanitisation</a:t>
                </a:r>
                <a:r>
                  <a:rPr dirty="0"/>
                  <a:t> and earthquakes without a recorded depth are retained in 2D views for catalogue completeness, but strictly excluded from 3D views and clustering to prevent artificial planes at sea level. Physical bounds checks restrict depths between minus 10 and 800 </a:t>
                </a:r>
                <a:r>
                  <a:rPr dirty="0" err="1"/>
                  <a:t>kilometres</a:t>
                </a:r>
                <a:r>
                  <a:rPr dirty="0"/>
                  <a:t>.</a:t>
                </a:r>
              </a:p>
              <a:p>
                <a:r>
                  <a:rPr lang="it-IT" b="0" dirty="0" err="1">
                    <a:effectLst/>
                  </a:rPr>
                  <a:t>Lastly</a:t>
                </a:r>
                <a:r>
                  <a:rPr lang="it-IT" b="0" dirty="0">
                    <a:effectLst/>
                  </a:rPr>
                  <a:t>, to </a:t>
                </a:r>
                <a:r>
                  <a:rPr lang="it-IT" b="0" dirty="0" err="1">
                    <a:effectLst/>
                  </a:rPr>
                  <a:t>maximize</a:t>
                </a:r>
                <a:r>
                  <a:rPr lang="it-IT" b="0" dirty="0">
                    <a:effectLst/>
                  </a:rPr>
                  <a:t> streaming </a:t>
                </a:r>
                <a:r>
                  <a:rPr lang="it-IT" b="0" dirty="0" err="1">
                    <a:effectLst/>
                  </a:rPr>
                  <a:t>efficiency</a:t>
                </a:r>
                <a:r>
                  <a:rPr lang="it-IT" b="0" dirty="0">
                    <a:effectLst/>
                  </a:rPr>
                  <a:t>, </a:t>
                </a:r>
                <a:r>
                  <a:rPr lang="it-IT" b="0" dirty="0" err="1">
                    <a:effectLst/>
                  </a:rPr>
                  <a:t>we</a:t>
                </a:r>
                <a:r>
                  <a:rPr lang="it-IT" b="0" dirty="0">
                    <a:effectLst/>
                  </a:rPr>
                  <a:t> </a:t>
                </a:r>
                <a:r>
                  <a:rPr lang="it-IT" b="0" dirty="0" err="1">
                    <a:effectLst/>
                  </a:rPr>
                  <a:t>eliminated</a:t>
                </a:r>
                <a:r>
                  <a:rPr lang="it-IT" b="0" dirty="0">
                    <a:effectLst/>
                  </a:rPr>
                  <a:t> JSON in favor of a </a:t>
                </a:r>
                <a:r>
                  <a:rPr lang="it-IT" b="0" dirty="0" err="1">
                    <a:effectLst/>
                  </a:rPr>
                  <a:t>raw</a:t>
                </a:r>
                <a:r>
                  <a:rPr lang="it-IT" b="0" dirty="0">
                    <a:effectLst/>
                  </a:rPr>
                  <a:t> Float32 </a:t>
                </a:r>
                <a:r>
                  <a:rPr lang="it-IT" b="0" dirty="0" err="1">
                    <a:effectLst/>
                  </a:rPr>
                  <a:t>transport</a:t>
                </a:r>
                <a:r>
                  <a:rPr lang="it-IT" b="0" dirty="0">
                    <a:effectLst/>
                  </a:rPr>
                  <a:t> </a:t>
                </a:r>
                <a:r>
                  <a:rPr lang="it-IT" b="0" dirty="0" err="1">
                    <a:effectLst/>
                  </a:rPr>
                  <a:t>protocol</a:t>
                </a:r>
                <a:r>
                  <a:rPr lang="it-IT" b="0" dirty="0">
                    <a:effectLst/>
                  </a:rPr>
                  <a:t>.</a:t>
                </a:r>
                <a:endParaRPr lang="it-IT" b="0" dirty="0"/>
              </a:p>
              <a:p>
                <a:r>
                  <a:rPr lang="it-IT" b="0" dirty="0">
                    <a:effectLst/>
                  </a:rPr>
                  <a:t>The data pipeline </a:t>
                </a:r>
                <a:r>
                  <a:rPr lang="it-IT" b="0" dirty="0" err="1">
                    <a:effectLst/>
                  </a:rPr>
                  <a:t>defines</a:t>
                </a:r>
                <a:r>
                  <a:rPr lang="it-IT" b="0" dirty="0">
                    <a:effectLst/>
                  </a:rPr>
                  <a:t> a </a:t>
                </a:r>
                <a:r>
                  <a:rPr lang="it-IT" b="0" dirty="0" err="1">
                    <a:effectLst/>
                  </a:rPr>
                  <a:t>contiguous</a:t>
                </a:r>
                <a:r>
                  <a:rPr lang="it-IT" b="0" dirty="0">
                    <a:effectLst/>
                  </a:rPr>
                  <a:t> </a:t>
                </a:r>
                <a:r>
                  <a:rPr lang="it-IT" b="0" dirty="0" err="1">
                    <a:effectLst/>
                  </a:rPr>
                  <a:t>memory</a:t>
                </a:r>
                <a:r>
                  <a:rPr lang="it-IT" b="0" dirty="0">
                    <a:effectLst/>
                  </a:rPr>
                  <a:t> layout </a:t>
                </a:r>
                <a:r>
                  <a:rPr lang="it-IT" b="0" dirty="0" err="1">
                    <a:effectLst/>
                  </a:rPr>
                  <a:t>structured</a:t>
                </a:r>
                <a:r>
                  <a:rPr lang="it-IT" b="0" dirty="0">
                    <a:effectLst/>
                  </a:rPr>
                  <a:t> with an </a:t>
                </a:r>
                <a:r>
                  <a:rPr lang="it-IT" sz="1100" b="0" i="0" u="none" strike="noStrike" cap="none" spc="0">
                    <a:solidFill>
                      <a:srgbClr val="000000"/>
                    </a:solidFill>
                    <a:latin typeface="Arial"/>
                    <a:cs typeface="Arial"/>
                    <a:sym typeface="Arial"/>
                  </a:rPr>
                  <a:t>[</a:t>
                </a:r>
                <a:r>
                  <a:rPr lang="it-IT" sz="1100" b="0" i="0" u="none" strike="noStrike" cap="none" spc="0">
                    <a:solidFill>
                      <a:srgbClr val="000000"/>
                    </a:solidFill>
                    <a:latin typeface="Cambria Math" panose="02040503050406030204" pitchFamily="18" charset="0"/>
                    <a:ea typeface="Arial"/>
                    <a:cs typeface="Arial"/>
                    <a:sym typeface="Arial"/>
                  </a:rPr>
                  <a:t>𝑁ⓜ,𝐿_𝑐 ]</a:t>
                </a:r>
                <a:r>
                  <a:rPr lang="it-IT" b="0" dirty="0">
                    <a:effectLst/>
                  </a:rPr>
                  <a:t> </a:t>
                </a:r>
                <a:r>
                  <a:rPr lang="it-IT" b="0" dirty="0" err="1">
                    <a:effectLst/>
                  </a:rPr>
                  <a:t>descriptor</a:t>
                </a:r>
                <a:r>
                  <a:rPr lang="it-IT" b="0" dirty="0">
                    <a:effectLst/>
                  </a:rPr>
                  <a:t> </a:t>
                </a:r>
                <a:r>
                  <a:rPr lang="it-IT" b="0" dirty="0" err="1">
                    <a:effectLst/>
                  </a:rPr>
                  <a:t>header</a:t>
                </a:r>
                <a:r>
                  <a:rPr lang="it-IT" b="0" dirty="0">
                    <a:effectLst/>
                  </a:rPr>
                  <a:t>, </a:t>
                </a:r>
                <a:r>
                  <a:rPr lang="it-IT" b="0" dirty="0" err="1">
                    <a:effectLst/>
                  </a:rPr>
                  <a:t>followed</a:t>
                </a:r>
                <a:r>
                  <a:rPr lang="it-IT" b="0" dirty="0">
                    <a:effectLst/>
                  </a:rPr>
                  <a:t> by </a:t>
                </a:r>
                <a:r>
                  <a:rPr lang="it-IT" b="0" dirty="0" err="1">
                    <a:effectLst/>
                  </a:rPr>
                  <a:t>coordinates</a:t>
                </a:r>
                <a:r>
                  <a:rPr lang="it-IT" b="0" dirty="0">
                    <a:effectLst/>
                  </a:rPr>
                  <a:t> and </a:t>
                </a:r>
                <a:r>
                  <a:rPr lang="it-IT" b="0" dirty="0" err="1">
                    <a:effectLst/>
                  </a:rPr>
                  <a:t>temporal</a:t>
                </a:r>
                <a:r>
                  <a:rPr lang="it-IT" b="0" dirty="0">
                    <a:effectLst/>
                  </a:rPr>
                  <a:t> </a:t>
                </a:r>
                <a:r>
                  <a:rPr lang="it-IT" b="0" dirty="0" err="1">
                    <a:effectLst/>
                  </a:rPr>
                  <a:t>indices</a:t>
                </a:r>
                <a:r>
                  <a:rPr lang="it-IT" b="0" dirty="0">
                    <a:effectLst/>
                  </a:rPr>
                  <a:t>.</a:t>
                </a:r>
                <a:endParaRPr lang="it-IT" b="0" dirty="0"/>
              </a:p>
              <a:p>
                <a:r>
                  <a:rPr lang="it-IT" b="0" dirty="0" err="1">
                    <a:effectLst/>
                  </a:rPr>
                  <a:t>This</a:t>
                </a:r>
                <a:r>
                  <a:rPr lang="it-IT" b="0" dirty="0">
                    <a:effectLst/>
                  </a:rPr>
                  <a:t> </a:t>
                </a:r>
                <a:r>
                  <a:rPr lang="it-IT" b="0" dirty="0" err="1">
                    <a:effectLst/>
                  </a:rPr>
                  <a:t>enables</a:t>
                </a:r>
                <a:r>
                  <a:rPr lang="it-IT" b="0" dirty="0">
                    <a:effectLst/>
                  </a:rPr>
                  <a:t> a zero-copy </a:t>
                </a:r>
                <a:r>
                  <a:rPr lang="it-IT" b="0" dirty="0" err="1">
                    <a:effectLst/>
                  </a:rPr>
                  <a:t>ingestion</a:t>
                </a:r>
                <a:r>
                  <a:rPr lang="it-IT" b="0" dirty="0">
                    <a:effectLst/>
                  </a:rPr>
                  <a:t> pipeline: the client-side JavaScript </a:t>
                </a:r>
                <a:r>
                  <a:rPr lang="it-IT" b="0" dirty="0" err="1">
                    <a:effectLst/>
                  </a:rPr>
                  <a:t>engine</a:t>
                </a:r>
                <a:r>
                  <a:rPr lang="it-IT" b="0" dirty="0">
                    <a:effectLst/>
                  </a:rPr>
                  <a:t> </a:t>
                </a:r>
                <a:r>
                  <a:rPr lang="it-IT" b="0" dirty="0" err="1">
                    <a:effectLst/>
                  </a:rPr>
                  <a:t>wraps</a:t>
                </a:r>
                <a:r>
                  <a:rPr lang="it-IT" b="0" dirty="0">
                    <a:effectLst/>
                  </a:rPr>
                  <a:t> the incoming buffer </a:t>
                </a:r>
                <a:r>
                  <a:rPr lang="it-IT" b="0" dirty="0" err="1">
                    <a:effectLst/>
                  </a:rPr>
                  <a:t>directly</a:t>
                </a:r>
                <a:r>
                  <a:rPr lang="it-IT" b="0" dirty="0">
                    <a:effectLst/>
                  </a:rPr>
                  <a:t> </a:t>
                </a:r>
                <a:r>
                  <a:rPr lang="it-IT" b="0" dirty="0" err="1">
                    <a:effectLst/>
                  </a:rPr>
                  <a:t>into</a:t>
                </a:r>
                <a:r>
                  <a:rPr lang="it-IT" b="0" dirty="0">
                    <a:effectLst/>
                  </a:rPr>
                  <a:t> </a:t>
                </a:r>
                <a:r>
                  <a:rPr lang="it-IT" b="0" dirty="0" err="1">
                    <a:effectLst/>
                  </a:rPr>
                  <a:t>WebGL</a:t>
                </a:r>
                <a:r>
                  <a:rPr lang="it-IT" b="0" dirty="0">
                    <a:effectLst/>
                  </a:rPr>
                  <a:t> </a:t>
                </a:r>
                <a:r>
                  <a:rPr lang="it-IT" b="0" dirty="0" err="1">
                    <a:effectLst/>
                  </a:rPr>
                  <a:t>without</a:t>
                </a:r>
                <a:r>
                  <a:rPr lang="it-IT" b="0" dirty="0">
                    <a:effectLst/>
                  </a:rPr>
                  <a:t> </a:t>
                </a:r>
                <a:r>
                  <a:rPr lang="it-IT" b="0" dirty="0" err="1">
                    <a:effectLst/>
                  </a:rPr>
                  <a:t>invoking</a:t>
                </a:r>
                <a:r>
                  <a:rPr lang="it-IT" b="0" dirty="0">
                    <a:effectLst/>
                  </a:rPr>
                  <a:t> </a:t>
                </a:r>
                <a:r>
                  <a:rPr lang="it-IT" b="0" dirty="0" err="1">
                    <a:effectLst/>
                  </a:rPr>
                  <a:t>string</a:t>
                </a:r>
                <a:r>
                  <a:rPr lang="it-IT" b="0" dirty="0">
                    <a:effectLst/>
                  </a:rPr>
                  <a:t> parsers.</a:t>
                </a:r>
                <a:endParaRPr lang="it-IT" b="0" dirty="0"/>
              </a:p>
              <a:p>
                <a:endParaRPr dirty="0"/>
              </a:p>
              <a:p>
                <a:r>
                  <a:rPr dirty="0"/>
                  <a:t>[VISUAL ACTION: Trace through the 4 top cards (Ingestion, Missing Depth Principle, Physical Bounds, WGS84) and highlight the -80% size and &lt;0.01ms badges on the bottom card]</a:t>
                </a:r>
              </a:p>
            </p:txBody>
          </p:sp>
        </mc:Fallback>
      </mc:AlternateContent>
      <p:sp>
        <p:nvSpPr>
          <p:cNvPr id="298" name="Google Shape;298;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24" name="Google Shape;3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13 | TIME: 8:20 - 9:05 | TARGET: 45 SECONDS]</a:t>
                </a:r>
              </a:p>
              <a:p>
                <a:endParaRPr dirty="0"/>
              </a:p>
              <a:p>
                <a:r>
                  <a:rPr dirty="0"/>
                  <a:t>SPEECH (EN):</a:t>
                </a:r>
              </a:p>
              <a:p>
                <a:r>
                  <a:rPr dirty="0"/>
                  <a:t>"</a:t>
                </a:r>
                <a:r>
                  <a:rPr lang="it-IT" b="0" dirty="0">
                    <a:effectLst/>
                  </a:rPr>
                  <a:t>To validate the system, </a:t>
                </a:r>
                <a:r>
                  <a:rPr lang="it-IT" b="0" dirty="0" err="1">
                    <a:effectLst/>
                  </a:rPr>
                  <a:t>we</a:t>
                </a:r>
                <a:r>
                  <a:rPr lang="it-IT" b="0" dirty="0">
                    <a:effectLst/>
                  </a:rPr>
                  <a:t> </a:t>
                </a:r>
                <a:r>
                  <a:rPr lang="it-IT" b="0" dirty="0" err="1">
                    <a:effectLst/>
                  </a:rPr>
                  <a:t>tested</a:t>
                </a:r>
                <a:r>
                  <a:rPr lang="it-IT" b="0" dirty="0">
                    <a:effectLst/>
                  </a:rPr>
                  <a:t> </a:t>
                </a:r>
                <a:r>
                  <a:rPr lang="it-IT" b="0" dirty="0" err="1">
                    <a:effectLst/>
                  </a:rPr>
                  <a:t>three</a:t>
                </a:r>
                <a:r>
                  <a:rPr lang="it-IT" b="0" dirty="0">
                    <a:effectLst/>
                  </a:rPr>
                  <a:t> </a:t>
                </a:r>
                <a:r>
                  <a:rPr lang="it-IT" b="0" dirty="0" err="1">
                    <a:effectLst/>
                  </a:rPr>
                  <a:t>main</a:t>
                </a:r>
                <a:r>
                  <a:rPr lang="it-IT" b="0" dirty="0">
                    <a:effectLst/>
                  </a:rPr>
                  <a:t> </a:t>
                </a:r>
                <a:r>
                  <a:rPr lang="it-IT" b="0" dirty="0" err="1">
                    <a:effectLst/>
                  </a:rPr>
                  <a:t>aspects</a:t>
                </a:r>
                <a:r>
                  <a:rPr lang="it-IT" b="0" dirty="0">
                    <a:effectLst/>
                  </a:rPr>
                  <a:t>: </a:t>
                </a:r>
                <a:r>
                  <a:rPr lang="it-IT" b="0" dirty="0" err="1">
                    <a:effectLst/>
                  </a:rPr>
                  <a:t>accuracy</a:t>
                </a:r>
                <a:r>
                  <a:rPr lang="it-IT" b="0" dirty="0">
                    <a:effectLst/>
                  </a:rPr>
                  <a:t>, scaling, and streaming </a:t>
                </a:r>
                <a:r>
                  <a:rPr lang="it-IT" b="0" dirty="0" err="1">
                    <a:effectLst/>
                  </a:rPr>
                  <a:t>efficiency</a:t>
                </a:r>
                <a:r>
                  <a:rPr lang="it-IT" b="0" dirty="0">
                    <a:effectLst/>
                  </a:rPr>
                  <a:t>.</a:t>
                </a:r>
                <a:endParaRPr lang="it-IT" b="0" dirty="0"/>
              </a:p>
              <a:p>
                <a:r>
                  <a:rPr lang="it-IT" b="0" dirty="0">
                    <a:effectLst/>
                  </a:rPr>
                  <a:t>First, for </a:t>
                </a:r>
                <a:r>
                  <a:rPr lang="it-IT" b="0" dirty="0" err="1">
                    <a:effectLst/>
                  </a:rPr>
                  <a:t>Structural</a:t>
                </a:r>
                <a:r>
                  <a:rPr lang="it-IT" b="0" dirty="0">
                    <a:effectLst/>
                  </a:rPr>
                  <a:t> </a:t>
                </a:r>
                <a:r>
                  <a:rPr lang="it-IT" b="0" dirty="0" err="1">
                    <a:effectLst/>
                  </a:rPr>
                  <a:t>Accuracy</a:t>
                </a:r>
                <a:r>
                  <a:rPr lang="it-IT" b="0" dirty="0">
                    <a:effectLst/>
                  </a:rPr>
                  <a:t>: </a:t>
                </a:r>
                <a:r>
                  <a:rPr lang="it-IT" b="0" dirty="0" err="1">
                    <a:effectLst/>
                  </a:rPr>
                  <a:t>across</a:t>
                </a:r>
                <a:r>
                  <a:rPr lang="it-IT" b="0" dirty="0">
                    <a:effectLst/>
                  </a:rPr>
                  <a:t> 500 </a:t>
                </a:r>
                <a:r>
                  <a:rPr lang="it-IT" b="0" dirty="0" err="1">
                    <a:effectLst/>
                  </a:rPr>
                  <a:t>synthetic</a:t>
                </a:r>
                <a:r>
                  <a:rPr lang="it-IT" b="0" dirty="0">
                    <a:effectLst/>
                  </a:rPr>
                  <a:t> </a:t>
                </a:r>
                <a:r>
                  <a:rPr lang="it-IT" b="0" dirty="0" err="1">
                    <a:effectLst/>
                  </a:rPr>
                  <a:t>tests</a:t>
                </a:r>
                <a:r>
                  <a:rPr lang="it-IT" b="0" dirty="0">
                    <a:effectLst/>
                  </a:rPr>
                  <a:t> with </a:t>
                </a:r>
                <a:r>
                  <a:rPr lang="it-IT" b="0" dirty="0" err="1">
                    <a:effectLst/>
                  </a:rPr>
                  <a:t>noise</a:t>
                </a:r>
                <a:r>
                  <a:rPr lang="it-IT" b="0" dirty="0">
                    <a:effectLst/>
                  </a:rPr>
                  <a:t> and 30% </a:t>
                </a:r>
                <a:r>
                  <a:rPr lang="it-IT" b="0" dirty="0" err="1">
                    <a:effectLst/>
                  </a:rPr>
                  <a:t>outliers</a:t>
                </a:r>
                <a:r>
                  <a:rPr lang="it-IT" b="0" dirty="0">
                    <a:effectLst/>
                  </a:rPr>
                  <a:t>, </a:t>
                </a:r>
                <a:r>
                  <a:rPr lang="it-IT" b="0" dirty="0" err="1">
                    <a:effectLst/>
                  </a:rPr>
                  <a:t>our</a:t>
                </a:r>
                <a:r>
                  <a:rPr lang="it-IT" b="0" dirty="0">
                    <a:effectLst/>
                  </a:rPr>
                  <a:t> RANSAC-SVD pipeline </a:t>
                </a:r>
                <a:r>
                  <a:rPr lang="it-IT" b="0" dirty="0" err="1">
                    <a:effectLst/>
                  </a:rPr>
                  <a:t>extracted</a:t>
                </a:r>
                <a:r>
                  <a:rPr lang="it-IT" b="0" dirty="0">
                    <a:effectLst/>
                  </a:rPr>
                  <a:t> fault </a:t>
                </a:r>
                <a:r>
                  <a:rPr lang="it-IT" b="0" dirty="0" err="1">
                    <a:effectLst/>
                  </a:rPr>
                  <a:t>planes</a:t>
                </a:r>
                <a:r>
                  <a:rPr lang="it-IT" b="0" dirty="0">
                    <a:effectLst/>
                  </a:rPr>
                  <a:t> with an </a:t>
                </a:r>
                <a:r>
                  <a:rPr lang="it-IT" b="0" dirty="0" err="1">
                    <a:effectLst/>
                  </a:rPr>
                  <a:t>error</a:t>
                </a:r>
                <a:r>
                  <a:rPr lang="it-IT" b="0" dirty="0">
                    <a:effectLst/>
                  </a:rPr>
                  <a:t> under </a:t>
                </a:r>
                <a:r>
                  <a:rPr lang="it-IT" b="0" dirty="0" err="1">
                    <a:effectLst/>
                  </a:rPr>
                  <a:t>half</a:t>
                </a:r>
                <a:r>
                  <a:rPr lang="it-IT" b="0" dirty="0">
                    <a:effectLst/>
                  </a:rPr>
                  <a:t> a degree for Dip (</a:t>
                </a:r>
                <a14:m>
                  <m:oMath xmlns:m="http://schemas.openxmlformats.org/officeDocument/2006/math">
                    <m:sSup>
                      <m:sSupPr>
                        <m:ctrlPr>
                          <a:rPr lang="it-IT" sz="1100" b="0" i="0" u="none" strike="noStrike" cap="none" spc="0" smtClean="0">
                            <a:solidFill>
                              <a:srgbClr val="000000"/>
                            </a:solidFill>
                            <a:latin typeface="Cambria Math" panose="02040503050406030204" pitchFamily="18" charset="0"/>
                            <a:ea typeface="Arial"/>
                            <a:cs typeface="Arial"/>
                            <a:sym typeface="Arial"/>
                          </a:rPr>
                        </m:ctrlPr>
                      </m:sSupPr>
                      <m:e>
                        <m:r>
                          <a:rPr lang="it-IT" sz="1100" b="0" i="0" u="none" strike="noStrike" cap="none" spc="0" smtClean="0">
                            <a:solidFill>
                              <a:srgbClr val="000000"/>
                            </a:solidFill>
                            <a:latin typeface="Cambria Math" panose="02040503050406030204" pitchFamily="18" charset="0"/>
                            <a:ea typeface="Arial"/>
                            <a:cs typeface="Arial"/>
                            <a:sym typeface="Arial"/>
                          </a:rPr>
                          <m:t>0.51</m:t>
                        </m:r>
                      </m:e>
                      <m:sup>
                        <m:r>
                          <a:rPr lang="it-IT" sz="1100" b="0" i="0" u="none" strike="noStrike" cap="none" spc="0" smtClean="0">
                            <a:solidFill>
                              <a:srgbClr val="000000"/>
                            </a:solidFill>
                            <a:latin typeface="Cambria Math" panose="02040503050406030204" pitchFamily="18" charset="0"/>
                            <a:ea typeface="Arial"/>
                            <a:cs typeface="Arial"/>
                            <a:sym typeface="Arial"/>
                          </a:rPr>
                          <m:t>∘</m:t>
                        </m:r>
                      </m:sup>
                    </m:sSup>
                  </m:oMath>
                </a14:m>
                <a:r>
                  <a:rPr lang="it-IT" b="0" dirty="0">
                    <a:effectLst/>
                  </a:rPr>
                  <a:t>) and under one degree for Strike (</a:t>
                </a:r>
                <a14:m>
                  <m:oMath xmlns:m="http://schemas.openxmlformats.org/officeDocument/2006/math">
                    <m:sSup>
                      <m:sSupPr>
                        <m:ctrlPr>
                          <a:rPr lang="it-IT" sz="1100" b="0" i="0" u="none" strike="noStrike" cap="none" spc="0" smtClean="0">
                            <a:solidFill>
                              <a:srgbClr val="000000"/>
                            </a:solidFill>
                            <a:latin typeface="Cambria Math" panose="02040503050406030204" pitchFamily="18" charset="0"/>
                            <a:ea typeface="Arial"/>
                            <a:cs typeface="Arial"/>
                            <a:sym typeface="Arial"/>
                          </a:rPr>
                        </m:ctrlPr>
                      </m:sSupPr>
                      <m:e>
                        <m:r>
                          <a:rPr lang="it-IT" sz="1100" b="0" i="0" u="none" strike="noStrike" cap="none" spc="0" smtClean="0">
                            <a:solidFill>
                              <a:srgbClr val="000000"/>
                            </a:solidFill>
                            <a:latin typeface="Cambria Math" panose="02040503050406030204" pitchFamily="18" charset="0"/>
                            <a:ea typeface="Arial"/>
                            <a:cs typeface="Arial"/>
                            <a:sym typeface="Arial"/>
                          </a:rPr>
                          <m:t>0.93</m:t>
                        </m:r>
                      </m:e>
                      <m:sup>
                        <m:r>
                          <a:rPr lang="it-IT" sz="1100" b="0" i="0" u="none" strike="noStrike" cap="none" spc="0" smtClean="0">
                            <a:solidFill>
                              <a:srgbClr val="000000"/>
                            </a:solidFill>
                            <a:latin typeface="Cambria Math" panose="02040503050406030204" pitchFamily="18" charset="0"/>
                            <a:ea typeface="Arial"/>
                            <a:cs typeface="Arial"/>
                            <a:sym typeface="Arial"/>
                          </a:rPr>
                          <m:t>∘</m:t>
                        </m:r>
                      </m:sup>
                    </m:sSup>
                  </m:oMath>
                </a14:m>
                <a:r>
                  <a:rPr lang="it-IT" b="0" dirty="0">
                    <a:effectLst/>
                  </a:rPr>
                  <a:t>).</a:t>
                </a:r>
                <a:endParaRPr lang="it-IT" b="0" dirty="0"/>
              </a:p>
              <a:p>
                <a:r>
                  <a:rPr lang="it-IT" b="0" dirty="0">
                    <a:effectLst/>
                  </a:rPr>
                  <a:t>Second, for Throughput and Scaling: on the </a:t>
                </a:r>
                <a:r>
                  <a:rPr lang="it-IT" b="0" dirty="0" err="1">
                    <a:effectLst/>
                  </a:rPr>
                  <a:t>real</a:t>
                </a:r>
                <a:r>
                  <a:rPr lang="it-IT" b="0" dirty="0">
                    <a:effectLst/>
                  </a:rPr>
                  <a:t> Campi Flegrei </a:t>
                </a:r>
                <a:r>
                  <a:rPr lang="it-IT" b="0" dirty="0" err="1">
                    <a:effectLst/>
                  </a:rPr>
                  <a:t>catalogue</a:t>
                </a:r>
                <a:r>
                  <a:rPr lang="it-IT" b="0" dirty="0">
                    <a:effectLst/>
                  </a:rPr>
                  <a:t> of over 3,200 events, clustering and </a:t>
                </a:r>
                <a:r>
                  <a:rPr lang="it-IT" b="0" dirty="0" err="1">
                    <a:effectLst/>
                  </a:rPr>
                  <a:t>plane</a:t>
                </a:r>
                <a:r>
                  <a:rPr lang="it-IT" b="0" dirty="0">
                    <a:effectLst/>
                  </a:rPr>
                  <a:t> fitting </a:t>
                </a:r>
                <a:r>
                  <a:rPr lang="it-IT" b="0" dirty="0" err="1">
                    <a:effectLst/>
                  </a:rPr>
                  <a:t>run</a:t>
                </a:r>
                <a:r>
                  <a:rPr lang="it-IT" b="0" dirty="0">
                    <a:effectLst/>
                  </a:rPr>
                  <a:t> in just 42 </a:t>
                </a:r>
                <a:r>
                  <a:rPr lang="it-IT" b="0" dirty="0" err="1">
                    <a:effectLst/>
                  </a:rPr>
                  <a:t>milliseconds</a:t>
                </a:r>
                <a:r>
                  <a:rPr lang="it-IT" b="0" dirty="0">
                    <a:effectLst/>
                  </a:rPr>
                  <a:t>. And under </a:t>
                </a:r>
                <a:r>
                  <a:rPr lang="it-IT" b="0" dirty="0" err="1">
                    <a:effectLst/>
                  </a:rPr>
                  <a:t>our</a:t>
                </a:r>
                <a:r>
                  <a:rPr lang="it-IT" b="0" dirty="0">
                    <a:effectLst/>
                  </a:rPr>
                  <a:t> 50,000-event stress test, </a:t>
                </a:r>
                <a:r>
                  <a:rPr lang="it-IT" b="0" dirty="0" err="1">
                    <a:effectLst/>
                  </a:rPr>
                  <a:t>WebGL</a:t>
                </a:r>
                <a:r>
                  <a:rPr lang="it-IT" b="0" dirty="0">
                    <a:effectLst/>
                  </a:rPr>
                  <a:t> </a:t>
                </a:r>
                <a:r>
                  <a:rPr lang="it-IT" b="0" dirty="0" err="1">
                    <a:effectLst/>
                  </a:rPr>
                  <a:t>maintains</a:t>
                </a:r>
                <a:r>
                  <a:rPr lang="it-IT" b="0" dirty="0">
                    <a:effectLst/>
                  </a:rPr>
                  <a:t> a </a:t>
                </a:r>
                <a:r>
                  <a:rPr lang="it-IT" b="0" dirty="0" err="1">
                    <a:effectLst/>
                  </a:rPr>
                  <a:t>smooth</a:t>
                </a:r>
                <a:r>
                  <a:rPr lang="it-IT" b="0" dirty="0">
                    <a:effectLst/>
                  </a:rPr>
                  <a:t> 55 to 60 frames per second.</a:t>
                </a:r>
                <a:endParaRPr lang="it-IT" b="0" dirty="0"/>
              </a:p>
              <a:p>
                <a:r>
                  <a:rPr lang="it-IT" b="0" dirty="0" err="1">
                    <a:effectLst/>
                  </a:rPr>
                  <a:t>Finally</a:t>
                </a:r>
                <a:r>
                  <a:rPr lang="it-IT" b="0" dirty="0">
                    <a:effectLst/>
                  </a:rPr>
                  <a:t>, for Streaming and Memory: </a:t>
                </a:r>
                <a:r>
                  <a:rPr lang="it-IT" b="0" dirty="0" err="1">
                    <a:effectLst/>
                  </a:rPr>
                  <a:t>our</a:t>
                </a:r>
                <a:r>
                  <a:rPr lang="it-IT" b="0" dirty="0">
                    <a:effectLst/>
                  </a:rPr>
                  <a:t> Float32 </a:t>
                </a:r>
                <a:r>
                  <a:rPr lang="it-IT" b="0" dirty="0" err="1">
                    <a:effectLst/>
                  </a:rPr>
                  <a:t>binary</a:t>
                </a:r>
                <a:r>
                  <a:rPr lang="it-IT" b="0" dirty="0">
                    <a:effectLst/>
                  </a:rPr>
                  <a:t> </a:t>
                </a:r>
                <a:r>
                  <a:rPr lang="it-IT" b="0" dirty="0" err="1">
                    <a:effectLst/>
                  </a:rPr>
                  <a:t>protocol</a:t>
                </a:r>
                <a:r>
                  <a:rPr lang="it-IT" b="0" dirty="0">
                    <a:effectLst/>
                  </a:rPr>
                  <a:t> </a:t>
                </a:r>
                <a:r>
                  <a:rPr lang="it-IT" b="0" dirty="0" err="1">
                    <a:effectLst/>
                  </a:rPr>
                  <a:t>cuts</a:t>
                </a:r>
                <a:r>
                  <a:rPr lang="it-IT" b="0" dirty="0">
                    <a:effectLst/>
                  </a:rPr>
                  <a:t> network payload by </a:t>
                </a:r>
                <a:r>
                  <a:rPr lang="it-IT" b="0" dirty="0" err="1">
                    <a:effectLst/>
                  </a:rPr>
                  <a:t>nearly</a:t>
                </a:r>
                <a:r>
                  <a:rPr lang="it-IT" b="0" dirty="0">
                    <a:effectLst/>
                  </a:rPr>
                  <a:t> 80% and </a:t>
                </a:r>
                <a:r>
                  <a:rPr lang="it-IT" b="0" dirty="0" err="1">
                    <a:effectLst/>
                  </a:rPr>
                  <a:t>decodes</a:t>
                </a:r>
                <a:r>
                  <a:rPr lang="it-IT" b="0" dirty="0">
                    <a:effectLst/>
                  </a:rPr>
                  <a:t> in under 0.01 </a:t>
                </a:r>
                <a:r>
                  <a:rPr lang="it-IT" b="0" dirty="0" err="1">
                    <a:effectLst/>
                  </a:rPr>
                  <a:t>milliseconds</a:t>
                </a:r>
                <a:r>
                  <a:rPr lang="it-IT" b="0" dirty="0">
                    <a:effectLst/>
                  </a:rPr>
                  <a:t>, </a:t>
                </a:r>
                <a:r>
                  <a:rPr lang="it-IT" b="0" dirty="0" err="1">
                    <a:effectLst/>
                  </a:rPr>
                  <a:t>while</a:t>
                </a:r>
                <a:r>
                  <a:rPr lang="it-IT" b="0" dirty="0">
                    <a:effectLst/>
                  </a:rPr>
                  <a:t> FIFO caching </a:t>
                </a:r>
                <a:r>
                  <a:rPr lang="it-IT" b="0" dirty="0" err="1">
                    <a:effectLst/>
                  </a:rPr>
                  <a:t>eviction</a:t>
                </a:r>
                <a:r>
                  <a:rPr lang="it-IT" b="0" dirty="0">
                    <a:effectLst/>
                  </a:rPr>
                  <a:t> </a:t>
                </a:r>
                <a:r>
                  <a:rPr lang="it-IT" b="0" dirty="0" err="1">
                    <a:effectLst/>
                  </a:rPr>
                  <a:t>guarantees</a:t>
                </a:r>
                <a:r>
                  <a:rPr lang="it-IT" b="0" dirty="0">
                    <a:effectLst/>
                  </a:rPr>
                  <a:t> a low </a:t>
                </a:r>
                <a:r>
                  <a:rPr lang="it-IT" b="0" dirty="0" err="1">
                    <a:effectLst/>
                  </a:rPr>
                  <a:t>memmory</a:t>
                </a:r>
                <a:r>
                  <a:rPr lang="it-IT" b="0" dirty="0">
                    <a:effectLst/>
                  </a:rPr>
                  <a:t> foot-</a:t>
                </a:r>
                <a:r>
                  <a:rPr lang="it-IT" b="0" dirty="0" err="1">
                    <a:effectLst/>
                  </a:rPr>
                  <a:t>print</a:t>
                </a:r>
                <a:r>
                  <a:rPr lang="it-IT" b="0" dirty="0">
                    <a:effectLst/>
                  </a:rPr>
                  <a:t>.</a:t>
                </a:r>
                <a:r>
                  <a:rPr lang="it-IT" b="0" dirty="0"/>
                  <a:t>"</a:t>
                </a:r>
                <a:endParaRPr b="0" dirty="0"/>
              </a:p>
              <a:p>
                <a:endParaRPr dirty="0"/>
              </a:p>
              <a:p>
                <a:r>
                  <a:rPr dirty="0"/>
                  <a:t>[VISUAL ACTION: Walk through the 4 benchmark cards: Monte Carlo MAE badges (&lt;0.51° Dip, &lt;0.93° Strike), Real Catalogue 42ms speed, 60 FPS stress test, and &lt;500 MB RAM]</a:t>
                </a:r>
              </a:p>
            </p:txBody>
          </p:sp>
        </mc:Choice>
        <mc:Fallback>
          <p:sp>
            <p:nvSpPr>
              <p:cNvPr id="324" name="Google Shape;3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13 | TIME: 8:20 - 9:05 | TARGET: 45 SECONDS]</a:t>
                </a:r>
              </a:p>
              <a:p>
                <a:endParaRPr dirty="0"/>
              </a:p>
              <a:p>
                <a:r>
                  <a:rPr dirty="0"/>
                  <a:t>SPEECH (EN):</a:t>
                </a:r>
              </a:p>
              <a:p>
                <a:r>
                  <a:rPr dirty="0"/>
                  <a:t>"</a:t>
                </a:r>
                <a:r>
                  <a:rPr lang="it-IT" b="0" dirty="0">
                    <a:effectLst/>
                  </a:rPr>
                  <a:t>To validate the system, </a:t>
                </a:r>
                <a:r>
                  <a:rPr lang="it-IT" b="0" dirty="0" err="1">
                    <a:effectLst/>
                  </a:rPr>
                  <a:t>we</a:t>
                </a:r>
                <a:r>
                  <a:rPr lang="it-IT" b="0" dirty="0">
                    <a:effectLst/>
                  </a:rPr>
                  <a:t> </a:t>
                </a:r>
                <a:r>
                  <a:rPr lang="it-IT" b="0" dirty="0" err="1">
                    <a:effectLst/>
                  </a:rPr>
                  <a:t>tested</a:t>
                </a:r>
                <a:r>
                  <a:rPr lang="it-IT" b="0" dirty="0">
                    <a:effectLst/>
                  </a:rPr>
                  <a:t> </a:t>
                </a:r>
                <a:r>
                  <a:rPr lang="it-IT" b="0" dirty="0" err="1">
                    <a:effectLst/>
                  </a:rPr>
                  <a:t>three</a:t>
                </a:r>
                <a:r>
                  <a:rPr lang="it-IT" b="0" dirty="0">
                    <a:effectLst/>
                  </a:rPr>
                  <a:t> </a:t>
                </a:r>
                <a:r>
                  <a:rPr lang="it-IT" b="0" dirty="0" err="1">
                    <a:effectLst/>
                  </a:rPr>
                  <a:t>main</a:t>
                </a:r>
                <a:r>
                  <a:rPr lang="it-IT" b="0" dirty="0">
                    <a:effectLst/>
                  </a:rPr>
                  <a:t> </a:t>
                </a:r>
                <a:r>
                  <a:rPr lang="it-IT" b="0" dirty="0" err="1">
                    <a:effectLst/>
                  </a:rPr>
                  <a:t>aspects</a:t>
                </a:r>
                <a:r>
                  <a:rPr lang="it-IT" b="0" dirty="0">
                    <a:effectLst/>
                  </a:rPr>
                  <a:t>: </a:t>
                </a:r>
                <a:r>
                  <a:rPr lang="it-IT" b="0" dirty="0" err="1">
                    <a:effectLst/>
                  </a:rPr>
                  <a:t>accuracy</a:t>
                </a:r>
                <a:r>
                  <a:rPr lang="it-IT" b="0" dirty="0">
                    <a:effectLst/>
                  </a:rPr>
                  <a:t>, scaling, and streaming </a:t>
                </a:r>
                <a:r>
                  <a:rPr lang="it-IT" b="0" dirty="0" err="1">
                    <a:effectLst/>
                  </a:rPr>
                  <a:t>efficiency</a:t>
                </a:r>
                <a:r>
                  <a:rPr lang="it-IT" b="0" dirty="0">
                    <a:effectLst/>
                  </a:rPr>
                  <a:t>.</a:t>
                </a:r>
                <a:endParaRPr lang="it-IT" b="0" dirty="0"/>
              </a:p>
              <a:p>
                <a:r>
                  <a:rPr lang="it-IT" b="0" dirty="0">
                    <a:effectLst/>
                  </a:rPr>
                  <a:t>First, for </a:t>
                </a:r>
                <a:r>
                  <a:rPr lang="it-IT" b="0" dirty="0" err="1">
                    <a:effectLst/>
                  </a:rPr>
                  <a:t>Structural</a:t>
                </a:r>
                <a:r>
                  <a:rPr lang="it-IT" b="0" dirty="0">
                    <a:effectLst/>
                  </a:rPr>
                  <a:t> </a:t>
                </a:r>
                <a:r>
                  <a:rPr lang="it-IT" b="0" dirty="0" err="1">
                    <a:effectLst/>
                  </a:rPr>
                  <a:t>Accuracy</a:t>
                </a:r>
                <a:r>
                  <a:rPr lang="it-IT" b="0" dirty="0">
                    <a:effectLst/>
                  </a:rPr>
                  <a:t>: </a:t>
                </a:r>
                <a:r>
                  <a:rPr lang="it-IT" b="0" dirty="0" err="1">
                    <a:effectLst/>
                  </a:rPr>
                  <a:t>across</a:t>
                </a:r>
                <a:r>
                  <a:rPr lang="it-IT" b="0" dirty="0">
                    <a:effectLst/>
                  </a:rPr>
                  <a:t> 500 </a:t>
                </a:r>
                <a:r>
                  <a:rPr lang="it-IT" b="0" dirty="0" err="1">
                    <a:effectLst/>
                  </a:rPr>
                  <a:t>synthetic</a:t>
                </a:r>
                <a:r>
                  <a:rPr lang="it-IT" b="0" dirty="0">
                    <a:effectLst/>
                  </a:rPr>
                  <a:t> </a:t>
                </a:r>
                <a:r>
                  <a:rPr lang="it-IT" b="0" dirty="0" err="1">
                    <a:effectLst/>
                  </a:rPr>
                  <a:t>tests</a:t>
                </a:r>
                <a:r>
                  <a:rPr lang="it-IT" b="0" dirty="0">
                    <a:effectLst/>
                  </a:rPr>
                  <a:t> with </a:t>
                </a:r>
                <a:r>
                  <a:rPr lang="it-IT" b="0" dirty="0" err="1">
                    <a:effectLst/>
                  </a:rPr>
                  <a:t>noise</a:t>
                </a:r>
                <a:r>
                  <a:rPr lang="it-IT" b="0" dirty="0">
                    <a:effectLst/>
                  </a:rPr>
                  <a:t> and 30% </a:t>
                </a:r>
                <a:r>
                  <a:rPr lang="it-IT" b="0" dirty="0" err="1">
                    <a:effectLst/>
                  </a:rPr>
                  <a:t>outliers</a:t>
                </a:r>
                <a:r>
                  <a:rPr lang="it-IT" b="0" dirty="0">
                    <a:effectLst/>
                  </a:rPr>
                  <a:t>, </a:t>
                </a:r>
                <a:r>
                  <a:rPr lang="it-IT" b="0" dirty="0" err="1">
                    <a:effectLst/>
                  </a:rPr>
                  <a:t>our</a:t>
                </a:r>
                <a:r>
                  <a:rPr lang="it-IT" b="0" dirty="0">
                    <a:effectLst/>
                  </a:rPr>
                  <a:t> RANSAC-SVD pipeline </a:t>
                </a:r>
                <a:r>
                  <a:rPr lang="it-IT" b="0" dirty="0" err="1">
                    <a:effectLst/>
                  </a:rPr>
                  <a:t>extracted</a:t>
                </a:r>
                <a:r>
                  <a:rPr lang="it-IT" b="0" dirty="0">
                    <a:effectLst/>
                  </a:rPr>
                  <a:t> fault </a:t>
                </a:r>
                <a:r>
                  <a:rPr lang="it-IT" b="0" dirty="0" err="1">
                    <a:effectLst/>
                  </a:rPr>
                  <a:t>planes</a:t>
                </a:r>
                <a:r>
                  <a:rPr lang="it-IT" b="0" dirty="0">
                    <a:effectLst/>
                  </a:rPr>
                  <a:t> with an </a:t>
                </a:r>
                <a:r>
                  <a:rPr lang="it-IT" b="0" dirty="0" err="1">
                    <a:effectLst/>
                  </a:rPr>
                  <a:t>error</a:t>
                </a:r>
                <a:r>
                  <a:rPr lang="it-IT" b="0" dirty="0">
                    <a:effectLst/>
                  </a:rPr>
                  <a:t> under </a:t>
                </a:r>
                <a:r>
                  <a:rPr lang="it-IT" b="0" dirty="0" err="1">
                    <a:effectLst/>
                  </a:rPr>
                  <a:t>half</a:t>
                </a:r>
                <a:r>
                  <a:rPr lang="it-IT" b="0" dirty="0">
                    <a:effectLst/>
                  </a:rPr>
                  <a:t> a degree for Dip (</a:t>
                </a:r>
                <a:r>
                  <a:rPr lang="it-IT" sz="1100" b="0" i="0" u="none" strike="noStrike" cap="none" spc="0">
                    <a:solidFill>
                      <a:srgbClr val="000000"/>
                    </a:solidFill>
                    <a:latin typeface="Arial"/>
                    <a:cs typeface="Arial"/>
                    <a:sym typeface="Arial"/>
                  </a:rPr>
                  <a:t>〖</a:t>
                </a:r>
                <a:r>
                  <a:rPr lang="it-IT" sz="1100" b="0" i="0" u="none" strike="noStrike" cap="none" spc="0">
                    <a:solidFill>
                      <a:srgbClr val="000000"/>
                    </a:solidFill>
                    <a:latin typeface="Cambria Math" panose="02040503050406030204" pitchFamily="18" charset="0"/>
                    <a:ea typeface="Arial"/>
                    <a:cs typeface="Arial"/>
                    <a:sym typeface="Arial"/>
                  </a:rPr>
                  <a:t>0.51〗^∘</a:t>
                </a:r>
                <a:r>
                  <a:rPr lang="it-IT" b="0" dirty="0">
                    <a:effectLst/>
                  </a:rPr>
                  <a:t>) and under one degree for Strike (</a:t>
                </a:r>
                <a:r>
                  <a:rPr lang="it-IT" sz="1100" b="0" i="0" u="none" strike="noStrike" cap="none" spc="0">
                    <a:solidFill>
                      <a:srgbClr val="000000"/>
                    </a:solidFill>
                    <a:latin typeface="Arial"/>
                    <a:cs typeface="Arial"/>
                    <a:sym typeface="Arial"/>
                  </a:rPr>
                  <a:t>〖</a:t>
                </a:r>
                <a:r>
                  <a:rPr lang="it-IT" sz="1100" b="0" i="0" u="none" strike="noStrike" cap="none" spc="0">
                    <a:solidFill>
                      <a:srgbClr val="000000"/>
                    </a:solidFill>
                    <a:latin typeface="Cambria Math" panose="02040503050406030204" pitchFamily="18" charset="0"/>
                    <a:ea typeface="Arial"/>
                    <a:cs typeface="Arial"/>
                    <a:sym typeface="Arial"/>
                  </a:rPr>
                  <a:t>0.93〗^∘</a:t>
                </a:r>
                <a:r>
                  <a:rPr lang="it-IT" b="0" dirty="0">
                    <a:effectLst/>
                  </a:rPr>
                  <a:t>).</a:t>
                </a:r>
                <a:endParaRPr lang="it-IT" b="0" dirty="0"/>
              </a:p>
              <a:p>
                <a:r>
                  <a:rPr lang="it-IT" b="0" dirty="0">
                    <a:effectLst/>
                  </a:rPr>
                  <a:t>Second, for Throughput and Scaling: on the </a:t>
                </a:r>
                <a:r>
                  <a:rPr lang="it-IT" b="0" dirty="0" err="1">
                    <a:effectLst/>
                  </a:rPr>
                  <a:t>real</a:t>
                </a:r>
                <a:r>
                  <a:rPr lang="it-IT" b="0" dirty="0">
                    <a:effectLst/>
                  </a:rPr>
                  <a:t> Campi Flegrei </a:t>
                </a:r>
                <a:r>
                  <a:rPr lang="it-IT" b="0" dirty="0" err="1">
                    <a:effectLst/>
                  </a:rPr>
                  <a:t>catalogue</a:t>
                </a:r>
                <a:r>
                  <a:rPr lang="it-IT" b="0" dirty="0">
                    <a:effectLst/>
                  </a:rPr>
                  <a:t> of over 3,200 events, clustering and </a:t>
                </a:r>
                <a:r>
                  <a:rPr lang="it-IT" b="0" dirty="0" err="1">
                    <a:effectLst/>
                  </a:rPr>
                  <a:t>plane</a:t>
                </a:r>
                <a:r>
                  <a:rPr lang="it-IT" b="0" dirty="0">
                    <a:effectLst/>
                  </a:rPr>
                  <a:t> fitting </a:t>
                </a:r>
                <a:r>
                  <a:rPr lang="it-IT" b="0" dirty="0" err="1">
                    <a:effectLst/>
                  </a:rPr>
                  <a:t>run</a:t>
                </a:r>
                <a:r>
                  <a:rPr lang="it-IT" b="0" dirty="0">
                    <a:effectLst/>
                  </a:rPr>
                  <a:t> in just 42 </a:t>
                </a:r>
                <a:r>
                  <a:rPr lang="it-IT" b="0" dirty="0" err="1">
                    <a:effectLst/>
                  </a:rPr>
                  <a:t>milliseconds</a:t>
                </a:r>
                <a:r>
                  <a:rPr lang="it-IT" b="0" dirty="0">
                    <a:effectLst/>
                  </a:rPr>
                  <a:t>. And under </a:t>
                </a:r>
                <a:r>
                  <a:rPr lang="it-IT" b="0" dirty="0" err="1">
                    <a:effectLst/>
                  </a:rPr>
                  <a:t>our</a:t>
                </a:r>
                <a:r>
                  <a:rPr lang="it-IT" b="0" dirty="0">
                    <a:effectLst/>
                  </a:rPr>
                  <a:t> 50,000-event stress test, </a:t>
                </a:r>
                <a:r>
                  <a:rPr lang="it-IT" b="0" dirty="0" err="1">
                    <a:effectLst/>
                  </a:rPr>
                  <a:t>WebGL</a:t>
                </a:r>
                <a:r>
                  <a:rPr lang="it-IT" b="0" dirty="0">
                    <a:effectLst/>
                  </a:rPr>
                  <a:t> </a:t>
                </a:r>
                <a:r>
                  <a:rPr lang="it-IT" b="0" dirty="0" err="1">
                    <a:effectLst/>
                  </a:rPr>
                  <a:t>maintains</a:t>
                </a:r>
                <a:r>
                  <a:rPr lang="it-IT" b="0" dirty="0">
                    <a:effectLst/>
                  </a:rPr>
                  <a:t> a </a:t>
                </a:r>
                <a:r>
                  <a:rPr lang="it-IT" b="0" dirty="0" err="1">
                    <a:effectLst/>
                  </a:rPr>
                  <a:t>smooth</a:t>
                </a:r>
                <a:r>
                  <a:rPr lang="it-IT" b="0" dirty="0">
                    <a:effectLst/>
                  </a:rPr>
                  <a:t> 55 to 60 frames per second.</a:t>
                </a:r>
                <a:endParaRPr lang="it-IT" b="0" dirty="0"/>
              </a:p>
              <a:p>
                <a:r>
                  <a:rPr lang="it-IT" b="0" dirty="0" err="1">
                    <a:effectLst/>
                  </a:rPr>
                  <a:t>Finally</a:t>
                </a:r>
                <a:r>
                  <a:rPr lang="it-IT" b="0" dirty="0">
                    <a:effectLst/>
                  </a:rPr>
                  <a:t>, for Streaming and Memory: </a:t>
                </a:r>
                <a:r>
                  <a:rPr lang="it-IT" b="0" dirty="0" err="1">
                    <a:effectLst/>
                  </a:rPr>
                  <a:t>our</a:t>
                </a:r>
                <a:r>
                  <a:rPr lang="it-IT" b="0" dirty="0">
                    <a:effectLst/>
                  </a:rPr>
                  <a:t> Float32 </a:t>
                </a:r>
                <a:r>
                  <a:rPr lang="it-IT" b="0" dirty="0" err="1">
                    <a:effectLst/>
                  </a:rPr>
                  <a:t>binary</a:t>
                </a:r>
                <a:r>
                  <a:rPr lang="it-IT" b="0" dirty="0">
                    <a:effectLst/>
                  </a:rPr>
                  <a:t> </a:t>
                </a:r>
                <a:r>
                  <a:rPr lang="it-IT" b="0" dirty="0" err="1">
                    <a:effectLst/>
                  </a:rPr>
                  <a:t>protocol</a:t>
                </a:r>
                <a:r>
                  <a:rPr lang="it-IT" b="0" dirty="0">
                    <a:effectLst/>
                  </a:rPr>
                  <a:t> </a:t>
                </a:r>
                <a:r>
                  <a:rPr lang="it-IT" b="0" dirty="0" err="1">
                    <a:effectLst/>
                  </a:rPr>
                  <a:t>cuts</a:t>
                </a:r>
                <a:r>
                  <a:rPr lang="it-IT" b="0" dirty="0">
                    <a:effectLst/>
                  </a:rPr>
                  <a:t> network payload by </a:t>
                </a:r>
                <a:r>
                  <a:rPr lang="it-IT" b="0" dirty="0" err="1">
                    <a:effectLst/>
                  </a:rPr>
                  <a:t>nearly</a:t>
                </a:r>
                <a:r>
                  <a:rPr lang="it-IT" b="0" dirty="0">
                    <a:effectLst/>
                  </a:rPr>
                  <a:t> 80% and </a:t>
                </a:r>
                <a:r>
                  <a:rPr lang="it-IT" b="0" dirty="0" err="1">
                    <a:effectLst/>
                  </a:rPr>
                  <a:t>decodes</a:t>
                </a:r>
                <a:r>
                  <a:rPr lang="it-IT" b="0" dirty="0">
                    <a:effectLst/>
                  </a:rPr>
                  <a:t> in under 0.01 </a:t>
                </a:r>
                <a:r>
                  <a:rPr lang="it-IT" b="0" dirty="0" err="1">
                    <a:effectLst/>
                  </a:rPr>
                  <a:t>milliseconds</a:t>
                </a:r>
                <a:r>
                  <a:rPr lang="it-IT" b="0" dirty="0">
                    <a:effectLst/>
                  </a:rPr>
                  <a:t>, </a:t>
                </a:r>
                <a:r>
                  <a:rPr lang="it-IT" b="0" dirty="0" err="1">
                    <a:effectLst/>
                  </a:rPr>
                  <a:t>while</a:t>
                </a:r>
                <a:r>
                  <a:rPr lang="it-IT" b="0" dirty="0">
                    <a:effectLst/>
                  </a:rPr>
                  <a:t> FIFO caching </a:t>
                </a:r>
                <a:r>
                  <a:rPr lang="it-IT" b="0" dirty="0" err="1">
                    <a:effectLst/>
                  </a:rPr>
                  <a:t>eviction</a:t>
                </a:r>
                <a:r>
                  <a:rPr lang="it-IT" b="0" dirty="0">
                    <a:effectLst/>
                  </a:rPr>
                  <a:t> </a:t>
                </a:r>
                <a:r>
                  <a:rPr lang="it-IT" b="0" dirty="0" err="1">
                    <a:effectLst/>
                  </a:rPr>
                  <a:t>guarantees</a:t>
                </a:r>
                <a:r>
                  <a:rPr lang="it-IT" b="0" dirty="0">
                    <a:effectLst/>
                  </a:rPr>
                  <a:t> a low </a:t>
                </a:r>
                <a:r>
                  <a:rPr lang="it-IT" b="0" dirty="0" err="1">
                    <a:effectLst/>
                  </a:rPr>
                  <a:t>memmory</a:t>
                </a:r>
                <a:r>
                  <a:rPr lang="it-IT" b="0" dirty="0">
                    <a:effectLst/>
                  </a:rPr>
                  <a:t> foot-</a:t>
                </a:r>
                <a:r>
                  <a:rPr lang="it-IT" b="0" dirty="0" err="1">
                    <a:effectLst/>
                  </a:rPr>
                  <a:t>print</a:t>
                </a:r>
                <a:r>
                  <a:rPr lang="it-IT" b="0" dirty="0">
                    <a:effectLst/>
                  </a:rPr>
                  <a:t>.</a:t>
                </a:r>
                <a:r>
                  <a:rPr lang="it-IT" b="0" dirty="0"/>
                  <a:t>"</a:t>
                </a:r>
                <a:endParaRPr b="0" dirty="0"/>
              </a:p>
              <a:p>
                <a:endParaRPr dirty="0"/>
              </a:p>
              <a:p>
                <a:r>
                  <a:rPr dirty="0"/>
                  <a:t>[VISUAL ACTION: Walk through the 4 benchmark cards: Monte Carlo MAE badges (&lt;0.51° Dip, &lt;0.93° Strike), Real Catalogue 42ms speed, 60 FPS stress test, and &lt;500 MB RAM]</a:t>
                </a:r>
              </a:p>
            </p:txBody>
          </p:sp>
        </mc:Fallback>
      </mc:AlternateContent>
      <p:sp>
        <p:nvSpPr>
          <p:cNvPr id="325" name="Google Shape;3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14 | TIME: 9:05 - 9:35 | TARGET: 30 SECONDS]</a:t>
            </a:r>
          </a:p>
          <a:p>
            <a:endParaRPr dirty="0"/>
          </a:p>
          <a:p>
            <a:r>
              <a:rPr dirty="0"/>
              <a:t>SPEECH (EN):</a:t>
            </a:r>
          </a:p>
          <a:p>
            <a:r>
              <a:rPr dirty="0"/>
              <a:t>"To conclude, Seismic Viewer delivers on three validated contributions:</a:t>
            </a:r>
          </a:p>
          <a:p>
            <a:r>
              <a:rPr dirty="0"/>
              <a:t>A High-Performance Architecture pairing a </a:t>
            </a:r>
            <a:r>
              <a:rPr dirty="0" err="1"/>
              <a:t>pywebview</a:t>
            </a:r>
            <a:r>
              <a:rPr dirty="0"/>
              <a:t> client with an asynchronous </a:t>
            </a:r>
            <a:r>
              <a:rPr dirty="0" err="1"/>
              <a:t>FastAPI</a:t>
            </a:r>
            <a:r>
              <a:rPr dirty="0"/>
              <a:t> server and Float32 streaming;</a:t>
            </a:r>
          </a:p>
          <a:p>
            <a:r>
              <a:rPr dirty="0"/>
              <a:t>Multi-Layer </a:t>
            </a:r>
            <a:r>
              <a:rPr dirty="0" err="1"/>
              <a:t>Visualisation</a:t>
            </a:r>
            <a:r>
              <a:rPr dirty="0"/>
              <a:t> integrating </a:t>
            </a:r>
            <a:r>
              <a:rPr lang="it-IT" dirty="0" err="1"/>
              <a:t>earthquacke</a:t>
            </a:r>
            <a:r>
              <a:rPr lang="it-IT" dirty="0"/>
              <a:t> </a:t>
            </a:r>
            <a:r>
              <a:rPr lang="it-IT" dirty="0" err="1"/>
              <a:t>hypocenters</a:t>
            </a:r>
            <a:r>
              <a:rPr lang="it-IT" dirty="0"/>
              <a:t> </a:t>
            </a:r>
            <a:r>
              <a:rPr dirty="0"/>
              <a:t>with tomography and GNSS uplift;</a:t>
            </a:r>
          </a:p>
          <a:p>
            <a:r>
              <a:rPr dirty="0"/>
              <a:t>and Robust Structural Analysis </a:t>
            </a:r>
            <a:r>
              <a:rPr lang="it-IT" dirty="0"/>
              <a:t>for </a:t>
            </a:r>
            <a:r>
              <a:rPr lang="it-IT" dirty="0" err="1"/>
              <a:t>automated</a:t>
            </a:r>
            <a:r>
              <a:rPr lang="it-IT" dirty="0"/>
              <a:t> </a:t>
            </a:r>
            <a:r>
              <a:rPr lang="it-IT" dirty="0" err="1"/>
              <a:t>plane</a:t>
            </a:r>
            <a:r>
              <a:rPr lang="it-IT" dirty="0"/>
              <a:t> fitting</a:t>
            </a:r>
            <a:r>
              <a:rPr dirty="0"/>
              <a:t>.</a:t>
            </a:r>
          </a:p>
          <a:p>
            <a:endParaRPr dirty="0"/>
          </a:p>
          <a:p>
            <a:r>
              <a:rPr dirty="0"/>
              <a:t>Looking forward, future extensions will focus on Real-Time Surveillance Feeds with </a:t>
            </a:r>
            <a:r>
              <a:rPr dirty="0" err="1"/>
              <a:t>WebSockets</a:t>
            </a:r>
            <a:r>
              <a:rPr dirty="0"/>
              <a:t> and </a:t>
            </a:r>
            <a:r>
              <a:rPr dirty="0" err="1"/>
              <a:t>SeedLink</a:t>
            </a:r>
            <a:r>
              <a:rPr dirty="0"/>
              <a:t>, </a:t>
            </a:r>
            <a:r>
              <a:rPr dirty="0" err="1"/>
              <a:t>WebGPU</a:t>
            </a:r>
            <a:r>
              <a:rPr dirty="0"/>
              <a:t> compute shaders for client-side re-clustering, and focal mechanism for kinematic </a:t>
            </a:r>
            <a:r>
              <a:rPr dirty="0" err="1"/>
              <a:t>seismotectonics</a:t>
            </a:r>
            <a:r>
              <a:rPr dirty="0"/>
              <a:t>."</a:t>
            </a:r>
          </a:p>
          <a:p>
            <a:endParaRPr dirty="0"/>
          </a:p>
          <a:p>
            <a:r>
              <a:rPr dirty="0"/>
              <a:t>[VISUAL ACTION: Highlight the 3 Validated Contributions on the left, the 3 Future Extensions on the right, and then transition to Slide 15]</a:t>
            </a:r>
          </a:p>
        </p:txBody>
      </p:sp>
      <p:sp>
        <p:nvSpPr>
          <p:cNvPr id="349" name="Google Shape;349;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a:extLst>
            <a:ext uri="{FF2B5EF4-FFF2-40B4-BE49-F238E27FC236}">
              <a16:creationId xmlns:a16="http://schemas.microsoft.com/office/drawing/2014/main" id="{311BEE64-50A2-094F-B559-632611A1BAF7}"/>
            </a:ext>
          </a:extLst>
        </p:cNvPr>
        <p:cNvGrpSpPr/>
        <p:nvPr/>
      </p:nvGrpSpPr>
      <p:grpSpPr>
        <a:xfrm>
          <a:off x="0" y="0"/>
          <a:ext cx="0" cy="0"/>
          <a:chOff x="0" y="0"/>
          <a:chExt cx="0" cy="0"/>
        </a:xfrm>
      </p:grpSpPr>
      <p:sp>
        <p:nvSpPr>
          <p:cNvPr id="348" name="Google Shape;348;p14:notes">
            <a:extLst>
              <a:ext uri="{FF2B5EF4-FFF2-40B4-BE49-F238E27FC236}">
                <a16:creationId xmlns:a16="http://schemas.microsoft.com/office/drawing/2014/main" id="{DE9D130D-DF1C-5F59-06AE-778891DBB8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[SLIDE 15 | TIME: 9:35 - 9:45 | TARGET: 10 SECONDS]</a:t>
            </a:r>
          </a:p>
          <a:p>
            <a:endParaRPr dirty="0"/>
          </a:p>
          <a:p>
            <a:r>
              <a:rPr dirty="0"/>
              <a:t>SPEECH (EN):</a:t>
            </a:r>
          </a:p>
          <a:p>
            <a:r>
              <a:rPr dirty="0"/>
              <a:t>"Thank you very much for your time and attention."</a:t>
            </a:r>
          </a:p>
          <a:p>
            <a:endParaRPr dirty="0"/>
          </a:p>
          <a:p>
            <a:r>
              <a:rPr dirty="0"/>
              <a:t>[VISUAL ACTION: Smile warmly, acknowledge Professor Avola and Dr. Bailo, thank the entire committee, and open the floor for questions]</a:t>
            </a:r>
          </a:p>
        </p:txBody>
      </p:sp>
      <p:sp>
        <p:nvSpPr>
          <p:cNvPr id="349" name="Google Shape;349;p14:notes">
            <a:extLst>
              <a:ext uri="{FF2B5EF4-FFF2-40B4-BE49-F238E27FC236}">
                <a16:creationId xmlns:a16="http://schemas.microsoft.com/office/drawing/2014/main" id="{88FB3756-9C04-75B8-8D32-B1A094AF4F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it-IT"/>
          </a:p>
        </p:txBody>
      </p:sp>
    </p:spTree>
    <p:extLst>
      <p:ext uri="{BB962C8B-B14F-4D97-AF65-F5344CB8AC3E}">
        <p14:creationId xmlns:p14="http://schemas.microsoft.com/office/powerpoint/2010/main" val="367135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txBody>
          <a:bodyPr/>
          <a:lstStyle/>
          <a:p>
            <a:endParaRPr lang="it-IT"/>
          </a:p>
        </p:txBody>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7.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8.png"/><Relationship Id="rId10" Type="http://schemas.openxmlformats.org/officeDocument/2006/relationships/image" Target="../media/image22.png"/><Relationship Id="rId4" Type="http://schemas.openxmlformats.org/officeDocument/2006/relationships/image" Target="../media/image170.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83"/>
        <p:cNvGrpSpPr/>
        <p:nvPr/>
      </p:nvGrpSpPr>
      <p:grpSpPr>
        <a:xfrm>
          <a:off x="0" y="0"/>
          <a:ext cx="0" cy="0"/>
          <a:chOff x="0" y="0"/>
          <a:chExt cx="0" cy="0"/>
        </a:xfrm>
      </p:grpSpPr>
      <p:sp>
        <p:nvSpPr>
          <p:cNvPr id="85" name="Google Shape;85;p13"/>
          <p:cNvSpPr/>
          <p:nvPr/>
        </p:nvSpPr>
        <p:spPr>
          <a:xfrm>
            <a:off x="762000" y="2489001"/>
            <a:ext cx="1200000" cy="45000"/>
          </a:xfrm>
          <a:prstGeom prst="rect">
            <a:avLst/>
          </a:prstGeom>
          <a:solidFill>
            <a:srgbClr val="822433"/>
          </a:solidFill>
          <a:ln w="12700">
            <a:solidFill>
              <a:srgbClr val="E4DED4"/>
            </a:solid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7" name="Google Shape;87;p13"/>
          <p:cNvSpPr txBox="1"/>
          <p:nvPr/>
        </p:nvSpPr>
        <p:spPr>
          <a:xfrm>
            <a:off x="762000" y="2727126"/>
            <a:ext cx="11430000" cy="52566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None/>
              <a:defRPr b="1">
                <a:solidFill>
                  <a:srgbClr val="822433"/>
                </a:solidFill>
              </a:defRPr>
            </a:pPr>
            <a:r>
              <a:rPr lang="en-US" sz="3600" b="1" i="0" u="none" strike="noStrike" cap="none" dirty="0">
                <a:solidFill>
                  <a:srgbClr val="822433"/>
                </a:solidFill>
                <a:latin typeface="Cinzel"/>
                <a:ea typeface="Cinzel"/>
                <a:cs typeface="Cinzel"/>
                <a:sym typeface="Cinzel"/>
              </a:rPr>
              <a:t>Seismic Viewer</a:t>
            </a:r>
            <a:endParaRPr dirty="0"/>
          </a:p>
        </p:txBody>
      </p:sp>
      <p:sp>
        <p:nvSpPr>
          <p:cNvPr id="88" name="Google Shape;88;p13"/>
          <p:cNvSpPr txBox="1"/>
          <p:nvPr/>
        </p:nvSpPr>
        <p:spPr>
          <a:xfrm>
            <a:off x="762000" y="3405187"/>
            <a:ext cx="8477250" cy="544710"/>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defRPr b="0">
                <a:solidFill>
                  <a:srgbClr val="1C1819"/>
                </a:solidFill>
              </a:defRPr>
            </a:pPr>
            <a:r>
              <a:rPr lang="en-US" sz="1650" b="0" i="0" u="none" strike="noStrike" cap="none" dirty="0">
                <a:solidFill>
                  <a:srgbClr val="1C1819"/>
                </a:solidFill>
                <a:latin typeface="Plus Jakarta Sans"/>
                <a:ea typeface="Plus Jakarta Sans"/>
                <a:cs typeface="Plus Jakarta Sans"/>
                <a:sym typeface="Plus Jakarta Sans"/>
              </a:rPr>
              <a:t>Design, Implementation and Evaluation of an Interactive 4D </a:t>
            </a:r>
            <a:r>
              <a:rPr lang="en-US" sz="1650" b="0" i="0" u="none" strike="noStrike" cap="none" dirty="0" err="1">
                <a:solidFill>
                  <a:srgbClr val="1C1819"/>
                </a:solidFill>
                <a:latin typeface="Plus Jakarta Sans"/>
                <a:ea typeface="Plus Jakarta Sans"/>
                <a:cs typeface="Plus Jakarta Sans"/>
                <a:sym typeface="Plus Jakarta Sans"/>
              </a:rPr>
              <a:t>Spatio</a:t>
            </a:r>
            <a:r>
              <a:rPr lang="en-US" sz="1650" b="0" i="0" u="none" strike="noStrike" cap="none" dirty="0">
                <a:solidFill>
                  <a:srgbClr val="1C1819"/>
                </a:solidFill>
                <a:latin typeface="Plus Jakarta Sans"/>
                <a:ea typeface="Plus Jakarta Sans"/>
                <a:cs typeface="Plus Jakarta Sans"/>
                <a:sym typeface="Plus Jakarta Sans"/>
              </a:rPr>
              <a:t>-Temporal </a:t>
            </a:r>
            <a:r>
              <a:rPr lang="en-US" sz="1650" b="0" i="0" u="none" strike="noStrike" cap="none" dirty="0" err="1">
                <a:solidFill>
                  <a:srgbClr val="1C1819"/>
                </a:solidFill>
                <a:latin typeface="Plus Jakarta Sans"/>
                <a:ea typeface="Plus Jakarta Sans"/>
                <a:cs typeface="Plus Jakarta Sans"/>
                <a:sym typeface="Plus Jakarta Sans"/>
              </a:rPr>
              <a:t>Visualisation</a:t>
            </a:r>
            <a:r>
              <a:rPr lang="en-US" sz="1650" b="0" i="0" u="none" strike="noStrike" cap="none" dirty="0">
                <a:solidFill>
                  <a:srgbClr val="1C1819"/>
                </a:solidFill>
                <a:latin typeface="Plus Jakarta Sans"/>
                <a:ea typeface="Plus Jakarta Sans"/>
                <a:cs typeface="Plus Jakarta Sans"/>
                <a:sym typeface="Plus Jakarta Sans"/>
              </a:rPr>
              <a:t> System for Seismological Data</a:t>
            </a:r>
            <a:endParaRPr dirty="0"/>
          </a:p>
        </p:txBody>
      </p:sp>
      <p:sp>
        <p:nvSpPr>
          <p:cNvPr id="89" name="Google Shape;89;p13"/>
          <p:cNvSpPr txBox="1"/>
          <p:nvPr/>
        </p:nvSpPr>
        <p:spPr>
          <a:xfrm>
            <a:off x="762000" y="620000"/>
            <a:ext cx="732234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300" b="1">
                <a:solidFill>
                  <a:srgbClr val="822433"/>
                </a:solidFill>
              </a:defRPr>
            </a:pPr>
            <a:r>
              <a:rPr lang="en-US" sz="1300" b="1" i="0" u="none" strike="noStrike" cap="none">
                <a:solidFill>
                  <a:srgbClr val="822433"/>
                </a:solidFill>
                <a:latin typeface="Cinzel"/>
                <a:ea typeface="Cinzel"/>
                <a:cs typeface="Cinzel"/>
                <a:sym typeface="Cinzel"/>
              </a:rPr>
              <a:t>SAPIENZA UNIVERSITY OF ROME</a:t>
            </a:r>
            <a:endParaRPr/>
          </a:p>
        </p:txBody>
      </p:sp>
      <p:sp>
        <p:nvSpPr>
          <p:cNvPr id="90" name="Google Shape;90;p13"/>
          <p:cNvSpPr txBox="1"/>
          <p:nvPr/>
        </p:nvSpPr>
        <p:spPr>
          <a:xfrm>
            <a:off x="762000" y="900000"/>
            <a:ext cx="7322343"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50" b="0">
                <a:solidFill>
                  <a:srgbClr val="204060"/>
                </a:solidFill>
              </a:defRPr>
            </a:pPr>
            <a:r>
              <a:rPr lang="en-US" sz="1150" b="0" i="0" u="none" strike="noStrike" cap="none">
                <a:solidFill>
                  <a:srgbClr val="204060"/>
                </a:solidFill>
                <a:latin typeface="Plus Jakarta Sans"/>
                <a:ea typeface="Plus Jakarta Sans"/>
                <a:cs typeface="Plus Jakarta Sans"/>
                <a:sym typeface="Plus Jakarta Sans"/>
              </a:rPr>
              <a:t>Faculty of Information Engineering, Computer Science and Statistics • ACSAI • A.Y. 2025/2026</a:t>
            </a:r>
            <a:endParaRPr/>
          </a:p>
        </p:txBody>
      </p:sp>
      <p:sp>
        <p:nvSpPr>
          <p:cNvPr id="91" name="Google Shape;91;p13"/>
          <p:cNvSpPr txBox="1"/>
          <p:nvPr/>
        </p:nvSpPr>
        <p:spPr>
          <a:xfrm>
            <a:off x="762000" y="520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Candidate</a:t>
            </a:r>
            <a:endParaRPr/>
          </a:p>
        </p:txBody>
      </p:sp>
      <p:sp>
        <p:nvSpPr>
          <p:cNvPr id="92" name="Google Shape;92;p13"/>
          <p:cNvSpPr txBox="1"/>
          <p:nvPr/>
        </p:nvSpPr>
        <p:spPr>
          <a:xfrm>
            <a:off x="762000" y="5480000"/>
            <a:ext cx="28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Alessio Curcio</a:t>
            </a:r>
            <a:endParaRPr/>
          </a:p>
        </p:txBody>
      </p:sp>
      <p:sp>
        <p:nvSpPr>
          <p:cNvPr id="93" name="Google Shape;93;p13"/>
          <p:cNvSpPr txBox="1"/>
          <p:nvPr/>
        </p:nvSpPr>
        <p:spPr>
          <a:xfrm>
            <a:off x="762000" y="5820000"/>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0">
                <a:solidFill>
                  <a:srgbClr val="5A5052"/>
                </a:solidFill>
              </a:defRPr>
            </a:pPr>
            <a:r>
              <a:rPr lang="en-US" sz="1200" b="0" i="0" u="none" strike="noStrike" cap="none">
                <a:solidFill>
                  <a:srgbClr val="5A5052"/>
                </a:solidFill>
                <a:latin typeface="Plus Jakarta Sans"/>
                <a:ea typeface="Plus Jakarta Sans"/>
                <a:cs typeface="Plus Jakarta Sans"/>
                <a:sym typeface="Plus Jakarta Sans"/>
              </a:rPr>
              <a:t>ID: 2120317</a:t>
            </a:r>
            <a:endParaRPr/>
          </a:p>
        </p:txBody>
      </p:sp>
      <p:sp>
        <p:nvSpPr>
          <p:cNvPr id="94" name="Google Shape;94;p13"/>
          <p:cNvSpPr txBox="1"/>
          <p:nvPr/>
        </p:nvSpPr>
        <p:spPr>
          <a:xfrm>
            <a:off x="4600000" y="5200000"/>
            <a:ext cx="34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Academic Supervisor</a:t>
            </a:r>
            <a:endParaRPr/>
          </a:p>
        </p:txBody>
      </p:sp>
      <p:sp>
        <p:nvSpPr>
          <p:cNvPr id="95" name="Google Shape;95;p13"/>
          <p:cNvSpPr txBox="1"/>
          <p:nvPr/>
        </p:nvSpPr>
        <p:spPr>
          <a:xfrm>
            <a:off x="4600000" y="5480000"/>
            <a:ext cx="34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Prof. Danilo Avola</a:t>
            </a:r>
            <a:endParaRPr/>
          </a:p>
        </p:txBody>
      </p:sp>
      <p:sp>
        <p:nvSpPr>
          <p:cNvPr id="96" name="Google Shape;96;p13"/>
          <p:cNvSpPr txBox="1"/>
          <p:nvPr/>
        </p:nvSpPr>
        <p:spPr>
          <a:xfrm>
            <a:off x="8400000" y="5200000"/>
            <a:ext cx="32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Co-Supervisor</a:t>
            </a:r>
            <a:endParaRPr/>
          </a:p>
        </p:txBody>
      </p:sp>
      <p:sp>
        <p:nvSpPr>
          <p:cNvPr id="97" name="Google Shape;97;p13"/>
          <p:cNvSpPr txBox="1"/>
          <p:nvPr/>
        </p:nvSpPr>
        <p:spPr>
          <a:xfrm>
            <a:off x="8400000" y="5480000"/>
            <a:ext cx="32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Dr. Daniele Bailo</a:t>
            </a:r>
            <a:endParaRPr/>
          </a:p>
        </p:txBody>
      </p:sp>
      <p:pic>
        <p:nvPicPr>
          <p:cNvPr id="98" name="Picture 97" descr="sapienza_logo.png"/>
          <p:cNvPicPr>
            <a:picLocks noChangeAspect="1"/>
          </p:cNvPicPr>
          <p:nvPr/>
        </p:nvPicPr>
        <p:blipFill>
          <a:blip r:embed="rId3"/>
          <a:stretch>
            <a:fillRect/>
          </a:stretch>
        </p:blipFill>
        <p:spPr>
          <a:xfrm>
            <a:off x="8000000" y="480000"/>
            <a:ext cx="3400000" cy="1020000"/>
          </a:xfrm>
          <a:prstGeom prst="rect">
            <a:avLst/>
          </a:prstGeom>
        </p:spPr>
      </p:pic>
      <p:sp>
        <p:nvSpPr>
          <p:cNvPr id="9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9048AE71-59FA-60A1-0D98-5EDA1687053B}"/>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01"/>
        <p:cNvGrpSpPr/>
        <p:nvPr/>
      </p:nvGrpSpPr>
      <p:grpSpPr>
        <a:xfrm>
          <a:off x="0" y="0"/>
          <a:ext cx="0" cy="0"/>
          <a:chOff x="0" y="0"/>
          <a:chExt cx="0" cy="0"/>
        </a:xfrm>
      </p:grpSpPr>
      <p:sp>
        <p:nvSpPr>
          <p:cNvPr id="102" name="Google Shape;102;p14"/>
          <p:cNvSpPr/>
          <p:nvPr/>
        </p:nvSpPr>
        <p:spPr>
          <a:xfrm>
            <a:off x="626745" y="1688935"/>
            <a:ext cx="3505200" cy="2206216"/>
          </a:xfrm>
          <a:prstGeom prst="roundRect">
            <a:avLst>
              <a:gd name="adj" fmla="val 573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3" name="Google Shape;103;p14"/>
          <p:cNvSpPr/>
          <p:nvPr/>
        </p:nvSpPr>
        <p:spPr>
          <a:xfrm>
            <a:off x="626745" y="4301367"/>
            <a:ext cx="3505200" cy="2206216"/>
          </a:xfrm>
          <a:prstGeom prst="roundRect">
            <a:avLst>
              <a:gd name="adj" fmla="val 6320"/>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4" name="Google Shape;104;p14"/>
          <p:cNvSpPr/>
          <p:nvPr/>
        </p:nvSpPr>
        <p:spPr>
          <a:xfrm>
            <a:off x="8672839" y="2853610"/>
            <a:ext cx="3300984" cy="2083082"/>
          </a:xfrm>
          <a:prstGeom prst="roundRect">
            <a:avLst>
              <a:gd name="adj" fmla="val 5737"/>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1" name="Google Shape;111;p1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DOMAIN CONTEXT &amp; RESEARCH MOTIVATION</a:t>
            </a:r>
            <a:endParaRPr/>
          </a:p>
        </p:txBody>
      </p:sp>
      <p:sp>
        <p:nvSpPr>
          <p:cNvPr id="112" name="Google Shape;112;p14"/>
          <p:cNvSpPr txBox="1"/>
          <p:nvPr/>
        </p:nvSpPr>
        <p:spPr>
          <a:xfrm>
            <a:off x="609600" y="840000"/>
            <a:ext cx="6486144" cy="400110"/>
          </a:xfrm>
          <a:prstGeom prst="rect">
            <a:avLst/>
          </a:prstGeom>
          <a:noFill/>
          <a:ln>
            <a:noFill/>
          </a:ln>
        </p:spPr>
        <p:txBody>
          <a:bodyPr spcFirstLastPara="1" wrap="square" lIns="0" tIns="0" rIns="0" bIns="0" anchor="t" anchorCtr="0">
            <a:spAutoFit/>
          </a:bodyPr>
          <a:lstStyle/>
          <a:p>
            <a:pPr lvl="0">
              <a:defRPr sz="2600" b="1">
                <a:solidFill>
                  <a:srgbClr val="822433"/>
                </a:solidFill>
              </a:defRPr>
            </a:pPr>
            <a:r>
              <a:rPr lang="it-IT" sz="2600" b="1" dirty="0">
                <a:solidFill>
                  <a:srgbClr val="822433"/>
                </a:solidFill>
                <a:latin typeface="Cinzel" panose="020B0604020202020204" charset="0"/>
              </a:rPr>
              <a:t>The Campi Flegrei Caldera </a:t>
            </a:r>
            <a:r>
              <a:rPr lang="it-IT" sz="2600" b="1" dirty="0" err="1">
                <a:solidFill>
                  <a:srgbClr val="822433"/>
                </a:solidFill>
                <a:latin typeface="Cinzel" panose="020B0604020202020204" charset="0"/>
              </a:rPr>
              <a:t>context</a:t>
            </a:r>
            <a:endParaRPr dirty="0">
              <a:latin typeface="Cinzel" panose="020B0604020202020204" charset="0"/>
            </a:endParaRPr>
          </a:p>
        </p:txBody>
      </p:sp>
      <p:sp>
        <p:nvSpPr>
          <p:cNvPr id="113" name="Google Shape;113;p14"/>
          <p:cNvSpPr txBox="1"/>
          <p:nvPr/>
        </p:nvSpPr>
        <p:spPr>
          <a:xfrm>
            <a:off x="1063180" y="1930433"/>
            <a:ext cx="2727579" cy="2616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1700" b="1">
                <a:solidFill>
                  <a:srgbClr val="B85828"/>
                </a:solidFill>
              </a:defRPr>
            </a:pPr>
            <a:r>
              <a:rPr lang="en-US" sz="1700" b="1" i="0" u="none" strike="noStrike" cap="none" dirty="0">
                <a:solidFill>
                  <a:srgbClr val="B85828"/>
                </a:solidFill>
                <a:latin typeface="Plus Jakarta Sans"/>
                <a:ea typeface="Plus Jakarta Sans"/>
                <a:cs typeface="Plus Jakarta Sans"/>
                <a:sym typeface="Plus Jakarta Sans"/>
              </a:rPr>
              <a:t>Active Volcanic Unrest</a:t>
            </a:r>
            <a:endParaRPr dirty="0"/>
          </a:p>
        </p:txBody>
      </p:sp>
      <p:sp>
        <p:nvSpPr>
          <p:cNvPr id="114" name="Google Shape;114;p14"/>
          <p:cNvSpPr txBox="1"/>
          <p:nvPr/>
        </p:nvSpPr>
        <p:spPr>
          <a:xfrm>
            <a:off x="864870" y="2295151"/>
            <a:ext cx="3124200" cy="1400000"/>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Ongoing </a:t>
            </a:r>
            <a:r>
              <a:rPr lang="en-US" sz="1350" b="0" i="0" u="none" strike="noStrike" cap="none" dirty="0" err="1">
                <a:solidFill>
                  <a:srgbClr val="1C1819"/>
                </a:solidFill>
                <a:latin typeface="Plus Jakarta Sans"/>
                <a:ea typeface="Plus Jakarta Sans"/>
                <a:cs typeface="Plus Jakarta Sans"/>
                <a:sym typeface="Plus Jakarta Sans"/>
              </a:rPr>
              <a:t>bradyseismic</a:t>
            </a:r>
            <a:r>
              <a:rPr lang="en-US" sz="1350" b="0" i="0" u="none" strike="noStrike" cap="none" dirty="0">
                <a:solidFill>
                  <a:srgbClr val="1C1819"/>
                </a:solidFill>
                <a:latin typeface="Plus Jakarta Sans"/>
                <a:ea typeface="Plus Jakarta Sans"/>
                <a:cs typeface="Plus Jakarta Sans"/>
                <a:sym typeface="Plus Jakarta Sans"/>
              </a:rPr>
              <a:t> uplift and dense swarm seismicity since 2005 demand continuous, multi-parametric spatial monitoring.</a:t>
            </a:r>
            <a:endParaRPr dirty="0"/>
          </a:p>
        </p:txBody>
      </p:sp>
      <p:sp>
        <p:nvSpPr>
          <p:cNvPr id="115" name="Google Shape;115;p14"/>
          <p:cNvSpPr txBox="1"/>
          <p:nvPr/>
        </p:nvSpPr>
        <p:spPr>
          <a:xfrm>
            <a:off x="1007935" y="4546384"/>
            <a:ext cx="2742819" cy="2616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Planar Fault Structures</a:t>
            </a:r>
            <a:endParaRPr dirty="0"/>
          </a:p>
        </p:txBody>
      </p:sp>
      <p:sp>
        <p:nvSpPr>
          <p:cNvPr id="116" name="Google Shape;116;p14"/>
          <p:cNvSpPr txBox="1"/>
          <p:nvPr/>
        </p:nvSpPr>
        <p:spPr>
          <a:xfrm>
            <a:off x="864870" y="4907583"/>
            <a:ext cx="3124200" cy="1500411"/>
          </a:xfrm>
          <a:prstGeom prst="rect">
            <a:avLst/>
          </a:prstGeom>
          <a:noFill/>
          <a:ln>
            <a:noFill/>
          </a:ln>
        </p:spPr>
        <p:txBody>
          <a:bodyPr spcFirstLastPara="1" wrap="square" lIns="0" tIns="0" rIns="0" bIns="0" anchor="t" anchorCtr="0">
            <a:spAutoFit/>
          </a:bodyPr>
          <a:lstStyle/>
          <a:p>
            <a:pPr>
              <a:lnSpc>
                <a:spcPct val="150000"/>
              </a:lnSpc>
              <a:defRPr sz="1300">
                <a:solidFill>
                  <a:srgbClr val="1C1819"/>
                </a:solidFill>
              </a:defRPr>
            </a:pPr>
            <a:r>
              <a:rPr sz="1300" dirty="0">
                <a:solidFill>
                  <a:srgbClr val="1C1819"/>
                </a:solidFill>
                <a:latin typeface="Plus Jakarta Sans" panose="020B0604020202020204" charset="0"/>
                <a:cs typeface="Plus Jakarta Sans" panose="020B0604020202020204" charset="0"/>
              </a:rPr>
              <a:t>Recent studies (Giordano, Alfonsi, Nature Comm. 2025) demonstrate that </a:t>
            </a:r>
            <a:r>
              <a:rPr sz="1300" dirty="0" err="1">
                <a:solidFill>
                  <a:srgbClr val="1C1819"/>
                </a:solidFill>
                <a:latin typeface="Plus Jakarta Sans" panose="020B0604020202020204" charset="0"/>
                <a:cs typeface="Plus Jakarta Sans" panose="020B0604020202020204" charset="0"/>
              </a:rPr>
              <a:t>hypocentres</a:t>
            </a:r>
            <a:r>
              <a:rPr sz="1300" dirty="0">
                <a:solidFill>
                  <a:srgbClr val="1C1819"/>
                </a:solidFill>
                <a:latin typeface="Plus Jakarta Sans" panose="020B0604020202020204" charset="0"/>
                <a:cs typeface="Plus Jakarta Sans" panose="020B0604020202020204" charset="0"/>
              </a:rPr>
              <a:t> delineate growing planar faults rather than diffuse isotropic clusters.</a:t>
            </a:r>
          </a:p>
        </p:txBody>
      </p:sp>
      <p:sp>
        <p:nvSpPr>
          <p:cNvPr id="117" name="Google Shape;117;p14"/>
          <p:cNvSpPr txBox="1"/>
          <p:nvPr/>
        </p:nvSpPr>
        <p:spPr>
          <a:xfrm>
            <a:off x="9040311" y="3091546"/>
            <a:ext cx="2683485" cy="2616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defRPr sz="1700" b="1">
                <a:solidFill>
                  <a:srgbClr val="822433"/>
                </a:solidFill>
              </a:defRPr>
            </a:pPr>
            <a:r>
              <a:rPr lang="en-US" sz="1700" b="1" i="0" u="none" strike="noStrike" cap="none" dirty="0">
                <a:solidFill>
                  <a:srgbClr val="822433"/>
                </a:solidFill>
                <a:latin typeface="Plus Jakarta Sans"/>
                <a:ea typeface="Plus Jakarta Sans"/>
                <a:cs typeface="Plus Jakarta Sans"/>
                <a:sym typeface="Plus Jakarta Sans"/>
              </a:rPr>
              <a:t>INGV Operational Need</a:t>
            </a:r>
            <a:endParaRPr dirty="0"/>
          </a:p>
        </p:txBody>
      </p:sp>
      <p:sp>
        <p:nvSpPr>
          <p:cNvPr id="118" name="Google Shape;118;p14"/>
          <p:cNvSpPr txBox="1"/>
          <p:nvPr/>
        </p:nvSpPr>
        <p:spPr>
          <a:xfrm>
            <a:off x="8910962" y="3460996"/>
            <a:ext cx="2942181" cy="1246495"/>
          </a:xfrm>
          <a:prstGeom prst="rect">
            <a:avLst/>
          </a:prstGeom>
          <a:noFill/>
          <a:ln>
            <a:noFill/>
          </a:ln>
        </p:spPr>
        <p:txBody>
          <a:bodyPr spcFirstLastPara="1" wrap="square" lIns="0" tIns="0" rIns="0" bIns="0" anchor="t" anchorCtr="0">
            <a:spAutoFit/>
          </a:bodyPr>
          <a:lstStyle/>
          <a:p>
            <a:pPr marL="0" marR="0" lvl="0" indent="0" algn="l" rtl="0">
              <a:lnSpc>
                <a:spcPct val="149955"/>
              </a:lnSpc>
              <a:spcBef>
                <a:spcPts val="0"/>
              </a:spcBef>
              <a:spcAft>
                <a:spcPts val="0"/>
              </a:spcAft>
              <a:buNone/>
              <a:defRPr sz="1350" b="0">
                <a:solidFill>
                  <a:srgbClr val="1C1819"/>
                </a:solidFill>
              </a:defRPr>
            </a:pPr>
            <a:r>
              <a:rPr lang="en-US" sz="1350" b="0" i="0" u="none" strike="noStrike" cap="none" dirty="0">
                <a:solidFill>
                  <a:srgbClr val="1C1819"/>
                </a:solidFill>
                <a:latin typeface="Plus Jakarta Sans"/>
                <a:ea typeface="Plus Jakarta Sans"/>
                <a:cs typeface="Plus Jakarta Sans"/>
                <a:sym typeface="Plus Jakarta Sans"/>
              </a:rPr>
              <a:t>Geophysicists require an interactive system bridging raw catalogues, tomography/uplift models, and automated fault plane extraction.</a:t>
            </a:r>
            <a:endParaRPr dirty="0"/>
          </a:p>
        </p:txBody>
      </p:sp>
      <p:pic>
        <p:nvPicPr>
          <p:cNvPr id="119" name="Picture 118"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120"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8EA651C1-0ECF-841A-E00B-270A16C27329}"/>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Immagine 3">
            <a:extLst>
              <a:ext uri="{FF2B5EF4-FFF2-40B4-BE49-F238E27FC236}">
                <a16:creationId xmlns:a16="http://schemas.microsoft.com/office/drawing/2014/main" id="{D0DDAD99-7D27-93AE-87D6-810D76B9492F}"/>
              </a:ext>
            </a:extLst>
          </p:cNvPr>
          <p:cNvPicPr>
            <a:picLocks noChangeAspect="1"/>
          </p:cNvPicPr>
          <p:nvPr/>
        </p:nvPicPr>
        <p:blipFill>
          <a:blip r:embed="rId4"/>
          <a:stretch>
            <a:fillRect/>
          </a:stretch>
        </p:blipFill>
        <p:spPr>
          <a:xfrm>
            <a:off x="4227196" y="2593317"/>
            <a:ext cx="4350392" cy="27705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22"/>
        <p:cNvGrpSpPr/>
        <p:nvPr/>
      </p:nvGrpSpPr>
      <p:grpSpPr>
        <a:xfrm>
          <a:off x="0" y="0"/>
          <a:ext cx="0" cy="0"/>
          <a:chOff x="0" y="0"/>
          <a:chExt cx="0" cy="0"/>
        </a:xfrm>
      </p:grpSpPr>
      <p:sp>
        <p:nvSpPr>
          <p:cNvPr id="123" name="Google Shape;123;p15"/>
          <p:cNvSpPr/>
          <p:nvPr/>
        </p:nvSpPr>
        <p:spPr>
          <a:xfrm>
            <a:off x="609600" y="2151045"/>
            <a:ext cx="4985328" cy="3158567"/>
          </a:xfrm>
          <a:prstGeom prst="roundRect">
            <a:avLst>
              <a:gd name="adj" fmla="val 5499"/>
            </a:avLst>
          </a:prstGeom>
          <a:solidFill>
            <a:srgbClr val="F2F6FA"/>
          </a:solidFill>
          <a:ln w="12700" cap="flat" cmpd="sng">
            <a:solidFill>
              <a:schemeClr val="bg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4" name="Google Shape;124;p15"/>
          <p:cNvSpPr/>
          <p:nvPr/>
        </p:nvSpPr>
        <p:spPr>
          <a:xfrm>
            <a:off x="6378727" y="2149768"/>
            <a:ext cx="5151582" cy="3158567"/>
          </a:xfrm>
          <a:prstGeom prst="roundRect">
            <a:avLst>
              <a:gd name="adj" fmla="val 5499"/>
            </a:avLst>
          </a:prstGeom>
          <a:solidFill>
            <a:srgbClr val="F2F6FA"/>
          </a:solidFill>
          <a:ln w="12700" cap="flat" cmpd="sng">
            <a:solidFill>
              <a:schemeClr val="bg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26" name="Google Shape;126;p1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dirty="0">
                <a:solidFill>
                  <a:srgbClr val="204060"/>
                </a:solidFill>
                <a:latin typeface="Plus Jakarta Sans"/>
                <a:ea typeface="Plus Jakarta Sans"/>
                <a:cs typeface="Plus Jakarta Sans"/>
                <a:sym typeface="Plus Jakarta Sans"/>
              </a:rPr>
              <a:t>STATE OF THE ART &amp; TOOLING COMPARISON</a:t>
            </a:r>
            <a:endParaRPr dirty="0"/>
          </a:p>
        </p:txBody>
      </p:sp>
      <p:sp>
        <p:nvSpPr>
          <p:cNvPr id="127" name="Google Shape;127;p15"/>
          <p:cNvSpPr txBox="1"/>
          <p:nvPr/>
        </p:nvSpPr>
        <p:spPr>
          <a:xfrm>
            <a:off x="609600" y="840000"/>
            <a:ext cx="9140400" cy="800219"/>
          </a:xfrm>
          <a:prstGeom prst="rect">
            <a:avLst/>
          </a:prstGeom>
          <a:noFill/>
          <a:ln>
            <a:noFill/>
          </a:ln>
        </p:spPr>
        <p:txBody>
          <a:bodyPr spcFirstLastPara="1" wrap="square" lIns="0" tIns="0" rIns="0" bIns="0" anchor="t" anchorCtr="0">
            <a:spAutoFit/>
          </a:bodyPr>
          <a:lstStyle/>
          <a:p>
            <a:pPr lvl="0">
              <a:defRPr sz="2600" b="1">
                <a:solidFill>
                  <a:srgbClr val="822433"/>
                </a:solidFill>
              </a:defRPr>
            </a:pPr>
            <a:r>
              <a:rPr lang="it-IT" sz="2600" b="1" dirty="0" err="1">
                <a:solidFill>
                  <a:srgbClr val="822433"/>
                </a:solidFill>
                <a:latin typeface="Cinzel" panose="020B0604020202020204" charset="0"/>
              </a:rPr>
              <a:t>Functional</a:t>
            </a:r>
            <a:r>
              <a:rPr lang="it-IT" sz="2600" b="1" dirty="0">
                <a:solidFill>
                  <a:srgbClr val="822433"/>
                </a:solidFill>
                <a:latin typeface="Cinzel" panose="020B0604020202020204" charset="0"/>
              </a:rPr>
              <a:t> </a:t>
            </a:r>
            <a:r>
              <a:rPr lang="it-IT" sz="2600" b="1" dirty="0" err="1">
                <a:solidFill>
                  <a:srgbClr val="822433"/>
                </a:solidFill>
                <a:latin typeface="Cinzel" panose="020B0604020202020204" charset="0"/>
              </a:rPr>
              <a:t>Limitation</a:t>
            </a:r>
            <a:r>
              <a:rPr lang="it-IT" sz="2600" b="1" dirty="0">
                <a:solidFill>
                  <a:srgbClr val="822433"/>
                </a:solidFill>
                <a:latin typeface="Cinzel" panose="020B0604020202020204" charset="0"/>
              </a:rPr>
              <a:t> in Current </a:t>
            </a:r>
            <a:r>
              <a:rPr lang="it-IT" sz="2600" b="1" dirty="0" err="1">
                <a:solidFill>
                  <a:srgbClr val="822433"/>
                </a:solidFill>
                <a:latin typeface="Cinzel" panose="020B0604020202020204" charset="0"/>
              </a:rPr>
              <a:t>Seismological</a:t>
            </a:r>
            <a:r>
              <a:rPr lang="it-IT" sz="2600" b="1" dirty="0">
                <a:solidFill>
                  <a:srgbClr val="822433"/>
                </a:solidFill>
                <a:latin typeface="Cinzel" panose="020B0604020202020204" charset="0"/>
              </a:rPr>
              <a:t> Software</a:t>
            </a:r>
            <a:endParaRPr dirty="0">
              <a:latin typeface="Cinzel" panose="020B0604020202020204" charset="0"/>
            </a:endParaRPr>
          </a:p>
        </p:txBody>
      </p:sp>
      <p:sp>
        <p:nvSpPr>
          <p:cNvPr id="128" name="Google Shape;128;p15"/>
          <p:cNvSpPr txBox="1"/>
          <p:nvPr/>
        </p:nvSpPr>
        <p:spPr>
          <a:xfrm>
            <a:off x="862013" y="2359924"/>
            <a:ext cx="2811629" cy="1676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dirty="0">
                <a:solidFill>
                  <a:srgbClr val="002060"/>
                </a:solidFill>
                <a:latin typeface="Plus Jakarta Sans"/>
                <a:ea typeface="Plus Jakarta Sans"/>
                <a:cs typeface="Plus Jakarta Sans"/>
                <a:sym typeface="Plus Jakarta Sans"/>
              </a:rPr>
              <a:t>GENERAL GIS PLATFORMS</a:t>
            </a:r>
            <a:endParaRPr dirty="0">
              <a:solidFill>
                <a:srgbClr val="002060"/>
              </a:solidFill>
            </a:endParaRPr>
          </a:p>
        </p:txBody>
      </p:sp>
      <p:sp>
        <p:nvSpPr>
          <p:cNvPr id="129" name="Google Shape;129;p15"/>
          <p:cNvSpPr txBox="1"/>
          <p:nvPr/>
        </p:nvSpPr>
        <p:spPr>
          <a:xfrm>
            <a:off x="862013" y="2576171"/>
            <a:ext cx="3137332"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dirty="0">
                <a:solidFill>
                  <a:srgbClr val="002060"/>
                </a:solidFill>
                <a:latin typeface="Plus Jakarta Sans"/>
                <a:ea typeface="Plus Jakarta Sans"/>
                <a:cs typeface="Plus Jakarta Sans"/>
                <a:sym typeface="Plus Jakarta Sans"/>
              </a:rPr>
              <a:t>QGIS &amp; ArcGIS</a:t>
            </a:r>
            <a:endParaRPr lang="en-US" dirty="0">
              <a:solidFill>
                <a:srgbClr val="002060"/>
              </a:solidFill>
            </a:endParaRPr>
          </a:p>
        </p:txBody>
      </p:sp>
      <p:sp>
        <p:nvSpPr>
          <p:cNvPr id="130" name="Google Shape;130;p15"/>
          <p:cNvSpPr txBox="1"/>
          <p:nvPr/>
        </p:nvSpPr>
        <p:spPr>
          <a:xfrm>
            <a:off x="6635902" y="2364678"/>
            <a:ext cx="2204821" cy="16158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050" b="1">
                <a:solidFill>
                  <a:srgbClr val="204060"/>
                </a:solidFill>
              </a:defRPr>
            </a:pPr>
            <a:r>
              <a:rPr lang="en-US" sz="1050" b="1" i="0" u="none" strike="noStrike" cap="none" dirty="0">
                <a:solidFill>
                  <a:srgbClr val="002060"/>
                </a:solidFill>
                <a:latin typeface="Plus Jakarta Sans"/>
                <a:ea typeface="Plus Jakarta Sans"/>
                <a:cs typeface="Plus Jakarta Sans"/>
                <a:sym typeface="Plus Jakarta Sans"/>
              </a:rPr>
              <a:t>SCIENTIFIC CODE </a:t>
            </a:r>
            <a:endParaRPr dirty="0">
              <a:solidFill>
                <a:srgbClr val="002060"/>
              </a:solidFill>
            </a:endParaRPr>
          </a:p>
        </p:txBody>
      </p:sp>
      <p:sp>
        <p:nvSpPr>
          <p:cNvPr id="131" name="Google Shape;131;p15"/>
          <p:cNvSpPr txBox="1"/>
          <p:nvPr/>
        </p:nvSpPr>
        <p:spPr>
          <a:xfrm>
            <a:off x="6635903" y="2574893"/>
            <a:ext cx="3841848" cy="2616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dirty="0" err="1">
                <a:solidFill>
                  <a:srgbClr val="002060"/>
                </a:solidFill>
                <a:latin typeface="Plus Jakarta Sans"/>
                <a:ea typeface="Plus Jakarta Sans"/>
                <a:cs typeface="Plus Jakarta Sans"/>
                <a:sym typeface="Plus Jakarta Sans"/>
              </a:rPr>
              <a:t>ObsPy</a:t>
            </a:r>
            <a:r>
              <a:rPr lang="en-US" sz="1700" b="1" dirty="0">
                <a:solidFill>
                  <a:srgbClr val="002060"/>
                </a:solidFill>
                <a:latin typeface="Plus Jakarta Sans"/>
                <a:ea typeface="Plus Jakarta Sans"/>
                <a:cs typeface="Plus Jakarta Sans"/>
                <a:sym typeface="Plus Jakarta Sans"/>
              </a:rPr>
              <a:t>, </a:t>
            </a:r>
            <a:r>
              <a:rPr lang="en-US" sz="1700" b="1" i="0" u="none" strike="noStrike" cap="none" dirty="0">
                <a:solidFill>
                  <a:srgbClr val="002060"/>
                </a:solidFill>
                <a:latin typeface="Plus Jakarta Sans"/>
                <a:ea typeface="Plus Jakarta Sans"/>
                <a:cs typeface="Plus Jakarta Sans"/>
                <a:sym typeface="Plus Jakarta Sans"/>
              </a:rPr>
              <a:t>GMT, </a:t>
            </a:r>
            <a:r>
              <a:rPr lang="en-US" sz="1700" b="1" i="0" u="none" strike="noStrike" cap="none" dirty="0" err="1">
                <a:solidFill>
                  <a:srgbClr val="002060"/>
                </a:solidFill>
                <a:latin typeface="Plus Jakarta Sans"/>
                <a:ea typeface="Plus Jakarta Sans"/>
                <a:cs typeface="Plus Jakarta Sans"/>
                <a:sym typeface="Plus Jakarta Sans"/>
              </a:rPr>
              <a:t>ParaView</a:t>
            </a:r>
            <a:endParaRPr dirty="0">
              <a:solidFill>
                <a:srgbClr val="002060"/>
              </a:solidFill>
            </a:endParaRPr>
          </a:p>
        </p:txBody>
      </p:sp>
      <p:sp>
        <p:nvSpPr>
          <p:cNvPr id="134" name="Google Shape;134;p15"/>
          <p:cNvSpPr txBox="1"/>
          <p:nvPr/>
        </p:nvSpPr>
        <p:spPr>
          <a:xfrm>
            <a:off x="880491" y="2954339"/>
            <a:ext cx="4571296" cy="1942070"/>
          </a:xfrm>
          <a:prstGeom prst="rect">
            <a:avLst/>
          </a:prstGeom>
          <a:noFill/>
          <a:ln>
            <a:noFill/>
          </a:ln>
        </p:spPr>
        <p:txBody>
          <a:bodyPr spcFirstLastPara="1" wrap="square" lIns="0" tIns="0" rIns="0" bIns="0" anchor="t" anchorCtr="0">
            <a:spAutoFit/>
          </a:bodyPr>
          <a:lstStyle/>
          <a:p>
            <a:pPr lvl="0">
              <a:spcAft>
                <a:spcPts val="1200"/>
              </a:spcAft>
              <a:defRPr sz="1300" b="0">
                <a:solidFill>
                  <a:srgbClr val="1C1819"/>
                </a:solidFill>
              </a:defRPr>
            </a:pPr>
            <a:r>
              <a:rPr lang="it-IT" sz="1300" b="1" dirty="0">
                <a:solidFill>
                  <a:srgbClr val="002060"/>
                </a:solidFill>
                <a:latin typeface="Plus Jakarta Sans" panose="020B0604020202020204" charset="0"/>
                <a:cs typeface="Plus Jakarta Sans" panose="020B0604020202020204" charset="0"/>
              </a:rPr>
              <a:t>2D </a:t>
            </a:r>
            <a:r>
              <a:rPr lang="it-IT" sz="1300" b="1" dirty="0" err="1">
                <a:solidFill>
                  <a:srgbClr val="002060"/>
                </a:solidFill>
                <a:latin typeface="Plus Jakarta Sans" panose="020B0604020202020204" charset="0"/>
                <a:cs typeface="Plus Jakarta Sans" panose="020B0604020202020204" charset="0"/>
              </a:rPr>
              <a:t>Projection</a:t>
            </a:r>
            <a:r>
              <a:rPr lang="it-IT" sz="1300" b="1" dirty="0">
                <a:solidFill>
                  <a:srgbClr val="002060"/>
                </a:solidFill>
                <a:latin typeface="Plus Jakarta Sans" panose="020B0604020202020204" charset="0"/>
                <a:cs typeface="Plus Jakarta Sans" panose="020B0604020202020204" charset="0"/>
              </a:rPr>
              <a:t> Bias</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Flattens</a:t>
            </a:r>
            <a:r>
              <a:rPr lang="it-IT" sz="1300" dirty="0">
                <a:solidFill>
                  <a:srgbClr val="1C1819"/>
                </a:solidFill>
                <a:latin typeface="Plus Jakarta Sans" panose="020B0604020202020204" charset="0"/>
                <a:cs typeface="Plus Jakarta Sans" panose="020B0604020202020204" charset="0"/>
              </a:rPr>
              <a:t> the </a:t>
            </a:r>
            <a:r>
              <a:rPr lang="it-IT" sz="1300" dirty="0" err="1">
                <a:solidFill>
                  <a:srgbClr val="1C1819"/>
                </a:solidFill>
                <a:latin typeface="Plus Jakarta Sans" panose="020B0604020202020204" charset="0"/>
                <a:cs typeface="Plus Jakarta Sans" panose="020B0604020202020204" charset="0"/>
              </a:rPr>
              <a:t>hypocentral</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depth</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dimension</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into</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static</a:t>
            </a:r>
            <a:r>
              <a:rPr lang="it-IT" sz="1300" dirty="0">
                <a:solidFill>
                  <a:srgbClr val="1C1819"/>
                </a:solidFill>
                <a:latin typeface="Plus Jakarta Sans" panose="020B0604020202020204" charset="0"/>
                <a:cs typeface="Plus Jakarta Sans" panose="020B0604020202020204" charset="0"/>
              </a:rPr>
              <a:t> plan-</a:t>
            </a:r>
            <a:r>
              <a:rPr lang="it-IT" sz="1300" dirty="0" err="1">
                <a:solidFill>
                  <a:srgbClr val="1C1819"/>
                </a:solidFill>
                <a:latin typeface="Plus Jakarta Sans" panose="020B0604020202020204" charset="0"/>
                <a:cs typeface="Plus Jakarta Sans" panose="020B0604020202020204" charset="0"/>
              </a:rPr>
              <a:t>views</a:t>
            </a:r>
            <a:r>
              <a:rPr lang="it-IT" sz="1300" dirty="0">
                <a:solidFill>
                  <a:srgbClr val="1C1819"/>
                </a:solidFill>
                <a:latin typeface="Plus Jakarta Sans" panose="020B0604020202020204" charset="0"/>
                <a:cs typeface="Plus Jakarta Sans" panose="020B0604020202020204" charset="0"/>
              </a:rPr>
              <a:t>.</a:t>
            </a:r>
          </a:p>
          <a:p>
            <a:pPr lvl="0">
              <a:spcAft>
                <a:spcPts val="1200"/>
              </a:spcAft>
              <a:defRPr sz="1300" b="0">
                <a:solidFill>
                  <a:srgbClr val="1C1819"/>
                </a:solidFill>
              </a:defRPr>
            </a:pPr>
            <a:r>
              <a:rPr lang="it-IT" sz="1300" b="1" dirty="0">
                <a:solidFill>
                  <a:srgbClr val="002060"/>
                </a:solidFill>
                <a:latin typeface="Plus Jakarta Sans" panose="020B0604020202020204" charset="0"/>
                <a:cs typeface="Plus Jakarta Sans" panose="020B0604020202020204" charset="0"/>
              </a:rPr>
              <a:t>3D Point Cloud </a:t>
            </a:r>
            <a:r>
              <a:rPr lang="it-IT" sz="1300" b="1" dirty="0" err="1">
                <a:solidFill>
                  <a:srgbClr val="002060"/>
                </a:solidFill>
                <a:latin typeface="Plus Jakarta Sans" panose="020B0604020202020204" charset="0"/>
                <a:cs typeface="Plus Jakarta Sans" panose="020B0604020202020204" charset="0"/>
              </a:rPr>
              <a:t>Latency</a:t>
            </a:r>
            <a:r>
              <a:rPr lang="it-IT" sz="1300" dirty="0">
                <a:solidFill>
                  <a:srgbClr val="1C1819"/>
                </a:solidFill>
                <a:latin typeface="Plus Jakarta Sans" panose="020B0604020202020204" charset="0"/>
                <a:cs typeface="Plus Jakarta Sans" panose="020B0604020202020204" charset="0"/>
              </a:rPr>
              <a:t>: Frame drops </a:t>
            </a:r>
            <a:r>
              <a:rPr lang="it-IT" sz="1300" dirty="0" err="1">
                <a:solidFill>
                  <a:srgbClr val="1C1819"/>
                </a:solidFill>
                <a:latin typeface="Plus Jakarta Sans" panose="020B0604020202020204" charset="0"/>
                <a:cs typeface="Plus Jakarta Sans" panose="020B0604020202020204" charset="0"/>
              </a:rPr>
              <a:t>when</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navigating</a:t>
            </a:r>
            <a:r>
              <a:rPr lang="it-IT" sz="1300" dirty="0">
                <a:solidFill>
                  <a:srgbClr val="1C1819"/>
                </a:solidFill>
                <a:latin typeface="Plus Jakarta Sans" panose="020B0604020202020204" charset="0"/>
                <a:cs typeface="Plus Jakarta Sans" panose="020B0604020202020204" charset="0"/>
              </a:rPr>
              <a:t> &gt;10.000 </a:t>
            </a:r>
            <a:r>
              <a:rPr lang="it-IT" sz="1300" dirty="0" err="1">
                <a:solidFill>
                  <a:srgbClr val="1C1819"/>
                </a:solidFill>
                <a:latin typeface="Plus Jakarta Sans" panose="020B0604020202020204" charset="0"/>
                <a:cs typeface="Plus Jakarta Sans" panose="020B0604020202020204" charset="0"/>
              </a:rPr>
              <a:t>hypocentres</a:t>
            </a:r>
            <a:r>
              <a:rPr lang="it-IT" sz="1300" dirty="0">
                <a:solidFill>
                  <a:srgbClr val="1C1819"/>
                </a:solidFill>
                <a:latin typeface="Plus Jakarta Sans" panose="020B0604020202020204" charset="0"/>
                <a:cs typeface="Plus Jakarta Sans" panose="020B0604020202020204" charset="0"/>
              </a:rPr>
              <a:t> via plugins.</a:t>
            </a:r>
          </a:p>
          <a:p>
            <a:pPr lvl="0">
              <a:spcAft>
                <a:spcPts val="1200"/>
              </a:spcAft>
              <a:defRPr sz="1300" b="0">
                <a:solidFill>
                  <a:srgbClr val="1C1819"/>
                </a:solidFill>
              </a:defRPr>
            </a:pPr>
            <a:r>
              <a:rPr lang="it-IT" sz="1300" b="1" dirty="0">
                <a:solidFill>
                  <a:srgbClr val="002060"/>
                </a:solidFill>
                <a:latin typeface="Plus Jakarta Sans" panose="020B0604020202020204" charset="0"/>
                <a:cs typeface="Plus Jakarta Sans" panose="020B0604020202020204" charset="0"/>
              </a:rPr>
              <a:t>No Dynamic 4D Tracking</a:t>
            </a:r>
            <a:r>
              <a:rPr lang="it-IT" sz="1300" dirty="0">
                <a:solidFill>
                  <a:srgbClr val="1C1819"/>
                </a:solidFill>
                <a:latin typeface="Plus Jakarta Sans" panose="020B0604020202020204" charset="0"/>
                <a:cs typeface="Plus Jakarta Sans" panose="020B0604020202020204" charset="0"/>
              </a:rPr>
              <a:t>: Lacks native </a:t>
            </a:r>
            <a:r>
              <a:rPr lang="it-IT" sz="1300" dirty="0" err="1">
                <a:solidFill>
                  <a:srgbClr val="1C1819"/>
                </a:solidFill>
                <a:latin typeface="Plus Jakarta Sans" panose="020B0604020202020204" charset="0"/>
                <a:cs typeface="Plus Jakarta Sans" panose="020B0604020202020204" charset="0"/>
              </a:rPr>
              <a:t>temporal</a:t>
            </a:r>
            <a:r>
              <a:rPr lang="it-IT" sz="1300" dirty="0">
                <a:solidFill>
                  <a:srgbClr val="1C1819"/>
                </a:solidFill>
                <a:latin typeface="Plus Jakarta Sans" panose="020B0604020202020204" charset="0"/>
                <a:cs typeface="Plus Jakarta Sans" panose="020B0604020202020204" charset="0"/>
              </a:rPr>
              <a:t> playback and </a:t>
            </a:r>
            <a:r>
              <a:rPr lang="it-IT" sz="1300" dirty="0" err="1">
                <a:solidFill>
                  <a:srgbClr val="1C1819"/>
                </a:solidFill>
                <a:latin typeface="Plus Jakarta Sans" panose="020B0604020202020204" charset="0"/>
                <a:cs typeface="Plus Jakarta Sans" panose="020B0604020202020204" charset="0"/>
              </a:rPr>
              <a:t>automated</a:t>
            </a:r>
            <a:r>
              <a:rPr lang="it-IT" sz="1300" dirty="0">
                <a:solidFill>
                  <a:srgbClr val="1C1819"/>
                </a:solidFill>
                <a:latin typeface="Plus Jakarta Sans" panose="020B0604020202020204" charset="0"/>
                <a:cs typeface="Plus Jakarta Sans" panose="020B0604020202020204" charset="0"/>
              </a:rPr>
              <a:t> fault </a:t>
            </a:r>
            <a:r>
              <a:rPr lang="it-IT" sz="1300" dirty="0" err="1">
                <a:solidFill>
                  <a:srgbClr val="1C1819"/>
                </a:solidFill>
                <a:latin typeface="Plus Jakarta Sans" panose="020B0604020202020204" charset="0"/>
                <a:cs typeface="Plus Jakarta Sans" panose="020B0604020202020204" charset="0"/>
              </a:rPr>
              <a:t>plane</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extraction</a:t>
            </a:r>
            <a:r>
              <a:rPr lang="it-IT" sz="1300" dirty="0">
                <a:solidFill>
                  <a:srgbClr val="1C1819"/>
                </a:solidFill>
                <a:latin typeface="Plus Jakarta Sans" panose="020B0604020202020204" charset="0"/>
                <a:cs typeface="Plus Jakarta Sans" panose="020B0604020202020204" charset="0"/>
              </a:rPr>
              <a:t>.</a:t>
            </a:r>
            <a:endParaRPr lang="en-US" dirty="0">
              <a:latin typeface="Plus Jakarta Sans" panose="020B0604020202020204" charset="0"/>
              <a:cs typeface="Plus Jakarta Sans" panose="020B0604020202020204" charset="0"/>
            </a:endParaRPr>
          </a:p>
          <a:p>
            <a:pPr marL="0" marR="0" lvl="0" indent="0" algn="l" rtl="0">
              <a:lnSpc>
                <a:spcPct val="140000"/>
              </a:lnSpc>
              <a:spcBef>
                <a:spcPts val="0"/>
              </a:spcBef>
              <a:spcAft>
                <a:spcPts val="0"/>
              </a:spcAft>
              <a:buNone/>
              <a:defRPr sz="1300" b="0">
                <a:solidFill>
                  <a:srgbClr val="1C1819"/>
                </a:solidFill>
              </a:defRPr>
            </a:pPr>
            <a:endParaRPr dirty="0"/>
          </a:p>
        </p:txBody>
      </p:sp>
      <p:sp>
        <p:nvSpPr>
          <p:cNvPr id="137" name="Google Shape;137;p15"/>
          <p:cNvSpPr txBox="1"/>
          <p:nvPr/>
        </p:nvSpPr>
        <p:spPr>
          <a:xfrm>
            <a:off x="6635902" y="2947898"/>
            <a:ext cx="4535632" cy="2062103"/>
          </a:xfrm>
          <a:prstGeom prst="rect">
            <a:avLst/>
          </a:prstGeom>
          <a:noFill/>
          <a:ln>
            <a:noFill/>
          </a:ln>
        </p:spPr>
        <p:txBody>
          <a:bodyPr spcFirstLastPara="1" wrap="square" lIns="0" tIns="0" rIns="0" bIns="0" anchor="t" anchorCtr="0">
            <a:spAutoFit/>
          </a:bodyPr>
          <a:lstStyle/>
          <a:p>
            <a:pPr lvl="0">
              <a:spcAft>
                <a:spcPts val="1200"/>
              </a:spcAft>
              <a:defRPr sz="1300" b="0">
                <a:solidFill>
                  <a:srgbClr val="1C1819"/>
                </a:solidFill>
              </a:defRPr>
            </a:pPr>
            <a:r>
              <a:rPr lang="it-IT" sz="1300" b="1" dirty="0" err="1">
                <a:solidFill>
                  <a:srgbClr val="002060"/>
                </a:solidFill>
                <a:latin typeface="Plus Jakarta Sans" panose="020B0604020202020204" charset="0"/>
                <a:cs typeface="Plus Jakarta Sans" panose="020B0604020202020204" charset="0"/>
              </a:rPr>
              <a:t>Static</a:t>
            </a:r>
            <a:r>
              <a:rPr lang="it-IT" sz="1300" b="1" dirty="0">
                <a:solidFill>
                  <a:srgbClr val="002060"/>
                </a:solidFill>
                <a:latin typeface="Plus Jakarta Sans" panose="020B0604020202020204" charset="0"/>
                <a:cs typeface="Plus Jakarta Sans" panose="020B0604020202020204" charset="0"/>
              </a:rPr>
              <a:t> Batch Output</a:t>
            </a:r>
            <a:r>
              <a:rPr lang="it-IT" sz="1300" dirty="0">
                <a:solidFill>
                  <a:srgbClr val="1C1819"/>
                </a:solidFill>
                <a:latin typeface="Plus Jakarta Sans" panose="020B0604020202020204" charset="0"/>
                <a:cs typeface="Plus Jakarta Sans" panose="020B0604020202020204" charset="0"/>
              </a:rPr>
              <a:t>: GMT and </a:t>
            </a:r>
            <a:r>
              <a:rPr lang="it-IT" sz="1300" dirty="0" err="1">
                <a:solidFill>
                  <a:srgbClr val="1C1819"/>
                </a:solidFill>
                <a:latin typeface="Plus Jakarta Sans" panose="020B0604020202020204" charset="0"/>
                <a:cs typeface="Plus Jakarta Sans" panose="020B0604020202020204" charset="0"/>
              </a:rPr>
              <a:t>ObsPy</a:t>
            </a:r>
            <a:r>
              <a:rPr lang="it-IT" sz="1300" dirty="0">
                <a:solidFill>
                  <a:srgbClr val="1C1819"/>
                </a:solidFill>
                <a:latin typeface="Plus Jakarta Sans" panose="020B0604020202020204" charset="0"/>
                <a:cs typeface="Plus Jakarta Sans" panose="020B0604020202020204" charset="0"/>
              </a:rPr>
              <a:t> produce </a:t>
            </a:r>
            <a:r>
              <a:rPr lang="it-IT" sz="1300" dirty="0" err="1">
                <a:solidFill>
                  <a:srgbClr val="1C1819"/>
                </a:solidFill>
                <a:latin typeface="Plus Jakarta Sans" panose="020B0604020202020204" charset="0"/>
                <a:cs typeface="Plus Jakarta Sans" panose="020B0604020202020204" charset="0"/>
              </a:rPr>
              <a:t>fixed</a:t>
            </a:r>
            <a:r>
              <a:rPr lang="it-IT" sz="1300" dirty="0">
                <a:solidFill>
                  <a:srgbClr val="1C1819"/>
                </a:solidFill>
                <a:latin typeface="Plus Jakarta Sans" panose="020B0604020202020204" charset="0"/>
                <a:cs typeface="Plus Jakarta Sans" panose="020B0604020202020204" charset="0"/>
              </a:rPr>
              <a:t> image files (PNG/PDF) with no real-time interaction.</a:t>
            </a:r>
          </a:p>
          <a:p>
            <a:pPr lvl="0">
              <a:spcAft>
                <a:spcPts val="1200"/>
              </a:spcAft>
              <a:defRPr sz="1300" b="0">
                <a:solidFill>
                  <a:srgbClr val="1C1819"/>
                </a:solidFill>
              </a:defRPr>
            </a:pPr>
            <a:r>
              <a:rPr lang="it-IT" sz="1300" b="1" dirty="0">
                <a:solidFill>
                  <a:srgbClr val="002060"/>
                </a:solidFill>
                <a:latin typeface="Plus Jakarta Sans" panose="020B0604020202020204" charset="0"/>
                <a:cs typeface="Plus Jakarta Sans" panose="020B0604020202020204" charset="0"/>
              </a:rPr>
              <a:t>High Workflow </a:t>
            </a:r>
            <a:r>
              <a:rPr lang="it-IT" sz="1300" b="1" dirty="0" err="1">
                <a:solidFill>
                  <a:srgbClr val="002060"/>
                </a:solidFill>
                <a:latin typeface="Plus Jakarta Sans" panose="020B0604020202020204" charset="0"/>
                <a:cs typeface="Plus Jakarta Sans" panose="020B0604020202020204" charset="0"/>
              </a:rPr>
              <a:t>Friction</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Requires</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continuous</a:t>
            </a:r>
            <a:r>
              <a:rPr lang="it-IT" sz="1300" dirty="0">
                <a:solidFill>
                  <a:srgbClr val="1C1819"/>
                </a:solidFill>
                <a:latin typeface="Plus Jakarta Sans" panose="020B0604020202020204" charset="0"/>
                <a:cs typeface="Plus Jakarta Sans" panose="020B0604020202020204" charset="0"/>
              </a:rPr>
              <a:t> Python/</a:t>
            </a:r>
            <a:r>
              <a:rPr lang="it-IT" sz="1300" dirty="0" err="1">
                <a:solidFill>
                  <a:srgbClr val="1C1819"/>
                </a:solidFill>
                <a:latin typeface="Plus Jakarta Sans" panose="020B0604020202020204" charset="0"/>
                <a:cs typeface="Plus Jakarta Sans" panose="020B0604020202020204" charset="0"/>
              </a:rPr>
              <a:t>bash</a:t>
            </a:r>
            <a:r>
              <a:rPr lang="it-IT" sz="1300" dirty="0">
                <a:solidFill>
                  <a:srgbClr val="1C1819"/>
                </a:solidFill>
                <a:latin typeface="Plus Jakarta Sans" panose="020B0604020202020204" charset="0"/>
                <a:cs typeface="Plus Jakarta Sans" panose="020B0604020202020204" charset="0"/>
              </a:rPr>
              <a:t> scripting</a:t>
            </a:r>
          </a:p>
          <a:p>
            <a:pPr lvl="0">
              <a:spcAft>
                <a:spcPts val="1200"/>
              </a:spcAft>
              <a:defRPr sz="1300" b="0">
                <a:solidFill>
                  <a:srgbClr val="1C1819"/>
                </a:solidFill>
              </a:defRPr>
            </a:pPr>
            <a:r>
              <a:rPr lang="it-IT" sz="1300" b="1" dirty="0">
                <a:solidFill>
                  <a:srgbClr val="002060"/>
                </a:solidFill>
                <a:latin typeface="Plus Jakarta Sans" panose="020B0604020202020204" charset="0"/>
                <a:cs typeface="Plus Jakarta Sans" panose="020B0604020202020204" charset="0"/>
              </a:rPr>
              <a:t>Domain Gap (</a:t>
            </a:r>
            <a:r>
              <a:rPr lang="it-IT" sz="1300" b="1" dirty="0" err="1">
                <a:solidFill>
                  <a:srgbClr val="002060"/>
                </a:solidFill>
                <a:latin typeface="Plus Jakarta Sans" panose="020B0604020202020204" charset="0"/>
                <a:cs typeface="Plus Jakarta Sans" panose="020B0604020202020204" charset="0"/>
              </a:rPr>
              <a:t>ParaView</a:t>
            </a:r>
            <a:r>
              <a:rPr lang="it-IT" sz="1300" b="1" dirty="0">
                <a:solidFill>
                  <a:srgbClr val="002060"/>
                </a:solidFill>
                <a:latin typeface="Plus Jakarta Sans" panose="020B0604020202020204" charset="0"/>
                <a:cs typeface="Plus Jakarta Sans" panose="020B0604020202020204" charset="0"/>
              </a:rPr>
              <a:t>):</a:t>
            </a:r>
            <a:r>
              <a:rPr lang="it-IT" sz="1300" dirty="0">
                <a:solidFill>
                  <a:srgbClr val="1C1819"/>
                </a:solidFill>
              </a:rPr>
              <a:t> </a:t>
            </a:r>
            <a:r>
              <a:rPr lang="it-IT" sz="1300" dirty="0" err="1">
                <a:solidFill>
                  <a:srgbClr val="1C1819"/>
                </a:solidFill>
                <a:latin typeface="Plus Jakarta Sans" panose="020B0604020202020204" charset="0"/>
                <a:cs typeface="Plus Jakarta Sans" panose="020B0604020202020204" charset="0"/>
              </a:rPr>
              <a:t>Require</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complex</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manual</a:t>
            </a:r>
            <a:r>
              <a:rPr lang="it-IT" sz="1300" dirty="0">
                <a:solidFill>
                  <a:srgbClr val="1C1819"/>
                </a:solidFill>
                <a:latin typeface="Plus Jakarta Sans" panose="020B0604020202020204" charset="0"/>
                <a:cs typeface="Plus Jakarta Sans" panose="020B0604020202020204" charset="0"/>
              </a:rPr>
              <a:t> pipelines and </a:t>
            </a:r>
            <a:r>
              <a:rPr lang="it-IT" sz="1300" dirty="0" err="1">
                <a:solidFill>
                  <a:srgbClr val="1C1819"/>
                </a:solidFill>
                <a:latin typeface="Plus Jakarta Sans" panose="020B0604020202020204" charset="0"/>
                <a:cs typeface="Plus Jakarta Sans" panose="020B0604020202020204" charset="0"/>
              </a:rPr>
              <a:t>lack</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direct</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seismological</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integrations</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such</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as</a:t>
            </a:r>
            <a:r>
              <a:rPr lang="it-IT" sz="1300" dirty="0">
                <a:solidFill>
                  <a:srgbClr val="1C1819"/>
                </a:solidFill>
                <a:latin typeface="Plus Jakarta Sans" panose="020B0604020202020204" charset="0"/>
                <a:cs typeface="Plus Jakarta Sans" panose="020B0604020202020204" charset="0"/>
              </a:rPr>
              <a:t> live </a:t>
            </a:r>
            <a:r>
              <a:rPr lang="it-IT" sz="1300" dirty="0" err="1">
                <a:solidFill>
                  <a:srgbClr val="1C1819"/>
                </a:solidFill>
                <a:latin typeface="Plus Jakarta Sans" panose="020B0604020202020204" charset="0"/>
                <a:cs typeface="Plus Jakarta Sans" panose="020B0604020202020204" charset="0"/>
              </a:rPr>
              <a:t>catalogue</a:t>
            </a:r>
            <a:r>
              <a:rPr lang="it-IT" sz="1300" dirty="0">
                <a:solidFill>
                  <a:srgbClr val="1C1819"/>
                </a:solidFill>
                <a:latin typeface="Plus Jakarta Sans" panose="020B0604020202020204" charset="0"/>
                <a:cs typeface="Plus Jakarta Sans" panose="020B0604020202020204" charset="0"/>
              </a:rPr>
              <a:t> streaming or </a:t>
            </a:r>
            <a:r>
              <a:rPr lang="it-IT" sz="1300" dirty="0" err="1">
                <a:solidFill>
                  <a:srgbClr val="1C1819"/>
                </a:solidFill>
                <a:latin typeface="Plus Jakarta Sans" panose="020B0604020202020204" charset="0"/>
                <a:cs typeface="Plus Jakarta Sans" panose="020B0604020202020204" charset="0"/>
              </a:rPr>
              <a:t>automated</a:t>
            </a:r>
            <a:r>
              <a:rPr lang="it-IT" sz="1300" dirty="0">
                <a:solidFill>
                  <a:srgbClr val="1C1819"/>
                </a:solidFill>
                <a:latin typeface="Plus Jakarta Sans" panose="020B0604020202020204" charset="0"/>
                <a:cs typeface="Plus Jakarta Sans" panose="020B0604020202020204" charset="0"/>
              </a:rPr>
              <a:t> fault </a:t>
            </a:r>
            <a:r>
              <a:rPr lang="it-IT" sz="1300" dirty="0" err="1">
                <a:solidFill>
                  <a:srgbClr val="1C1819"/>
                </a:solidFill>
                <a:latin typeface="Plus Jakarta Sans" panose="020B0604020202020204" charset="0"/>
                <a:cs typeface="Plus Jakarta Sans" panose="020B0604020202020204" charset="0"/>
              </a:rPr>
              <a:t>plane</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analysis</a:t>
            </a:r>
            <a:r>
              <a:rPr lang="it-IT" sz="1300" dirty="0">
                <a:solidFill>
                  <a:srgbClr val="1C1819"/>
                </a:solidFill>
                <a:latin typeface="Plus Jakarta Sans" panose="020B0604020202020204" charset="0"/>
                <a:cs typeface="Plus Jakarta Sans" panose="020B0604020202020204" charset="0"/>
              </a:rPr>
              <a:t>.</a:t>
            </a:r>
            <a:endParaRPr dirty="0">
              <a:latin typeface="Plus Jakarta Sans" panose="020B0604020202020204" charset="0"/>
              <a:cs typeface="Plus Jakarta Sans" panose="020B0604020202020204" charset="0"/>
            </a:endParaRPr>
          </a:p>
        </p:txBody>
      </p:sp>
      <p:pic>
        <p:nvPicPr>
          <p:cNvPr id="143" name="Picture 142"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14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E4171BAD-34E7-2D2A-6AF2-29D505919014}"/>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46"/>
        <p:cNvGrpSpPr/>
        <p:nvPr/>
      </p:nvGrpSpPr>
      <p:grpSpPr>
        <a:xfrm>
          <a:off x="0" y="0"/>
          <a:ext cx="0" cy="0"/>
          <a:chOff x="0" y="0"/>
          <a:chExt cx="0" cy="0"/>
        </a:xfrm>
      </p:grpSpPr>
      <p:pic>
        <p:nvPicPr>
          <p:cNvPr id="169" name="Picture 168" descr="sapienza_logo.png"/>
          <p:cNvPicPr>
            <a:picLocks noChangeAspect="1"/>
          </p:cNvPicPr>
          <p:nvPr/>
        </p:nvPicPr>
        <p:blipFill>
          <a:blip r:embed="rId3"/>
          <a:stretch>
            <a:fillRect/>
          </a:stretch>
        </p:blipFill>
        <p:spPr>
          <a:xfrm>
            <a:off x="9750000" y="380000"/>
            <a:ext cx="1900000" cy="570000"/>
          </a:xfrm>
          <a:prstGeom prst="rect">
            <a:avLst/>
          </a:prstGeom>
        </p:spPr>
      </p:pic>
      <p:sp>
        <p:nvSpPr>
          <p:cNvPr id="170" name="Rectangle 169"/>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TextBox 170"/>
          <p:cNvSpPr txBox="1"/>
          <p:nvPr/>
        </p:nvSpPr>
        <p:spPr>
          <a:xfrm>
            <a:off x="609600" y="560000"/>
            <a:ext cx="9000000" cy="180000"/>
          </a:xfrm>
          <a:prstGeom prst="rect">
            <a:avLst/>
          </a:prstGeom>
          <a:noFill/>
        </p:spPr>
        <p:txBody>
          <a:bodyPr wrap="square" lIns="0" tIns="0" rIns="0" bIns="0">
            <a:spAutoFit/>
          </a:bodyPr>
          <a:lstStyle/>
          <a:p>
            <a:pPr>
              <a:defRPr sz="1100" b="1">
                <a:solidFill>
                  <a:srgbClr val="204060"/>
                </a:solidFill>
                <a:latin typeface="Arial"/>
              </a:defRPr>
            </a:pPr>
            <a:r>
              <a:t>SYSTEM DESIGN &amp; SPECIFICATIONS</a:t>
            </a:r>
          </a:p>
        </p:txBody>
      </p:sp>
      <p:sp>
        <p:nvSpPr>
          <p:cNvPr id="172" name="TextBox 171"/>
          <p:cNvSpPr txBox="1"/>
          <p:nvPr/>
        </p:nvSpPr>
        <p:spPr>
          <a:xfrm>
            <a:off x="609600" y="800000"/>
            <a:ext cx="8606523" cy="384721"/>
          </a:xfrm>
          <a:prstGeom prst="rect">
            <a:avLst/>
          </a:prstGeom>
          <a:noFill/>
        </p:spPr>
        <p:txBody>
          <a:bodyPr wrap="none" lIns="0" tIns="0" rIns="0" bIns="0">
            <a:spAutoFit/>
          </a:bodyPr>
          <a:lstStyle/>
          <a:p>
            <a:pPr>
              <a:defRPr sz="2500" b="1">
                <a:solidFill>
                  <a:srgbClr val="822433"/>
                </a:solidFill>
                <a:latin typeface="Arial"/>
              </a:defRPr>
            </a:pPr>
            <a:r>
              <a:rPr dirty="0">
                <a:latin typeface="Cinzel" panose="020B0604020202020204" charset="0"/>
              </a:rPr>
              <a:t>System Requirements &amp; Implementation Timeline</a:t>
            </a:r>
          </a:p>
        </p:txBody>
      </p:sp>
      <p:sp>
        <p:nvSpPr>
          <p:cNvPr id="177" name="TextBox 176"/>
          <p:cNvSpPr txBox="1"/>
          <p:nvPr/>
        </p:nvSpPr>
        <p:spPr>
          <a:xfrm>
            <a:off x="609600" y="4283494"/>
            <a:ext cx="3694176" cy="215444"/>
          </a:xfrm>
          <a:prstGeom prst="rect">
            <a:avLst/>
          </a:prstGeom>
          <a:noFill/>
        </p:spPr>
        <p:txBody>
          <a:bodyPr wrap="square" lIns="0" tIns="0" rIns="0" bIns="0">
            <a:spAutoFit/>
          </a:bodyPr>
          <a:lstStyle/>
          <a:p>
            <a:r>
              <a:rPr b="1" dirty="0">
                <a:solidFill>
                  <a:srgbClr val="822433"/>
                </a:solidFill>
                <a:latin typeface="Cinzel" panose="020B0604020202020204" charset="0"/>
                <a:cs typeface="Plus Jakarta Sans" panose="020B0604020202020204" charset="0"/>
              </a:rPr>
              <a:t>INTERNSHIP DEVELOPMENT TIMELINE</a:t>
            </a:r>
            <a:endParaRPr i="1" dirty="0">
              <a:solidFill>
                <a:srgbClr val="736967"/>
              </a:solidFill>
              <a:latin typeface="Cinzel" panose="020B0604020202020204" charset="0"/>
              <a:cs typeface="Plus Jakarta Sans" panose="020B0604020202020204" charset="0"/>
            </a:endParaRPr>
          </a:p>
        </p:txBody>
      </p:sp>
      <p:sp>
        <p:nvSpPr>
          <p:cNvPr id="178" name="Rectangle 177"/>
          <p:cNvSpPr/>
          <p:nvPr/>
        </p:nvSpPr>
        <p:spPr>
          <a:xfrm>
            <a:off x="646176" y="4661767"/>
            <a:ext cx="10866120" cy="45719"/>
          </a:xfrm>
          <a:prstGeom prst="rect">
            <a:avLst/>
          </a:prstGeom>
          <a:solidFill>
            <a:srgbClr val="D2C8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Oval 178"/>
          <p:cNvSpPr/>
          <p:nvPr/>
        </p:nvSpPr>
        <p:spPr>
          <a:xfrm>
            <a:off x="1414272" y="4572358"/>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1</a:t>
            </a:r>
          </a:p>
        </p:txBody>
      </p:sp>
      <p:sp>
        <p:nvSpPr>
          <p:cNvPr id="180" name="TextBox 179"/>
          <p:cNvSpPr txBox="1"/>
          <p:nvPr/>
        </p:nvSpPr>
        <p:spPr>
          <a:xfrm>
            <a:off x="646176" y="4846678"/>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1</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3D Prototype &amp; CSV</a:t>
            </a:r>
          </a:p>
          <a:p>
            <a:pPr>
              <a:defRPr sz="880">
                <a:solidFill>
                  <a:srgbClr val="302A2C"/>
                </a:solidFill>
                <a:latin typeface="Arial"/>
              </a:defRPr>
            </a:pPr>
            <a:r>
              <a:rPr sz="1050" dirty="0" err="1">
                <a:latin typeface="Plus Jakarta Sans" panose="020B0604020202020204" charset="0"/>
                <a:cs typeface="Plus Jakarta Sans" panose="020B0604020202020204" charset="0"/>
              </a:rPr>
              <a:t>Hypocentre</a:t>
            </a:r>
            <a:r>
              <a:rPr sz="1050" dirty="0">
                <a:latin typeface="Plus Jakarta Sans" panose="020B0604020202020204" charset="0"/>
                <a:cs typeface="Plus Jakarta Sans" panose="020B0604020202020204" charset="0"/>
              </a:rPr>
              <a:t> 3D cloud &amp; local CSV parser.</a:t>
            </a:r>
          </a:p>
        </p:txBody>
      </p:sp>
      <p:sp>
        <p:nvSpPr>
          <p:cNvPr id="181" name="Oval 180"/>
          <p:cNvSpPr/>
          <p:nvPr/>
        </p:nvSpPr>
        <p:spPr>
          <a:xfrm>
            <a:off x="3243072" y="4572358"/>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2</a:t>
            </a:r>
          </a:p>
        </p:txBody>
      </p:sp>
      <p:sp>
        <p:nvSpPr>
          <p:cNvPr id="182" name="TextBox 181"/>
          <p:cNvSpPr txBox="1"/>
          <p:nvPr/>
        </p:nvSpPr>
        <p:spPr>
          <a:xfrm>
            <a:off x="2474976" y="4846678"/>
            <a:ext cx="1685544"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2</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K-Means &amp; Bridge</a:t>
            </a:r>
          </a:p>
          <a:p>
            <a:pPr>
              <a:defRPr sz="880">
                <a:solidFill>
                  <a:srgbClr val="302A2C"/>
                </a:solidFill>
                <a:latin typeface="Arial"/>
              </a:defRPr>
            </a:pPr>
            <a:r>
              <a:rPr sz="1050" dirty="0">
                <a:latin typeface="Plus Jakarta Sans" panose="020B0604020202020204" charset="0"/>
                <a:cs typeface="Plus Jakarta Sans" panose="020B0604020202020204" charset="0"/>
              </a:rPr>
              <a:t>Spatial clustering &amp; Python-WebView bridge.</a:t>
            </a:r>
          </a:p>
        </p:txBody>
      </p:sp>
      <p:sp>
        <p:nvSpPr>
          <p:cNvPr id="183" name="Oval 182"/>
          <p:cNvSpPr/>
          <p:nvPr/>
        </p:nvSpPr>
        <p:spPr>
          <a:xfrm>
            <a:off x="5071872" y="4572358"/>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3</a:t>
            </a:r>
          </a:p>
        </p:txBody>
      </p:sp>
      <p:sp>
        <p:nvSpPr>
          <p:cNvPr id="184" name="TextBox 183"/>
          <p:cNvSpPr txBox="1"/>
          <p:nvPr/>
        </p:nvSpPr>
        <p:spPr>
          <a:xfrm>
            <a:off x="4303776" y="4846678"/>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3</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UI &amp; GOSSIP API</a:t>
            </a:r>
          </a:p>
          <a:p>
            <a:pPr>
              <a:defRPr sz="880">
                <a:solidFill>
                  <a:srgbClr val="302A2C"/>
                </a:solidFill>
                <a:latin typeface="Arial"/>
              </a:defRPr>
            </a:pPr>
            <a:r>
              <a:rPr sz="1050" dirty="0">
                <a:latin typeface="Plus Jakarta Sans" panose="020B0604020202020204" charset="0"/>
                <a:cs typeface="Plus Jakarta Sans" panose="020B0604020202020204" charset="0"/>
              </a:rPr>
              <a:t>Analytical dashboard &amp; INGV queries.</a:t>
            </a:r>
          </a:p>
        </p:txBody>
      </p:sp>
      <p:sp>
        <p:nvSpPr>
          <p:cNvPr id="185" name="Oval 184"/>
          <p:cNvSpPr/>
          <p:nvPr/>
        </p:nvSpPr>
        <p:spPr>
          <a:xfrm>
            <a:off x="6900672" y="4572358"/>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4</a:t>
            </a:r>
          </a:p>
        </p:txBody>
      </p:sp>
      <p:sp>
        <p:nvSpPr>
          <p:cNvPr id="186" name="TextBox 185"/>
          <p:cNvSpPr txBox="1"/>
          <p:nvPr/>
        </p:nvSpPr>
        <p:spPr>
          <a:xfrm>
            <a:off x="6132576" y="4846678"/>
            <a:ext cx="175564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4</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DBSCAN &amp; Cylinders</a:t>
            </a:r>
          </a:p>
          <a:p>
            <a:pPr>
              <a:defRPr sz="880">
                <a:solidFill>
                  <a:srgbClr val="302A2C"/>
                </a:solidFill>
                <a:latin typeface="Arial"/>
              </a:defRPr>
            </a:pPr>
            <a:r>
              <a:rPr sz="1050" dirty="0">
                <a:latin typeface="Plus Jakarta Sans" panose="020B0604020202020204" charset="0"/>
                <a:cs typeface="Plus Jakarta Sans" panose="020B0604020202020204" charset="0"/>
              </a:rPr>
              <a:t>Knee tuning, 4D </a:t>
            </a:r>
            <a:r>
              <a:rPr lang="it-IT" sz="1050" dirty="0" err="1">
                <a:latin typeface="Plus Jakarta Sans" panose="020B0604020202020204" charset="0"/>
                <a:cs typeface="Plus Jakarta Sans" panose="020B0604020202020204" charset="0"/>
              </a:rPr>
              <a:t>cylinder</a:t>
            </a:r>
            <a:r>
              <a:rPr lang="it-IT" sz="1050" dirty="0">
                <a:latin typeface="Plus Jakarta Sans" panose="020B0604020202020204" charset="0"/>
                <a:cs typeface="Plus Jakarta Sans" panose="020B0604020202020204" charset="0"/>
              </a:rPr>
              <a:t> </a:t>
            </a:r>
            <a:r>
              <a:rPr sz="1050" dirty="0">
                <a:latin typeface="Plus Jakarta Sans" panose="020B0604020202020204" charset="0"/>
                <a:cs typeface="Plus Jakarta Sans" panose="020B0604020202020204" charset="0"/>
              </a:rPr>
              <a:t>slicing &amp; cluster locking.</a:t>
            </a:r>
          </a:p>
        </p:txBody>
      </p:sp>
      <p:sp>
        <p:nvSpPr>
          <p:cNvPr id="187" name="Oval 186"/>
          <p:cNvSpPr/>
          <p:nvPr/>
        </p:nvSpPr>
        <p:spPr>
          <a:xfrm>
            <a:off x="8729472" y="4572358"/>
            <a:ext cx="219456" cy="219456"/>
          </a:xfrm>
          <a:prstGeom prst="ellipse">
            <a:avLst/>
          </a:prstGeom>
          <a:solidFill>
            <a:srgbClr val="82243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t>5</a:t>
            </a:r>
          </a:p>
        </p:txBody>
      </p:sp>
      <p:sp>
        <p:nvSpPr>
          <p:cNvPr id="188" name="TextBox 187"/>
          <p:cNvSpPr txBox="1"/>
          <p:nvPr/>
        </p:nvSpPr>
        <p:spPr>
          <a:xfrm>
            <a:off x="7961376" y="4846678"/>
            <a:ext cx="1447800" cy="872034"/>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5</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Geophysical Layers</a:t>
            </a:r>
          </a:p>
          <a:p>
            <a:pPr>
              <a:defRPr sz="880">
                <a:solidFill>
                  <a:srgbClr val="302A2C"/>
                </a:solidFill>
                <a:latin typeface="Arial"/>
              </a:defRPr>
            </a:pPr>
            <a:r>
              <a:rPr sz="1050" dirty="0" err="1">
                <a:latin typeface="Plus Jakarta Sans" panose="020B0604020202020204" charset="0"/>
                <a:cs typeface="Plus Jakarta Sans" panose="020B0604020202020204" charset="0"/>
              </a:rPr>
              <a:t>Vp</a:t>
            </a:r>
            <a:r>
              <a:rPr sz="1050" dirty="0">
                <a:latin typeface="Plus Jakarta Sans" panose="020B0604020202020204" charset="0"/>
                <a:cs typeface="Plus Jakarta Sans" panose="020B0604020202020204" charset="0"/>
              </a:rPr>
              <a:t>/Vs tomography, GNSS surface &amp; stations.</a:t>
            </a:r>
          </a:p>
        </p:txBody>
      </p:sp>
      <p:sp>
        <p:nvSpPr>
          <p:cNvPr id="189" name="Oval 188"/>
          <p:cNvSpPr/>
          <p:nvPr/>
        </p:nvSpPr>
        <p:spPr>
          <a:xfrm>
            <a:off x="10558272" y="4572358"/>
            <a:ext cx="219456" cy="219456"/>
          </a:xfrm>
          <a:prstGeom prst="ellipse">
            <a:avLst/>
          </a:prstGeom>
          <a:solidFill>
            <a:srgbClr val="641423"/>
          </a:solidFill>
          <a:ln w="25400">
            <a:solidFill>
              <a:srgbClr val="FAF8F2"/>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Arial"/>
              </a:defRPr>
            </a:pPr>
            <a:r>
              <a:rPr dirty="0"/>
              <a:t>6</a:t>
            </a:r>
          </a:p>
        </p:txBody>
      </p:sp>
      <p:sp>
        <p:nvSpPr>
          <p:cNvPr id="190" name="TextBox 189"/>
          <p:cNvSpPr txBox="1"/>
          <p:nvPr/>
        </p:nvSpPr>
        <p:spPr>
          <a:xfrm>
            <a:off x="9790176" y="4846678"/>
            <a:ext cx="1618488" cy="710451"/>
          </a:xfrm>
          <a:prstGeom prst="rect">
            <a:avLst/>
          </a:prstGeom>
          <a:noFill/>
        </p:spPr>
        <p:txBody>
          <a:bodyPr wrap="square" lIns="0" tIns="0" rIns="0" bIns="0">
            <a:spAutoFit/>
          </a:bodyPr>
          <a:lstStyle/>
          <a:p>
            <a:pPr>
              <a:spcAft>
                <a:spcPts val="200"/>
              </a:spcAft>
              <a:defRPr sz="850" b="1">
                <a:solidFill>
                  <a:srgbClr val="822433"/>
                </a:solidFill>
                <a:latin typeface="Arial"/>
              </a:defRPr>
            </a:pPr>
            <a:r>
              <a:rPr sz="1050" dirty="0">
                <a:latin typeface="Plus Jakarta Sans" panose="020B0604020202020204" charset="0"/>
                <a:cs typeface="Plus Jakarta Sans" panose="020B0604020202020204" charset="0"/>
              </a:rPr>
              <a:t>PHASE 6</a:t>
            </a:r>
          </a:p>
          <a:p>
            <a:pPr>
              <a:spcAft>
                <a:spcPts val="300"/>
              </a:spcAft>
              <a:defRPr sz="1000" b="1">
                <a:solidFill>
                  <a:srgbClr val="1C1819"/>
                </a:solidFill>
                <a:latin typeface="Arial"/>
              </a:defRPr>
            </a:pPr>
            <a:r>
              <a:rPr sz="1050" dirty="0">
                <a:latin typeface="Plus Jakarta Sans" panose="020B0604020202020204" charset="0"/>
                <a:cs typeface="Plus Jakarta Sans" panose="020B0604020202020204" charset="0"/>
              </a:rPr>
              <a:t>Streaming &amp; Async</a:t>
            </a:r>
          </a:p>
          <a:p>
            <a:pPr>
              <a:defRPr sz="880">
                <a:solidFill>
                  <a:srgbClr val="302A2C"/>
                </a:solidFill>
                <a:latin typeface="Arial"/>
              </a:defRPr>
            </a:pPr>
            <a:r>
              <a:rPr sz="1050" dirty="0">
                <a:latin typeface="Plus Jakarta Sans" panose="020B0604020202020204" charset="0"/>
                <a:cs typeface="Plus Jakarta Sans" panose="020B0604020202020204" charset="0"/>
              </a:rPr>
              <a:t>Float32 binary streaming &amp; worker pool.</a:t>
            </a:r>
          </a:p>
        </p:txBody>
      </p:sp>
      <p:sp>
        <p:nvSpPr>
          <p:cNvPr id="3" name="SapienzaTopStripe">
            <a:extLst>
              <a:ext uri="{FF2B5EF4-FFF2-40B4-BE49-F238E27FC236}">
                <a16:creationId xmlns:a16="http://schemas.microsoft.com/office/drawing/2014/main" id="{16ED3EC5-C94A-2690-0D52-4BF79B524D42}"/>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oogle Shape;244;p21">
            <a:extLst>
              <a:ext uri="{FF2B5EF4-FFF2-40B4-BE49-F238E27FC236}">
                <a16:creationId xmlns:a16="http://schemas.microsoft.com/office/drawing/2014/main" id="{34510647-11C7-2EEC-B8A6-EF53F60BC5A7}"/>
              </a:ext>
            </a:extLst>
          </p:cNvPr>
          <p:cNvSpPr/>
          <p:nvPr/>
        </p:nvSpPr>
        <p:spPr>
          <a:xfrm>
            <a:off x="7662672" y="1795106"/>
            <a:ext cx="3849624" cy="1922082"/>
          </a:xfrm>
          <a:prstGeom prst="roundRect">
            <a:avLst>
              <a:gd name="adj" fmla="val 9007"/>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 name="Google Shape;245;p21">
            <a:extLst>
              <a:ext uri="{FF2B5EF4-FFF2-40B4-BE49-F238E27FC236}">
                <a16:creationId xmlns:a16="http://schemas.microsoft.com/office/drawing/2014/main" id="{4AF94446-5597-6530-4382-B13B34B7BAB0}"/>
              </a:ext>
            </a:extLst>
          </p:cNvPr>
          <p:cNvSpPr/>
          <p:nvPr/>
        </p:nvSpPr>
        <p:spPr>
          <a:xfrm>
            <a:off x="646176" y="1800944"/>
            <a:ext cx="3480482" cy="1916244"/>
          </a:xfrm>
          <a:prstGeom prst="roundRect">
            <a:avLst>
              <a:gd name="adj" fmla="val 791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 name="Google Shape;246;p21">
            <a:extLst>
              <a:ext uri="{FF2B5EF4-FFF2-40B4-BE49-F238E27FC236}">
                <a16:creationId xmlns:a16="http://schemas.microsoft.com/office/drawing/2014/main" id="{F92C6D0E-1697-D0E8-6D35-2330B3448F03}"/>
              </a:ext>
            </a:extLst>
          </p:cNvPr>
          <p:cNvSpPr/>
          <p:nvPr/>
        </p:nvSpPr>
        <p:spPr>
          <a:xfrm>
            <a:off x="4221138" y="1792993"/>
            <a:ext cx="3337254" cy="1924195"/>
          </a:xfrm>
          <a:prstGeom prst="roundRect">
            <a:avLst>
              <a:gd name="adj" fmla="val 791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0" name="Google Shape;253;p21">
            <a:extLst>
              <a:ext uri="{FF2B5EF4-FFF2-40B4-BE49-F238E27FC236}">
                <a16:creationId xmlns:a16="http://schemas.microsoft.com/office/drawing/2014/main" id="{4AB12DFF-AEFA-B0E5-36BC-95AC2D81A933}"/>
              </a:ext>
            </a:extLst>
          </p:cNvPr>
          <p:cNvSpPr txBox="1"/>
          <p:nvPr/>
        </p:nvSpPr>
        <p:spPr>
          <a:xfrm>
            <a:off x="7987194" y="1945329"/>
            <a:ext cx="3160559" cy="492443"/>
          </a:xfrm>
          <a:prstGeom prst="rect">
            <a:avLst/>
          </a:prstGeom>
          <a:noFill/>
          <a:ln>
            <a:noFill/>
          </a:ln>
        </p:spPr>
        <p:txBody>
          <a:bodyPr spcFirstLastPara="1" wrap="square" lIns="0" tIns="0" rIns="0" bIns="0" anchor="t" anchorCtr="0">
            <a:spAutoFit/>
          </a:bodyPr>
          <a:lstStyle/>
          <a:p>
            <a:pPr lvl="0" algn="ctr">
              <a:defRPr sz="1650" b="1">
                <a:solidFill>
                  <a:srgbClr val="822433"/>
                </a:solidFill>
              </a:defRPr>
            </a:pPr>
            <a:r>
              <a:rPr lang="it-IT" sz="1600" b="1" dirty="0">
                <a:latin typeface="Plus Jakarta Sans" panose="020B0604020202020204" charset="0"/>
                <a:cs typeface="Plus Jakarta Sans" panose="020B0604020202020204" charset="0"/>
              </a:rPr>
              <a:t>Multi-Layer </a:t>
            </a:r>
            <a:r>
              <a:rPr lang="it-IT" sz="1600" b="1" dirty="0" err="1">
                <a:latin typeface="Plus Jakarta Sans" panose="020B0604020202020204" charset="0"/>
                <a:cs typeface="Plus Jakarta Sans" panose="020B0604020202020204" charset="0"/>
              </a:rPr>
              <a:t>Geophysical</a:t>
            </a:r>
            <a:r>
              <a:rPr lang="it-IT" sz="1600" b="1" dirty="0">
                <a:latin typeface="Plus Jakarta Sans" panose="020B0604020202020204" charset="0"/>
                <a:cs typeface="Plus Jakarta Sans" panose="020B0604020202020204" charset="0"/>
              </a:rPr>
              <a:t> Integration</a:t>
            </a:r>
            <a:endParaRPr sz="1600" dirty="0"/>
          </a:p>
        </p:txBody>
      </p:sp>
      <p:sp>
        <p:nvSpPr>
          <p:cNvPr id="12" name="Google Shape;254;p21">
            <a:extLst>
              <a:ext uri="{FF2B5EF4-FFF2-40B4-BE49-F238E27FC236}">
                <a16:creationId xmlns:a16="http://schemas.microsoft.com/office/drawing/2014/main" id="{671CF009-8EA9-F558-257F-14C3508D96FE}"/>
              </a:ext>
            </a:extLst>
          </p:cNvPr>
          <p:cNvSpPr txBox="1"/>
          <p:nvPr/>
        </p:nvSpPr>
        <p:spPr>
          <a:xfrm>
            <a:off x="7987194" y="2450510"/>
            <a:ext cx="3184918" cy="830997"/>
          </a:xfrm>
          <a:prstGeom prst="rect">
            <a:avLst/>
          </a:prstGeom>
          <a:noFill/>
          <a:ln>
            <a:noFill/>
          </a:ln>
        </p:spPr>
        <p:txBody>
          <a:bodyPr spcFirstLastPara="1" wrap="square" lIns="0" tIns="0" rIns="0" bIns="0" anchor="t" anchorCtr="0">
            <a:spAutoFit/>
          </a:bodyPr>
          <a:lstStyle/>
          <a:p>
            <a:pPr lvl="0" algn="ctr">
              <a:lnSpc>
                <a:spcPct val="150000"/>
              </a:lnSpc>
            </a:pPr>
            <a:r>
              <a:rPr lang="it-IT" sz="1200" dirty="0" err="1">
                <a:latin typeface="Plus Jakarta Sans" panose="020B0604020202020204" charset="0"/>
                <a:cs typeface="Plus Jakarta Sans" panose="020B0604020202020204" charset="0"/>
              </a:rPr>
              <a:t>Implementation</a:t>
            </a:r>
            <a:r>
              <a:rPr lang="it-IT" sz="1200" dirty="0">
                <a:latin typeface="Plus Jakarta Sans" panose="020B0604020202020204" charset="0"/>
                <a:cs typeface="Plus Jakarta Sans" panose="020B0604020202020204" charset="0"/>
              </a:rPr>
              <a:t> of 2D/3D </a:t>
            </a:r>
            <a:r>
              <a:rPr lang="it-IT" sz="1200" dirty="0" err="1">
                <a:latin typeface="Plus Jakarta Sans" panose="020B0604020202020204" charset="0"/>
                <a:cs typeface="Plus Jakarta Sans" panose="020B0604020202020204" charset="0"/>
              </a:rPr>
              <a:t>velocity</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tomography</a:t>
            </a:r>
            <a:r>
              <a:rPr lang="it-IT" sz="1200" dirty="0">
                <a:latin typeface="Plus Jakarta Sans" panose="020B0604020202020204" charset="0"/>
                <a:cs typeface="Plus Jakarta Sans" panose="020B0604020202020204" charset="0"/>
              </a:rPr>
              <a:t>, GNSS </a:t>
            </a:r>
            <a:r>
              <a:rPr lang="it-IT" sz="1200" dirty="0" err="1">
                <a:latin typeface="Plus Jakarta Sans" panose="020B0604020202020204" charset="0"/>
                <a:cs typeface="Plus Jakarta Sans" panose="020B0604020202020204" charset="0"/>
              </a:rPr>
              <a:t>surface</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uplift</a:t>
            </a:r>
            <a:r>
              <a:rPr lang="it-IT" sz="1200" dirty="0">
                <a:latin typeface="Plus Jakarta Sans" panose="020B0604020202020204" charset="0"/>
                <a:cs typeface="Plus Jakarta Sans" panose="020B0604020202020204" charset="0"/>
              </a:rPr>
              <a:t>, and monitoring stations locations.</a:t>
            </a:r>
          </a:p>
        </p:txBody>
      </p:sp>
      <p:sp>
        <p:nvSpPr>
          <p:cNvPr id="14" name="Google Shape;255;p21">
            <a:extLst>
              <a:ext uri="{FF2B5EF4-FFF2-40B4-BE49-F238E27FC236}">
                <a16:creationId xmlns:a16="http://schemas.microsoft.com/office/drawing/2014/main" id="{08860C70-574D-BBBD-4D41-3CC20D29A408}"/>
              </a:ext>
            </a:extLst>
          </p:cNvPr>
          <p:cNvSpPr txBox="1"/>
          <p:nvPr/>
        </p:nvSpPr>
        <p:spPr>
          <a:xfrm>
            <a:off x="836484" y="2450511"/>
            <a:ext cx="3066376" cy="830997"/>
          </a:xfrm>
          <a:prstGeom prst="rect">
            <a:avLst/>
          </a:prstGeom>
          <a:noFill/>
          <a:ln>
            <a:noFill/>
          </a:ln>
        </p:spPr>
        <p:txBody>
          <a:bodyPr spcFirstLastPara="1" wrap="square" lIns="0" tIns="0" rIns="0" bIns="0" anchor="t" anchorCtr="0">
            <a:spAutoFit/>
          </a:bodyPr>
          <a:lstStyle/>
          <a:p>
            <a:pPr lvl="0" algn="ctr">
              <a:lnSpc>
                <a:spcPct val="150000"/>
              </a:lnSpc>
            </a:pPr>
            <a:r>
              <a:rPr lang="it-IT" sz="1200" dirty="0">
                <a:latin typeface="Plus Jakarta Sans" panose="020B0604020202020204" charset="0"/>
                <a:cs typeface="Plus Jakarta Sans" panose="020B0604020202020204" charset="0"/>
              </a:rPr>
              <a:t>Hardware-</a:t>
            </a:r>
            <a:r>
              <a:rPr lang="it-IT" sz="1200" dirty="0" err="1">
                <a:latin typeface="Plus Jakarta Sans" panose="020B0604020202020204" charset="0"/>
                <a:cs typeface="Plus Jakarta Sans" panose="020B0604020202020204" charset="0"/>
              </a:rPr>
              <a:t>accelerated</a:t>
            </a:r>
            <a:r>
              <a:rPr lang="it-IT" sz="1200" dirty="0">
                <a:latin typeface="Plus Jakarta Sans" panose="020B0604020202020204" charset="0"/>
                <a:cs typeface="Plus Jakarta Sans" panose="020B0604020202020204" charset="0"/>
              </a:rPr>
              <a:t> 2D/3D </a:t>
            </a:r>
            <a:r>
              <a:rPr lang="it-IT" sz="1200" dirty="0" err="1">
                <a:latin typeface="Plus Jakarta Sans" panose="020B0604020202020204" charset="0"/>
                <a:cs typeface="Plus Jakarta Sans" panose="020B0604020202020204" charset="0"/>
              </a:rPr>
              <a:t>navigation</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coupled</a:t>
            </a:r>
            <a:r>
              <a:rPr lang="it-IT" sz="1200" dirty="0">
                <a:latin typeface="Plus Jakarta Sans" panose="020B0604020202020204" charset="0"/>
                <a:cs typeface="Plus Jakarta Sans" panose="020B0604020202020204" charset="0"/>
              </a:rPr>
              <a:t> with </a:t>
            </a:r>
            <a:r>
              <a:rPr lang="it-IT" sz="1200" dirty="0" err="1">
                <a:latin typeface="Plus Jakarta Sans" panose="020B0604020202020204" charset="0"/>
                <a:cs typeface="Plus Jakarta Sans" panose="020B0604020202020204" charset="0"/>
              </a:rPr>
              <a:t>dynamic</a:t>
            </a:r>
            <a:r>
              <a:rPr lang="it-IT" sz="1200" dirty="0">
                <a:latin typeface="Plus Jakarta Sans" panose="020B0604020202020204" charset="0"/>
                <a:cs typeface="Plus Jakarta Sans" panose="020B0604020202020204" charset="0"/>
              </a:rPr>
              <a:t> time-slider </a:t>
            </a:r>
            <a:r>
              <a:rPr lang="it-IT" sz="1200" dirty="0" err="1">
                <a:latin typeface="Plus Jakarta Sans" panose="020B0604020202020204" charset="0"/>
                <a:cs typeface="Plus Jakarta Sans" panose="020B0604020202020204" charset="0"/>
              </a:rPr>
              <a:t>animation</a:t>
            </a:r>
            <a:r>
              <a:rPr lang="it-IT" sz="1200" dirty="0">
                <a:latin typeface="Plus Jakarta Sans" panose="020B0604020202020204" charset="0"/>
                <a:cs typeface="Plus Jakarta Sans" panose="020B0604020202020204" charset="0"/>
              </a:rPr>
              <a:t> to track </a:t>
            </a:r>
            <a:r>
              <a:rPr lang="it-IT" sz="1200" dirty="0" err="1">
                <a:latin typeface="Plus Jakarta Sans" panose="020B0604020202020204" charset="0"/>
                <a:cs typeface="Plus Jakarta Sans" panose="020B0604020202020204" charset="0"/>
              </a:rPr>
              <a:t>active</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swarm</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migration</a:t>
            </a:r>
            <a:r>
              <a:rPr lang="it-IT" sz="1200" dirty="0">
                <a:latin typeface="Plus Jakarta Sans" panose="020B0604020202020204" charset="0"/>
                <a:cs typeface="Plus Jakarta Sans" panose="020B0604020202020204" charset="0"/>
              </a:rPr>
              <a:t>.</a:t>
            </a:r>
          </a:p>
        </p:txBody>
      </p:sp>
      <p:sp>
        <p:nvSpPr>
          <p:cNvPr id="18" name="Google Shape;257;p21">
            <a:extLst>
              <a:ext uri="{FF2B5EF4-FFF2-40B4-BE49-F238E27FC236}">
                <a16:creationId xmlns:a16="http://schemas.microsoft.com/office/drawing/2014/main" id="{C84E479D-0830-8D8B-BD44-3B4D5E297367}"/>
              </a:ext>
            </a:extLst>
          </p:cNvPr>
          <p:cNvSpPr txBox="1"/>
          <p:nvPr/>
        </p:nvSpPr>
        <p:spPr>
          <a:xfrm>
            <a:off x="4447437" y="2450511"/>
            <a:ext cx="2942472" cy="830997"/>
          </a:xfrm>
          <a:prstGeom prst="rect">
            <a:avLst/>
          </a:prstGeom>
          <a:noFill/>
          <a:ln>
            <a:noFill/>
          </a:ln>
        </p:spPr>
        <p:txBody>
          <a:bodyPr spcFirstLastPara="1" wrap="square" lIns="0" tIns="0" rIns="0" bIns="0" anchor="t" anchorCtr="0">
            <a:spAutoFit/>
          </a:bodyPr>
          <a:lstStyle/>
          <a:p>
            <a:pPr algn="ctr">
              <a:lnSpc>
                <a:spcPct val="150000"/>
              </a:lnSpc>
              <a:defRPr sz="1150" b="0">
                <a:solidFill>
                  <a:srgbClr val="1C1819"/>
                </a:solidFill>
              </a:defRPr>
            </a:pPr>
            <a:r>
              <a:rPr lang="it-IT" sz="1200" dirty="0">
                <a:latin typeface="Plus Jakarta Sans" panose="020B0604020202020204" charset="0"/>
                <a:cs typeface="Plus Jakarta Sans" panose="020B0604020202020204" charset="0"/>
              </a:rPr>
              <a:t>Data-</a:t>
            </a:r>
            <a:r>
              <a:rPr lang="it-IT" sz="1200" dirty="0" err="1">
                <a:latin typeface="Plus Jakarta Sans" panose="020B0604020202020204" charset="0"/>
                <a:cs typeface="Plus Jakarta Sans" panose="020B0604020202020204" charset="0"/>
              </a:rPr>
              <a:t>driven</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spatial</a:t>
            </a:r>
            <a:r>
              <a:rPr lang="it-IT" sz="1200" dirty="0">
                <a:latin typeface="Plus Jakarta Sans" panose="020B0604020202020204" charset="0"/>
                <a:cs typeface="Plus Jakarta Sans" panose="020B0604020202020204" charset="0"/>
              </a:rPr>
              <a:t> clustering (DBSCAN / K-Means) </a:t>
            </a:r>
            <a:r>
              <a:rPr lang="it-IT" sz="1200" dirty="0" err="1">
                <a:latin typeface="Plus Jakarta Sans" panose="020B0604020202020204" charset="0"/>
                <a:cs typeface="Plus Jakarta Sans" panose="020B0604020202020204" charset="0"/>
              </a:rPr>
              <a:t>integrated</a:t>
            </a:r>
            <a:r>
              <a:rPr lang="it-IT" sz="1200" dirty="0">
                <a:latin typeface="Plus Jakarta Sans" panose="020B0604020202020204" charset="0"/>
                <a:cs typeface="Plus Jakarta Sans" panose="020B0604020202020204" charset="0"/>
              </a:rPr>
              <a:t> with fault </a:t>
            </a:r>
            <a:r>
              <a:rPr lang="it-IT" sz="1200" dirty="0" err="1">
                <a:latin typeface="Plus Jakarta Sans" panose="020B0604020202020204" charset="0"/>
                <a:cs typeface="Plus Jakarta Sans" panose="020B0604020202020204" charset="0"/>
              </a:rPr>
              <a:t>plane</a:t>
            </a:r>
            <a:r>
              <a:rPr lang="it-IT" sz="1200" dirty="0">
                <a:latin typeface="Plus Jakarta Sans" panose="020B0604020202020204" charset="0"/>
                <a:cs typeface="Plus Jakarta Sans" panose="020B0604020202020204" charset="0"/>
              </a:rPr>
              <a:t> fitting (RANSAC + SVD).</a:t>
            </a:r>
          </a:p>
        </p:txBody>
      </p:sp>
      <p:sp>
        <p:nvSpPr>
          <p:cNvPr id="22" name="Google Shape;261;p21">
            <a:extLst>
              <a:ext uri="{FF2B5EF4-FFF2-40B4-BE49-F238E27FC236}">
                <a16:creationId xmlns:a16="http://schemas.microsoft.com/office/drawing/2014/main" id="{349B8723-BAF9-4747-D487-4EF8657BD05F}"/>
              </a:ext>
            </a:extLst>
          </p:cNvPr>
          <p:cNvSpPr txBox="1"/>
          <p:nvPr/>
        </p:nvSpPr>
        <p:spPr>
          <a:xfrm>
            <a:off x="836484" y="2038027"/>
            <a:ext cx="3010112" cy="246221"/>
          </a:xfrm>
          <a:prstGeom prst="rect">
            <a:avLst/>
          </a:prstGeom>
          <a:noFill/>
          <a:ln>
            <a:noFill/>
          </a:ln>
        </p:spPr>
        <p:txBody>
          <a:bodyPr spcFirstLastPara="1" wrap="square" lIns="0" tIns="0" rIns="0" bIns="0" anchor="t" anchorCtr="0">
            <a:spAutoFit/>
          </a:bodyPr>
          <a:lstStyle/>
          <a:p>
            <a:pPr lvl="0" algn="ctr">
              <a:defRPr sz="1550" b="1">
                <a:solidFill>
                  <a:srgbClr val="236B5E"/>
                </a:solidFill>
              </a:defRPr>
            </a:pPr>
            <a:r>
              <a:rPr lang="it-IT" sz="1600" b="1" dirty="0">
                <a:latin typeface="Plus Jakarta Sans" panose="020B0604020202020204" charset="0"/>
                <a:cs typeface="Plus Jakarta Sans" panose="020B0604020202020204" charset="0"/>
              </a:rPr>
              <a:t>Interactive </a:t>
            </a:r>
            <a:r>
              <a:rPr lang="it-IT" sz="1600" b="1" dirty="0" err="1">
                <a:latin typeface="Plus Jakarta Sans" panose="020B0604020202020204" charset="0"/>
                <a:cs typeface="Plus Jakarta Sans" panose="020B0604020202020204" charset="0"/>
              </a:rPr>
              <a:t>Visualisations</a:t>
            </a:r>
            <a:endParaRPr dirty="0"/>
          </a:p>
        </p:txBody>
      </p:sp>
      <p:sp>
        <p:nvSpPr>
          <p:cNvPr id="24" name="Google Shape;262;p21">
            <a:extLst>
              <a:ext uri="{FF2B5EF4-FFF2-40B4-BE49-F238E27FC236}">
                <a16:creationId xmlns:a16="http://schemas.microsoft.com/office/drawing/2014/main" id="{3DE5C524-7C08-BD12-FE1D-05E8BFD575BE}"/>
              </a:ext>
            </a:extLst>
          </p:cNvPr>
          <p:cNvSpPr txBox="1"/>
          <p:nvPr/>
        </p:nvSpPr>
        <p:spPr>
          <a:xfrm>
            <a:off x="4419220" y="1941095"/>
            <a:ext cx="2847667" cy="492443"/>
          </a:xfrm>
          <a:prstGeom prst="rect">
            <a:avLst/>
          </a:prstGeom>
          <a:noFill/>
          <a:ln>
            <a:noFill/>
          </a:ln>
        </p:spPr>
        <p:txBody>
          <a:bodyPr spcFirstLastPara="1" wrap="square" lIns="0" tIns="0" rIns="0" bIns="0" anchor="t" anchorCtr="0">
            <a:spAutoFit/>
          </a:bodyPr>
          <a:lstStyle/>
          <a:p>
            <a:pPr lvl="0" algn="ctr">
              <a:defRPr sz="1550" b="1">
                <a:solidFill>
                  <a:srgbClr val="204060"/>
                </a:solidFill>
              </a:defRPr>
            </a:pPr>
            <a:r>
              <a:rPr lang="it-IT" sz="1600" b="1" dirty="0" err="1">
                <a:latin typeface="Plus Jakarta Sans" panose="020B0604020202020204" charset="0"/>
                <a:cs typeface="Plus Jakarta Sans" panose="020B0604020202020204" charset="0"/>
              </a:rPr>
              <a:t>Automated</a:t>
            </a:r>
            <a:r>
              <a:rPr lang="it-IT" sz="1600" b="1" dirty="0">
                <a:latin typeface="Plus Jakarta Sans" panose="020B0604020202020204" charset="0"/>
                <a:cs typeface="Plus Jakarta Sans" panose="020B0604020202020204" charset="0"/>
              </a:rPr>
              <a:t> </a:t>
            </a:r>
            <a:r>
              <a:rPr lang="it-IT" sz="1600" b="1" dirty="0" err="1">
                <a:latin typeface="Plus Jakarta Sans" panose="020B0604020202020204" charset="0"/>
                <a:cs typeface="Plus Jakarta Sans" panose="020B0604020202020204" charset="0"/>
              </a:rPr>
              <a:t>Structural</a:t>
            </a:r>
            <a:r>
              <a:rPr lang="it-IT" sz="1600" b="1" dirty="0">
                <a:latin typeface="Plus Jakarta Sans" panose="020B0604020202020204" charset="0"/>
                <a:cs typeface="Plus Jakarta Sans" panose="020B0604020202020204" charset="0"/>
              </a:rPr>
              <a:t> Analysis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72"/>
        <p:cNvGrpSpPr/>
        <p:nvPr/>
      </p:nvGrpSpPr>
      <p:grpSpPr>
        <a:xfrm>
          <a:off x="0" y="0"/>
          <a:ext cx="0" cy="0"/>
          <a:chOff x="0" y="0"/>
          <a:chExt cx="0" cy="0"/>
        </a:xfrm>
      </p:grpSpPr>
      <p:sp>
        <p:nvSpPr>
          <p:cNvPr id="173" name="Google Shape;173;p17"/>
          <p:cNvSpPr/>
          <p:nvPr/>
        </p:nvSpPr>
        <p:spPr>
          <a:xfrm>
            <a:off x="609600" y="1819015"/>
            <a:ext cx="4785360" cy="1828320"/>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4" name="Google Shape;174;p17"/>
          <p:cNvSpPr/>
          <p:nvPr/>
        </p:nvSpPr>
        <p:spPr>
          <a:xfrm>
            <a:off x="609600" y="3873767"/>
            <a:ext cx="4785360" cy="2077856"/>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77" name="Google Shape;177;p17" descr="image.png"/>
          <p:cNvPicPr preferRelativeResize="0"/>
          <p:nvPr/>
        </p:nvPicPr>
        <p:blipFill rotWithShape="1">
          <a:blip r:embed="rId3">
            <a:alphaModFix/>
          </a:blip>
          <a:srcRect/>
          <a:stretch/>
        </p:blipFill>
        <p:spPr>
          <a:xfrm>
            <a:off x="6441582" y="1434240"/>
            <a:ext cx="3820403" cy="2410323"/>
          </a:xfrm>
          <a:prstGeom prst="rect">
            <a:avLst/>
          </a:prstGeom>
          <a:noFill/>
          <a:ln>
            <a:noFill/>
          </a:ln>
        </p:spPr>
      </p:pic>
      <p:sp>
        <p:nvSpPr>
          <p:cNvPr id="178" name="Google Shape;178;p17"/>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dirty="0">
                <a:solidFill>
                  <a:srgbClr val="204060"/>
                </a:solidFill>
                <a:latin typeface="Plus Jakarta Sans"/>
                <a:ea typeface="Plus Jakarta Sans"/>
                <a:cs typeface="Plus Jakarta Sans"/>
                <a:sym typeface="Plus Jakarta Sans"/>
              </a:rPr>
              <a:t>APPLICATION WORKSPACE • 2D MODE</a:t>
            </a:r>
            <a:endParaRPr dirty="0"/>
          </a:p>
        </p:txBody>
      </p:sp>
      <p:sp>
        <p:nvSpPr>
          <p:cNvPr id="179" name="Google Shape;179;p17"/>
          <p:cNvSpPr txBox="1"/>
          <p:nvPr/>
        </p:nvSpPr>
        <p:spPr>
          <a:xfrm>
            <a:off x="609600" y="840000"/>
            <a:ext cx="7857744"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2D Geospatial Map &amp; In-Browser Filtering</a:t>
            </a:r>
            <a:endParaRPr dirty="0"/>
          </a:p>
        </p:txBody>
      </p:sp>
      <p:sp>
        <p:nvSpPr>
          <p:cNvPr id="180" name="Google Shape;180;p17"/>
          <p:cNvSpPr txBox="1"/>
          <p:nvPr/>
        </p:nvSpPr>
        <p:spPr>
          <a:xfrm>
            <a:off x="800000" y="1869990"/>
            <a:ext cx="4430368" cy="1892826"/>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204060"/>
                </a:solidFill>
              </a:defRPr>
            </a:pPr>
            <a:r>
              <a:rPr lang="en-US" sz="1600" b="1" i="0" u="none" strike="noStrike" cap="none" dirty="0">
                <a:solidFill>
                  <a:srgbClr val="204060"/>
                </a:solidFill>
                <a:latin typeface="Plus Jakarta Sans"/>
                <a:ea typeface="Plus Jakarta Sans"/>
                <a:cs typeface="Plus Jakarta Sans"/>
                <a:sym typeface="Plus Jakarta Sans"/>
              </a:rPr>
              <a:t>Zero-Latency In-Browser Filtering</a:t>
            </a:r>
          </a:p>
          <a:p>
            <a:pPr lvl="0">
              <a:lnSpc>
                <a:spcPct val="150000"/>
              </a:lnSpc>
              <a:spcAft>
                <a:spcPts val="600"/>
              </a:spcAft>
            </a:pPr>
            <a:r>
              <a:rPr lang="it-IT" sz="1300" dirty="0">
                <a:effectLst/>
                <a:latin typeface="Plus Jakarta Sans" panose="020B0604020202020204" charset="0"/>
                <a:cs typeface="Plus Jakarta Sans" panose="020B0604020202020204" charset="0"/>
              </a:rPr>
              <a:t>Event filtering </a:t>
            </a:r>
            <a:r>
              <a:rPr lang="it-IT" sz="1300" dirty="0" err="1">
                <a:effectLst/>
                <a:latin typeface="Plus Jakarta Sans" panose="020B0604020202020204" charset="0"/>
                <a:cs typeface="Plus Jakarta Sans" panose="020B0604020202020204" charset="0"/>
              </a:rPr>
              <a:t>across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Magnitude</a:t>
            </a:r>
            <a:r>
              <a:rPr lang="it-IT" sz="1300" dirty="0">
                <a:effectLst/>
                <a:latin typeface="Plus Jakarta Sans" panose="020B0604020202020204" charset="0"/>
                <a:cs typeface="Plus Jakarta Sans" panose="020B0604020202020204" charset="0"/>
              </a:rPr>
              <a:t>, Depth, and Date ranges </a:t>
            </a:r>
            <a:r>
              <a:rPr lang="it-IT" sz="1300" dirty="0" err="1">
                <a:effectLst/>
                <a:latin typeface="Plus Jakarta Sans" panose="020B0604020202020204" charset="0"/>
                <a:cs typeface="Plus Jakarta Sans" panose="020B0604020202020204" charset="0"/>
              </a:rPr>
              <a:t>runs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entirely</a:t>
            </a:r>
            <a:r>
              <a:rPr lang="it-IT" sz="1300" dirty="0">
                <a:effectLst/>
                <a:latin typeface="Plus Jakarta Sans" panose="020B0604020202020204" charset="0"/>
                <a:cs typeface="Plus Jakarta Sans" panose="020B0604020202020204" charset="0"/>
              </a:rPr>
              <a:t> in JavaScript, </a:t>
            </a:r>
            <a:r>
              <a:rPr lang="it-IT" sz="1300" dirty="0" err="1">
                <a:effectLst/>
                <a:latin typeface="Plus Jakarta Sans" panose="020B0604020202020204" charset="0"/>
                <a:cs typeface="Plus Jakarta Sans" panose="020B0604020202020204" charset="0"/>
              </a:rPr>
              <a:t>thus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eliminating</a:t>
            </a:r>
            <a:r>
              <a:rPr lang="it-IT" sz="1300" dirty="0">
                <a:effectLst/>
                <a:latin typeface="Plus Jakarta Sans" panose="020B0604020202020204" charset="0"/>
                <a:cs typeface="Plus Jakarta Sans" panose="020B0604020202020204" charset="0"/>
              </a:rPr>
              <a:t> HTTP </a:t>
            </a:r>
            <a:r>
              <a:rPr lang="it-IT" sz="1300" dirty="0" err="1">
                <a:effectLst/>
                <a:latin typeface="Plus Jakarta Sans" panose="020B0604020202020204" charset="0"/>
                <a:cs typeface="Plus Jakarta Sans" panose="020B0604020202020204" charset="0"/>
              </a:rPr>
              <a:t>roundtrips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during</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parameter</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adjustments</a:t>
            </a:r>
            <a:r>
              <a:rPr lang="it-IT" sz="1300" dirty="0">
                <a:effectLst/>
                <a:latin typeface="Plus Jakarta Sans" panose="020B0604020202020204" charset="0"/>
                <a:cs typeface="Plus Jakarta Sans" panose="020B0604020202020204" charset="0"/>
              </a:rPr>
              <a:t> and </a:t>
            </a:r>
            <a:r>
              <a:rPr lang="it-IT" sz="1300" dirty="0" err="1">
                <a:effectLst/>
                <a:latin typeface="Plus Jakarta Sans" panose="020B0604020202020204" charset="0"/>
                <a:cs typeface="Plus Jakarta Sans" panose="020B0604020202020204" charset="0"/>
              </a:rPr>
              <a:t>without</a:t>
            </a:r>
            <a:r>
              <a:rPr lang="it-IT" sz="1300" dirty="0">
                <a:effectLst/>
                <a:latin typeface="Plus Jakarta Sans" panose="020B0604020202020204" charset="0"/>
                <a:cs typeface="Plus Jakarta Sans" panose="020B0604020202020204" charset="0"/>
              </a:rPr>
              <a:t> re-</a:t>
            </a:r>
            <a:r>
              <a:rPr lang="it-IT" sz="1300" dirty="0" err="1">
                <a:effectLst/>
                <a:latin typeface="Plus Jakarta Sans" panose="020B0604020202020204" charset="0"/>
                <a:cs typeface="Plus Jakarta Sans" panose="020B0604020202020204" charset="0"/>
              </a:rPr>
              <a:t>fetching</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raw</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catalogues</a:t>
            </a:r>
            <a:r>
              <a:rPr lang="it-IT" sz="1300" dirty="0">
                <a:effectLst/>
                <a:latin typeface="Plus Jakarta Sans" panose="020B0604020202020204" charset="0"/>
                <a:cs typeface="Plus Jakarta Sans" panose="020B0604020202020204" charset="0"/>
              </a:rPr>
              <a:t>.</a:t>
            </a:r>
          </a:p>
          <a:p>
            <a:pPr marL="0" marR="0" lvl="0" indent="0" algn="l" rtl="0">
              <a:spcBef>
                <a:spcPts val="0"/>
              </a:spcBef>
              <a:spcAft>
                <a:spcPts val="0"/>
              </a:spcAft>
              <a:buNone/>
              <a:defRPr sz="1600" b="1">
                <a:solidFill>
                  <a:srgbClr val="204060"/>
                </a:solidFill>
              </a:defRPr>
            </a:pPr>
            <a:endParaRPr dirty="0"/>
          </a:p>
        </p:txBody>
      </p:sp>
      <p:sp>
        <p:nvSpPr>
          <p:cNvPr id="182" name="Google Shape;182;p17"/>
          <p:cNvSpPr txBox="1"/>
          <p:nvPr/>
        </p:nvSpPr>
        <p:spPr>
          <a:xfrm>
            <a:off x="800000" y="3886526"/>
            <a:ext cx="4430368" cy="2239074"/>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600" b="1">
                <a:solidFill>
                  <a:srgbClr val="822433"/>
                </a:solidFill>
              </a:defRPr>
            </a:pPr>
            <a:r>
              <a:rPr lang="en-US" sz="1600" b="1" i="0" u="none" strike="noStrike" cap="none" dirty="0">
                <a:solidFill>
                  <a:srgbClr val="822433"/>
                </a:solidFill>
                <a:latin typeface="Plus Jakarta Sans" panose="020B0604020202020204" charset="0"/>
                <a:ea typeface="Plus Jakarta Sans"/>
                <a:cs typeface="Plus Jakarta Sans" panose="020B0604020202020204" charset="0"/>
                <a:sym typeface="Plus Jakarta Sans"/>
              </a:rPr>
              <a:t>Bi-modal Spatial </a:t>
            </a:r>
            <a:r>
              <a:rPr lang="en-US" sz="1600" b="1" dirty="0">
                <a:solidFill>
                  <a:srgbClr val="822433"/>
                </a:solidFill>
                <a:latin typeface="Plus Jakarta Sans" panose="020B0604020202020204" charset="0"/>
                <a:ea typeface="Plus Jakarta Sans"/>
                <a:cs typeface="Plus Jakarta Sans" panose="020B0604020202020204" charset="0"/>
                <a:sym typeface="Plus Jakarta Sans"/>
              </a:rPr>
              <a:t>R</a:t>
            </a:r>
            <a:r>
              <a:rPr lang="en-US" sz="1600" b="1" i="0" u="none" strike="noStrike" cap="none" dirty="0">
                <a:solidFill>
                  <a:srgbClr val="822433"/>
                </a:solidFill>
                <a:latin typeface="Plus Jakarta Sans" panose="020B0604020202020204" charset="0"/>
                <a:ea typeface="Plus Jakarta Sans"/>
                <a:cs typeface="Plus Jakarta Sans" panose="020B0604020202020204" charset="0"/>
                <a:sym typeface="Plus Jakarta Sans"/>
              </a:rPr>
              <a:t>epresentation</a:t>
            </a:r>
          </a:p>
          <a:p>
            <a:pPr lvl="0">
              <a:lnSpc>
                <a:spcPct val="150000"/>
              </a:lnSpc>
            </a:pPr>
            <a:r>
              <a:rPr lang="it-IT" sz="1300" b="1" dirty="0" err="1">
                <a:latin typeface="Plus Jakarta Sans" panose="020B0604020202020204" charset="0"/>
                <a:cs typeface="Plus Jakarta Sans" panose="020B0604020202020204" charset="0"/>
              </a:rPr>
              <a:t>Proportional</a:t>
            </a:r>
            <a:r>
              <a:rPr lang="it-IT" sz="1300" b="1" dirty="0">
                <a:latin typeface="Plus Jakarta Sans" panose="020B0604020202020204" charset="0"/>
                <a:cs typeface="Plus Jakarta Sans" panose="020B0604020202020204" charset="0"/>
              </a:rPr>
              <a:t> </a:t>
            </a:r>
            <a:r>
              <a:rPr lang="it-IT" sz="1300" b="1" dirty="0" err="1">
                <a:latin typeface="Plus Jakarta Sans" panose="020B0604020202020204" charset="0"/>
                <a:cs typeface="Plus Jakarta Sans" panose="020B0604020202020204" charset="0"/>
              </a:rPr>
              <a:t>Scatter</a:t>
            </a:r>
            <a:r>
              <a:rPr lang="it-IT" sz="1300" b="1" dirty="0">
                <a:latin typeface="Plus Jakarta Sans" panose="020B0604020202020204" charset="0"/>
                <a:cs typeface="Plus Jakarta Sans" panose="020B0604020202020204" charset="0"/>
              </a:rPr>
              <a:t> Markers</a:t>
            </a:r>
            <a:r>
              <a:rPr lang="it-IT" sz="1300" dirty="0">
                <a:effectLst/>
                <a:latin typeface="Plus Jakarta Sans" panose="020B0604020202020204" charset="0"/>
                <a:cs typeface="Plus Jakarta Sans" panose="020B0604020202020204" charset="0"/>
              </a:rPr>
              <a:t>: Marker </a:t>
            </a:r>
            <a:r>
              <a:rPr lang="it-IT" sz="1300" dirty="0" err="1">
                <a:effectLst/>
                <a:latin typeface="Plus Jakarta Sans" panose="020B0604020202020204" charset="0"/>
                <a:cs typeface="Plus Jakarta Sans" panose="020B0604020202020204" charset="0"/>
              </a:rPr>
              <a:t>radius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scales</a:t>
            </a:r>
            <a:r>
              <a:rPr lang="it-IT" sz="1300" dirty="0">
                <a:effectLst/>
                <a:latin typeface="Plus Jakarta Sans" panose="020B0604020202020204" charset="0"/>
                <a:cs typeface="Plus Jakarta Sans" panose="020B0604020202020204" charset="0"/>
              </a:rPr>
              <a:t> with </a:t>
            </a:r>
            <a:r>
              <a:rPr lang="it-IT" sz="1300" dirty="0" err="1">
                <a:effectLst/>
                <a:latin typeface="Plus Jakarta Sans" panose="020B0604020202020204" charset="0"/>
                <a:cs typeface="Plus Jakarta Sans" panose="020B0604020202020204" charset="0"/>
              </a:rPr>
              <a:t>seismic</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magnitude</a:t>
            </a:r>
            <a:endParaRPr lang="it-IT" sz="1300" dirty="0">
              <a:effectLst/>
              <a:latin typeface="Plus Jakarta Sans" panose="020B0604020202020204" charset="0"/>
              <a:cs typeface="Plus Jakarta Sans" panose="020B0604020202020204" charset="0"/>
            </a:endParaRPr>
          </a:p>
          <a:p>
            <a:pPr lvl="0">
              <a:lnSpc>
                <a:spcPct val="150000"/>
              </a:lnSpc>
            </a:pPr>
            <a:r>
              <a:rPr lang="it-IT" sz="1300" b="1" dirty="0" err="1">
                <a:effectLst/>
                <a:latin typeface="Plus Jakarta Sans" panose="020B0604020202020204" charset="0"/>
                <a:cs typeface="Plus Jakarta Sans" panose="020B0604020202020204" charset="0"/>
              </a:rPr>
              <a:t>Continuous</a:t>
            </a:r>
            <a:r>
              <a:rPr lang="it-IT" sz="1300" b="1" dirty="0">
                <a:effectLst/>
                <a:latin typeface="Plus Jakarta Sans" panose="020B0604020202020204" charset="0"/>
                <a:cs typeface="Plus Jakarta Sans" panose="020B0604020202020204" charset="0"/>
              </a:rPr>
              <a:t> Kernel </a:t>
            </a:r>
            <a:r>
              <a:rPr lang="it-IT" sz="1300" b="1" dirty="0" err="1">
                <a:effectLst/>
                <a:latin typeface="Plus Jakarta Sans" panose="020B0604020202020204" charset="0"/>
                <a:cs typeface="Plus Jakarta Sans" panose="020B0604020202020204" charset="0"/>
              </a:rPr>
              <a:t>Density</a:t>
            </a:r>
            <a:r>
              <a:rPr lang="it-IT" sz="1300" b="1" dirty="0">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Gaussian</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heatmap</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layer</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aggregating</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hypocentres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into</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continuous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density</a:t>
            </a:r>
            <a:r>
              <a:rPr lang="it-IT" sz="1300" dirty="0">
                <a:effectLst/>
                <a:latin typeface="Plus Jakarta Sans" panose="020B0604020202020204" charset="0"/>
                <a:cs typeface="Plus Jakarta Sans" panose="020B0604020202020204" charset="0"/>
              </a:rPr>
              <a:t> fields to </a:t>
            </a:r>
            <a:r>
              <a:rPr lang="it-IT" sz="1300" dirty="0" err="1">
                <a:effectLst/>
                <a:latin typeface="Plus Jakarta Sans" panose="020B0604020202020204" charset="0"/>
                <a:cs typeface="Plus Jakarta Sans" panose="020B0604020202020204" charset="0"/>
              </a:rPr>
              <a:t>reveal</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seismogenic</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swarms</a:t>
            </a:r>
            <a:r>
              <a:rPr lang="it-IT" sz="1300" dirty="0">
                <a:effectLst/>
                <a:latin typeface="Plus Jakarta Sans" panose="020B0604020202020204" charset="0"/>
                <a:cs typeface="Plus Jakarta Sans" panose="020B0604020202020204" charset="0"/>
              </a:rPr>
              <a:t> </a:t>
            </a:r>
            <a:r>
              <a:rPr lang="it-IT" sz="1300" dirty="0" err="1">
                <a:effectLst/>
                <a:latin typeface="Plus Jakarta Sans" panose="020B0604020202020204" charset="0"/>
                <a:cs typeface="Plus Jakarta Sans" panose="020B0604020202020204" charset="0"/>
              </a:rPr>
              <a:t>across</a:t>
            </a:r>
            <a:r>
              <a:rPr lang="it-IT" sz="1300" dirty="0">
                <a:effectLst/>
                <a:latin typeface="Plus Jakarta Sans" panose="020B0604020202020204" charset="0"/>
                <a:cs typeface="Plus Jakarta Sans" panose="020B0604020202020204" charset="0"/>
              </a:rPr>
              <a:t> the caldera.</a:t>
            </a:r>
          </a:p>
          <a:p>
            <a:pPr marL="0" marR="0" lvl="0" indent="0" algn="l" rtl="0">
              <a:lnSpc>
                <a:spcPct val="150000"/>
              </a:lnSpc>
              <a:spcBef>
                <a:spcPts val="0"/>
              </a:spcBef>
              <a:spcAft>
                <a:spcPts val="0"/>
              </a:spcAft>
              <a:buNone/>
              <a:defRPr sz="1600" b="1">
                <a:solidFill>
                  <a:srgbClr val="822433"/>
                </a:solidFill>
              </a:defRPr>
            </a:pPr>
            <a:endParaRPr dirty="0">
              <a:latin typeface="Plus Jakarta Sans" panose="020B0604020202020204" charset="0"/>
              <a:cs typeface="Plus Jakarta Sans" panose="020B0604020202020204" charset="0"/>
            </a:endParaRPr>
          </a:p>
        </p:txBody>
      </p:sp>
      <p:pic>
        <p:nvPicPr>
          <p:cNvPr id="185" name="Picture 184"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186"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508CB884-3589-D0DF-2D4A-E0BA35B4401A}"/>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Immagine 3">
            <a:extLst>
              <a:ext uri="{FF2B5EF4-FFF2-40B4-BE49-F238E27FC236}">
                <a16:creationId xmlns:a16="http://schemas.microsoft.com/office/drawing/2014/main" id="{78D080C3-57C5-FDDA-A2FD-D89874099C59}"/>
              </a:ext>
            </a:extLst>
          </p:cNvPr>
          <p:cNvPicPr>
            <a:picLocks noChangeAspect="1"/>
          </p:cNvPicPr>
          <p:nvPr/>
        </p:nvPicPr>
        <p:blipFill>
          <a:blip r:embed="rId5"/>
          <a:stretch>
            <a:fillRect/>
          </a:stretch>
        </p:blipFill>
        <p:spPr>
          <a:xfrm>
            <a:off x="6437620" y="3882313"/>
            <a:ext cx="3820403" cy="259476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188"/>
        <p:cNvGrpSpPr/>
        <p:nvPr/>
      </p:nvGrpSpPr>
      <p:grpSpPr>
        <a:xfrm>
          <a:off x="0" y="0"/>
          <a:ext cx="0" cy="0"/>
          <a:chOff x="0" y="0"/>
          <a:chExt cx="0" cy="0"/>
        </a:xfrm>
      </p:grpSpPr>
      <p:sp>
        <p:nvSpPr>
          <p:cNvPr id="189" name="Google Shape;189;p18"/>
          <p:cNvSpPr/>
          <p:nvPr/>
        </p:nvSpPr>
        <p:spPr>
          <a:xfrm>
            <a:off x="6678313" y="1393384"/>
            <a:ext cx="4791967" cy="1114425"/>
          </a:xfrm>
          <a:prstGeom prst="roundRect">
            <a:avLst>
              <a:gd name="adj" fmla="val 1196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0" name="Google Shape;190;p18"/>
          <p:cNvSpPr/>
          <p:nvPr/>
        </p:nvSpPr>
        <p:spPr>
          <a:xfrm>
            <a:off x="6678312" y="2632015"/>
            <a:ext cx="4801492" cy="2013369"/>
          </a:xfrm>
          <a:prstGeom prst="roundRect">
            <a:avLst>
              <a:gd name="adj" fmla="val 11965"/>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191" name="Google Shape;191;p18"/>
          <p:cNvSpPr/>
          <p:nvPr/>
        </p:nvSpPr>
        <p:spPr>
          <a:xfrm>
            <a:off x="6678313" y="4753980"/>
            <a:ext cx="4791967" cy="1565347"/>
          </a:xfrm>
          <a:prstGeom prst="roundRect">
            <a:avLst>
              <a:gd name="adj" fmla="val 18421"/>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pic>
        <p:nvPicPr>
          <p:cNvPr id="193" name="Google Shape;193;p18" descr="image.png"/>
          <p:cNvPicPr preferRelativeResize="0"/>
          <p:nvPr/>
        </p:nvPicPr>
        <p:blipFill rotWithShape="1">
          <a:blip r:embed="rId3">
            <a:alphaModFix/>
          </a:blip>
          <a:srcRect/>
          <a:stretch/>
        </p:blipFill>
        <p:spPr>
          <a:xfrm>
            <a:off x="712196" y="1619355"/>
            <a:ext cx="5670839" cy="3758312"/>
          </a:xfrm>
          <a:prstGeom prst="rect">
            <a:avLst/>
          </a:prstGeom>
          <a:noFill/>
          <a:ln>
            <a:noFill/>
          </a:ln>
        </p:spPr>
      </p:pic>
      <p:sp>
        <p:nvSpPr>
          <p:cNvPr id="194" name="Google Shape;194;p18"/>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APPLICATION WORKSPACE • 3D MODE</a:t>
            </a:r>
            <a:endParaRPr/>
          </a:p>
        </p:txBody>
      </p:sp>
      <p:sp>
        <p:nvSpPr>
          <p:cNvPr id="195" name="Google Shape;195;p18"/>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3D Static </a:t>
            </a:r>
            <a:r>
              <a:rPr lang="en-US" sz="2600" b="1" i="0" u="none" strike="noStrike" cap="none" dirty="0" err="1">
                <a:solidFill>
                  <a:srgbClr val="822433"/>
                </a:solidFill>
                <a:latin typeface="Cinzel"/>
                <a:ea typeface="Cinzel"/>
                <a:cs typeface="Cinzel"/>
                <a:sym typeface="Cinzel"/>
              </a:rPr>
              <a:t>Hypocentral</a:t>
            </a:r>
            <a:r>
              <a:rPr lang="en-US" sz="2600" b="1" i="0" u="none" strike="noStrike" cap="none" dirty="0">
                <a:solidFill>
                  <a:srgbClr val="822433"/>
                </a:solidFill>
                <a:latin typeface="Cinzel"/>
                <a:ea typeface="Cinzel"/>
                <a:cs typeface="Cinzel"/>
                <a:sym typeface="Cinzel"/>
              </a:rPr>
              <a:t> Point Cloud</a:t>
            </a:r>
            <a:endParaRPr dirty="0"/>
          </a:p>
        </p:txBody>
      </p:sp>
      <p:sp>
        <p:nvSpPr>
          <p:cNvPr id="196" name="Google Shape;196;p18"/>
          <p:cNvSpPr txBox="1"/>
          <p:nvPr/>
        </p:nvSpPr>
        <p:spPr>
          <a:xfrm>
            <a:off x="6859287" y="1431305"/>
            <a:ext cx="4524612" cy="1200329"/>
          </a:xfrm>
          <a:prstGeom prst="rect">
            <a:avLst/>
          </a:prstGeom>
          <a:noFill/>
          <a:ln>
            <a:noFill/>
          </a:ln>
        </p:spPr>
        <p:txBody>
          <a:bodyPr spcFirstLastPara="1" wrap="square" lIns="0" tIns="0" rIns="0" bIns="0" anchor="t" anchorCtr="0">
            <a:spAutoFit/>
          </a:bodyPr>
          <a:lstStyle/>
          <a:p>
            <a:pPr lvl="0">
              <a:lnSpc>
                <a:spcPct val="150000"/>
              </a:lnSpc>
            </a:pPr>
            <a:r>
              <a:rPr lang="it-IT" sz="1600" b="1" dirty="0">
                <a:solidFill>
                  <a:srgbClr val="750133"/>
                </a:solidFill>
                <a:latin typeface="Plus Jakarta Sans" panose="020B0604020202020204" charset="0"/>
                <a:cs typeface="Plus Jakarta Sans" panose="020B0604020202020204" charset="0"/>
              </a:rPr>
              <a:t>Geographic Coordinate </a:t>
            </a:r>
            <a:r>
              <a:rPr lang="it-IT" sz="1600" b="1" dirty="0" err="1">
                <a:solidFill>
                  <a:srgbClr val="750133"/>
                </a:solidFill>
                <a:latin typeface="Plus Jakarta Sans" panose="020B0604020202020204" charset="0"/>
                <a:cs typeface="Plus Jakarta Sans" panose="020B0604020202020204" charset="0"/>
              </a:rPr>
              <a:t>Retention</a:t>
            </a:r>
            <a:r>
              <a:rPr lang="it-IT" sz="1600" b="1" dirty="0">
                <a:solidFill>
                  <a:srgbClr val="750133"/>
                </a:solidFill>
                <a:latin typeface="Plus Jakarta Sans" panose="020B0604020202020204" charset="0"/>
                <a:cs typeface="Plus Jakarta Sans" panose="020B0604020202020204" charset="0"/>
              </a:rPr>
              <a:t> (Degrees)</a:t>
            </a:r>
            <a:endParaRPr lang="it-IT" sz="1600" dirty="0">
              <a:solidFill>
                <a:srgbClr val="750133"/>
              </a:solidFill>
              <a:latin typeface="Plus Jakarta Sans" panose="020B0604020202020204" charset="0"/>
              <a:cs typeface="Plus Jakarta Sans" panose="020B0604020202020204" charset="0"/>
            </a:endParaRPr>
          </a:p>
          <a:p>
            <a:pPr lvl="0">
              <a:lnSpc>
                <a:spcPct val="150000"/>
              </a:lnSpc>
            </a:pPr>
            <a:r>
              <a:rPr lang="it-IT" sz="1350" dirty="0" err="1">
                <a:latin typeface="Plus Jakarta Sans" panose="020B0604020202020204" charset="0"/>
                <a:cs typeface="Plus Jakarta Sans" panose="020B0604020202020204" charset="0"/>
              </a:rPr>
              <a:t>Horizontal</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axes</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preserve</a:t>
            </a:r>
            <a:r>
              <a:rPr lang="it-IT" sz="1350" dirty="0">
                <a:latin typeface="Plus Jakarta Sans" panose="020B0604020202020204" charset="0"/>
                <a:cs typeface="Plus Jakarta Sans" panose="020B0604020202020204" charset="0"/>
              </a:rPr>
              <a:t> standard </a:t>
            </a:r>
            <a:r>
              <a:rPr lang="it-IT" sz="1350" dirty="0" err="1">
                <a:latin typeface="Plus Jakarta Sans" panose="020B0604020202020204" charset="0"/>
                <a:cs typeface="Plus Jakarta Sans" panose="020B0604020202020204" charset="0"/>
              </a:rPr>
              <a:t>geographic</a:t>
            </a:r>
            <a:r>
              <a:rPr lang="it-IT" sz="1350" dirty="0">
                <a:latin typeface="Plus Jakarta Sans" panose="020B0604020202020204" charset="0"/>
                <a:cs typeface="Plus Jakarta Sans" panose="020B0604020202020204" charset="0"/>
              </a:rPr>
              <a:t> degrees </a:t>
            </a:r>
            <a:r>
              <a:rPr lang="it-IT" sz="1350" dirty="0" err="1">
                <a:latin typeface="Plus Jakarta Sans" panose="020B0604020202020204" charset="0"/>
                <a:cs typeface="Plus Jakarta Sans" panose="020B0604020202020204" charset="0"/>
              </a:rPr>
              <a:t>alongside</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depth</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measured</a:t>
            </a:r>
            <a:r>
              <a:rPr lang="it-IT" sz="1350" dirty="0">
                <a:latin typeface="Plus Jakarta Sans" panose="020B0604020202020204" charset="0"/>
                <a:cs typeface="Plus Jakarta Sans" panose="020B0604020202020204" charset="0"/>
              </a:rPr>
              <a:t> in km.</a:t>
            </a:r>
          </a:p>
          <a:p>
            <a:pPr lvl="0">
              <a:defRPr sz="1350" b="0">
                <a:solidFill>
                  <a:srgbClr val="1C1819"/>
                </a:solidFill>
              </a:defRPr>
            </a:pPr>
            <a:endParaRPr dirty="0">
              <a:latin typeface="Plus Jakarta Sans" panose="020B0604020202020204" charset="0"/>
              <a:cs typeface="Plus Jakarta Sans" panose="020B0604020202020204" charset="0"/>
            </a:endParaRPr>
          </a:p>
        </p:txBody>
      </p:sp>
      <p:sp>
        <p:nvSpPr>
          <p:cNvPr id="198" name="Google Shape;198;p18"/>
          <p:cNvSpPr txBox="1"/>
          <p:nvPr/>
        </p:nvSpPr>
        <p:spPr>
          <a:xfrm>
            <a:off x="6816097" y="2755459"/>
            <a:ext cx="4610991" cy="1804340"/>
          </a:xfrm>
          <a:prstGeom prst="rect">
            <a:avLst/>
          </a:prstGeom>
          <a:noFill/>
          <a:ln>
            <a:noFill/>
          </a:ln>
        </p:spPr>
        <p:txBody>
          <a:bodyPr spcFirstLastPara="1" wrap="square" lIns="0" tIns="0" rIns="0" bIns="0" anchor="t" anchorCtr="0">
            <a:spAutoFit/>
          </a:bodyPr>
          <a:lstStyle/>
          <a:p>
            <a:pPr lvl="0"/>
            <a:r>
              <a:rPr lang="it-IT" sz="1600" b="1" dirty="0" err="1">
                <a:solidFill>
                  <a:srgbClr val="002060"/>
                </a:solidFill>
                <a:latin typeface="Plus Jakarta Sans" panose="020B0604020202020204" charset="0"/>
                <a:cs typeface="Plus Jakarta Sans" panose="020B0604020202020204" charset="0"/>
              </a:rPr>
              <a:t>Aspect</a:t>
            </a:r>
            <a:r>
              <a:rPr lang="it-IT" sz="1600" b="1" dirty="0">
                <a:solidFill>
                  <a:srgbClr val="002060"/>
                </a:solidFill>
                <a:latin typeface="Plus Jakarta Sans" panose="020B0604020202020204" charset="0"/>
                <a:cs typeface="Plus Jakarta Sans" panose="020B0604020202020204" charset="0"/>
              </a:rPr>
              <a:t> Ratio </a:t>
            </a:r>
            <a:r>
              <a:rPr lang="it-IT" sz="1600" b="1" dirty="0" err="1">
                <a:solidFill>
                  <a:srgbClr val="002060"/>
                </a:solidFill>
                <a:latin typeface="Plus Jakarta Sans" panose="020B0604020202020204" charset="0"/>
                <a:cs typeface="Plus Jakarta Sans" panose="020B0604020202020204" charset="0"/>
              </a:rPr>
              <a:t>Correction</a:t>
            </a:r>
            <a:endParaRPr lang="it-IT" sz="1600" b="1" dirty="0">
              <a:solidFill>
                <a:srgbClr val="002060"/>
              </a:solidFill>
              <a:latin typeface="Plus Jakarta Sans" panose="020B0604020202020204" charset="0"/>
              <a:cs typeface="Plus Jakarta Sans" panose="020B0604020202020204" charset="0"/>
            </a:endParaRPr>
          </a:p>
          <a:p>
            <a:pPr lvl="0">
              <a:lnSpc>
                <a:spcPct val="150000"/>
              </a:lnSpc>
            </a:pPr>
            <a:r>
              <a:rPr lang="it-IT" sz="1350" dirty="0" err="1">
                <a:latin typeface="Plus Jakarta Sans" panose="020B0604020202020204" charset="0"/>
                <a:cs typeface="Plus Jakarta Sans" panose="020B0604020202020204" charset="0"/>
              </a:rPr>
              <a:t>Prevents</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angular</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distortion</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caused</a:t>
            </a:r>
            <a:r>
              <a:rPr lang="it-IT" sz="1350" dirty="0">
                <a:latin typeface="Plus Jakarta Sans" panose="020B0604020202020204" charset="0"/>
                <a:cs typeface="Plus Jakarta Sans" panose="020B0604020202020204" charset="0"/>
              </a:rPr>
              <a:t> by </a:t>
            </a:r>
            <a:r>
              <a:rPr lang="it-IT" sz="1350" dirty="0" err="1">
                <a:latin typeface="Plus Jakarta Sans" panose="020B0604020202020204" charset="0"/>
                <a:cs typeface="Plus Jakarta Sans" panose="020B0604020202020204" charset="0"/>
              </a:rPr>
              <a:t>Earth's</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sphericity</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Enforces</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metric</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proportionality</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directly</a:t>
            </a:r>
            <a:r>
              <a:rPr lang="it-IT" sz="1350" dirty="0">
                <a:latin typeface="Plus Jakarta Sans" panose="020B0604020202020204" charset="0"/>
                <a:cs typeface="Plus Jakarta Sans" panose="020B0604020202020204" charset="0"/>
              </a:rPr>
              <a:t> on the 3D </a:t>
            </a:r>
            <a:r>
              <a:rPr lang="it-IT" sz="1350" dirty="0" err="1">
                <a:latin typeface="Plus Jakarta Sans" panose="020B0604020202020204" charset="0"/>
                <a:cs typeface="Plus Jakarta Sans" panose="020B0604020202020204" charset="0"/>
              </a:rPr>
              <a:t>bounding</a:t>
            </a:r>
            <a:r>
              <a:rPr lang="it-IT" sz="1350" dirty="0">
                <a:latin typeface="Plus Jakarta Sans" panose="020B0604020202020204" charset="0"/>
                <a:cs typeface="Plus Jakarta Sans" panose="020B0604020202020204" charset="0"/>
              </a:rPr>
              <a:t> box </a:t>
            </a:r>
            <a:r>
              <a:rPr lang="it-IT" sz="1350" dirty="0" err="1">
                <a:latin typeface="Plus Jakarta Sans" panose="020B0604020202020204" charset="0"/>
                <a:cs typeface="Plus Jakarta Sans" panose="020B0604020202020204" charset="0"/>
              </a:rPr>
              <a:t>through</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aspect</a:t>
            </a:r>
            <a:r>
              <a:rPr lang="it-IT" sz="1350" dirty="0">
                <a:latin typeface="Plus Jakarta Sans" panose="020B0604020202020204" charset="0"/>
                <a:cs typeface="Plus Jakarta Sans" panose="020B0604020202020204" charset="0"/>
              </a:rPr>
              <a:t> ratio scaling.</a:t>
            </a:r>
          </a:p>
          <a:p>
            <a:pPr lvl="0">
              <a:lnSpc>
                <a:spcPct val="150000"/>
              </a:lnSpc>
            </a:pPr>
            <a:r>
              <a:rPr lang="it-IT" sz="1350" dirty="0">
                <a:latin typeface="Plus Jakarta Sans" panose="020B0604020202020204" charset="0"/>
                <a:cs typeface="Plus Jakarta Sans" panose="020B0604020202020204" charset="0"/>
              </a:rPr>
              <a:t>1 km </a:t>
            </a:r>
            <a:r>
              <a:rPr lang="it-IT" sz="1350" dirty="0" err="1">
                <a:latin typeface="Plus Jakarta Sans" panose="020B0604020202020204" charset="0"/>
                <a:cs typeface="Plus Jakarta Sans" panose="020B0604020202020204" charset="0"/>
              </a:rPr>
              <a:t>along</a:t>
            </a:r>
            <a:r>
              <a:rPr lang="it-IT" sz="1350" dirty="0">
                <a:latin typeface="Plus Jakarta Sans" panose="020B0604020202020204" charset="0"/>
                <a:cs typeface="Plus Jakarta Sans" panose="020B0604020202020204" charset="0"/>
              </a:rPr>
              <a:t> X, Y, and Z </a:t>
            </a:r>
            <a:r>
              <a:rPr lang="it-IT" sz="1350" dirty="0" err="1">
                <a:latin typeface="Plus Jakarta Sans" panose="020B0604020202020204" charset="0"/>
                <a:cs typeface="Plus Jakarta Sans" panose="020B0604020202020204" charset="0"/>
              </a:rPr>
              <a:t>renders</a:t>
            </a:r>
            <a:r>
              <a:rPr lang="it-IT" sz="1350" dirty="0">
                <a:latin typeface="Plus Jakarta Sans" panose="020B0604020202020204" charset="0"/>
                <a:cs typeface="Plus Jakarta Sans" panose="020B0604020202020204" charset="0"/>
              </a:rPr>
              <a:t> with </a:t>
            </a:r>
            <a:r>
              <a:rPr lang="it-IT" sz="1350" dirty="0" err="1">
                <a:latin typeface="Plus Jakarta Sans" panose="020B0604020202020204" charset="0"/>
                <a:cs typeface="Plus Jakarta Sans" panose="020B0604020202020204" charset="0"/>
              </a:rPr>
              <a:t>identical</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physical</a:t>
            </a:r>
            <a:r>
              <a:rPr lang="it-IT" sz="1350" dirty="0">
                <a:latin typeface="Plus Jakarta Sans" panose="020B0604020202020204" charset="0"/>
                <a:cs typeface="Plus Jakarta Sans" panose="020B0604020202020204" charset="0"/>
              </a:rPr>
              <a:t> </a:t>
            </a:r>
            <a:r>
              <a:rPr lang="it-IT" sz="1350" dirty="0" err="1">
                <a:latin typeface="Plus Jakarta Sans" panose="020B0604020202020204" charset="0"/>
                <a:cs typeface="Plus Jakarta Sans" panose="020B0604020202020204" charset="0"/>
              </a:rPr>
              <a:t>proportions</a:t>
            </a:r>
            <a:r>
              <a:rPr lang="it-IT" sz="1350" dirty="0">
                <a:latin typeface="Plus Jakarta Sans" panose="020B0604020202020204" charset="0"/>
                <a:cs typeface="Plus Jakarta Sans" panose="020B0604020202020204" charset="0"/>
              </a:rPr>
              <a:t>.</a:t>
            </a:r>
            <a:endParaRPr sz="1350" dirty="0">
              <a:latin typeface="Plus Jakarta Sans" panose="020B0604020202020204" charset="0"/>
              <a:cs typeface="Plus Jakarta Sans" panose="020B0604020202020204" charset="0"/>
            </a:endParaRPr>
          </a:p>
        </p:txBody>
      </p:sp>
      <p:sp>
        <p:nvSpPr>
          <p:cNvPr id="200" name="Google Shape;200;p18"/>
          <p:cNvSpPr txBox="1"/>
          <p:nvPr/>
        </p:nvSpPr>
        <p:spPr>
          <a:xfrm>
            <a:off x="6849764" y="4877806"/>
            <a:ext cx="4610991" cy="1258037"/>
          </a:xfrm>
          <a:prstGeom prst="rect">
            <a:avLst/>
          </a:prstGeom>
          <a:noFill/>
          <a:ln>
            <a:noFill/>
          </a:ln>
        </p:spPr>
        <p:txBody>
          <a:bodyPr spcFirstLastPara="1" wrap="square" lIns="0" tIns="0" rIns="0" bIns="0" anchor="t" anchorCtr="0">
            <a:spAutoFit/>
          </a:bodyPr>
          <a:lstStyle/>
          <a:p>
            <a:pPr>
              <a:spcAft>
                <a:spcPts val="600"/>
              </a:spcAft>
              <a:defRPr sz="1350">
                <a:solidFill>
                  <a:srgbClr val="1C1819"/>
                </a:solidFill>
              </a:defRPr>
            </a:pPr>
            <a:r>
              <a:rPr lang="it-IT" sz="1600" b="1" dirty="0" err="1">
                <a:solidFill>
                  <a:srgbClr val="467440"/>
                </a:solidFill>
                <a:latin typeface="Plus Jakarta Sans" panose="020B0604020202020204" charset="0"/>
                <a:cs typeface="Plus Jakarta Sans" panose="020B0604020202020204" charset="0"/>
              </a:rPr>
              <a:t>Viewpoint</a:t>
            </a:r>
            <a:r>
              <a:rPr lang="it-IT" sz="1600" b="1" dirty="0">
                <a:solidFill>
                  <a:srgbClr val="467440"/>
                </a:solidFill>
                <a:latin typeface="Plus Jakarta Sans" panose="020B0604020202020204" charset="0"/>
                <a:cs typeface="Plus Jakarta Sans" panose="020B0604020202020204" charset="0"/>
              </a:rPr>
              <a:t> </a:t>
            </a:r>
            <a:r>
              <a:rPr lang="it-IT" sz="1600" b="1" dirty="0" err="1">
                <a:solidFill>
                  <a:srgbClr val="467440"/>
                </a:solidFill>
                <a:latin typeface="Plus Jakarta Sans" panose="020B0604020202020204" charset="0"/>
                <a:cs typeface="Plus Jakarta Sans" panose="020B0604020202020204" charset="0"/>
              </a:rPr>
              <a:t>Persistence</a:t>
            </a:r>
            <a:r>
              <a:rPr lang="it-IT" sz="1600" b="1" dirty="0">
                <a:solidFill>
                  <a:srgbClr val="467440"/>
                </a:solidFill>
                <a:latin typeface="Plus Jakarta Sans" panose="020B0604020202020204" charset="0"/>
                <a:cs typeface="Plus Jakarta Sans" panose="020B0604020202020204" charset="0"/>
              </a:rPr>
              <a:t> </a:t>
            </a:r>
            <a:endParaRPr lang="it-IT" sz="1600" dirty="0">
              <a:solidFill>
                <a:srgbClr val="467440"/>
              </a:solidFill>
              <a:latin typeface="Plus Jakarta Sans" panose="020B0604020202020204" charset="0"/>
              <a:cs typeface="Plus Jakarta Sans" panose="020B0604020202020204" charset="0"/>
            </a:endParaRPr>
          </a:p>
          <a:p>
            <a:pPr>
              <a:lnSpc>
                <a:spcPct val="150000"/>
              </a:lnSpc>
              <a:defRPr sz="1350">
                <a:solidFill>
                  <a:srgbClr val="1C1819"/>
                </a:solidFill>
              </a:defRPr>
            </a:pPr>
            <a:r>
              <a:rPr lang="it-IT" sz="1350" dirty="0" err="1">
                <a:solidFill>
                  <a:srgbClr val="1C1819"/>
                </a:solidFill>
                <a:latin typeface="Plus Jakarta Sans" panose="020B0604020202020204" charset="0"/>
                <a:cs typeface="Plus Jakarta Sans" panose="020B0604020202020204" charset="0"/>
              </a:rPr>
              <a:t>Maintains</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azimuth</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elevation</a:t>
            </a:r>
            <a:r>
              <a:rPr lang="it-IT" sz="1350" dirty="0">
                <a:solidFill>
                  <a:srgbClr val="1C1819"/>
                </a:solidFill>
                <a:latin typeface="Plus Jakarta Sans" panose="020B0604020202020204" charset="0"/>
                <a:cs typeface="Plus Jakarta Sans" panose="020B0604020202020204" charset="0"/>
              </a:rPr>
              <a:t>, and zoom </a:t>
            </a:r>
            <a:r>
              <a:rPr lang="it-IT" sz="1350" dirty="0" err="1">
                <a:solidFill>
                  <a:srgbClr val="1C1819"/>
                </a:solidFill>
                <a:latin typeface="Plus Jakarta Sans" panose="020B0604020202020204" charset="0"/>
                <a:cs typeface="Plus Jakarta Sans" panose="020B0604020202020204" charset="0"/>
              </a:rPr>
              <a:t>coordinates</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across</a:t>
            </a:r>
            <a:r>
              <a:rPr lang="it-IT" sz="1350" dirty="0">
                <a:solidFill>
                  <a:srgbClr val="1C1819"/>
                </a:solidFill>
                <a:latin typeface="Plus Jakarta Sans" panose="020B0604020202020204" charset="0"/>
                <a:cs typeface="Plus Jakarta Sans" panose="020B0604020202020204" charset="0"/>
              </a:rPr>
              <a:t> filter and </a:t>
            </a:r>
            <a:r>
              <a:rPr lang="it-IT" sz="1350" dirty="0" err="1">
                <a:solidFill>
                  <a:srgbClr val="1C1819"/>
                </a:solidFill>
                <a:latin typeface="Plus Jakarta Sans" panose="020B0604020202020204" charset="0"/>
                <a:cs typeface="Plus Jakarta Sans" panose="020B0604020202020204" charset="0"/>
              </a:rPr>
              <a:t>parameter</a:t>
            </a:r>
            <a:r>
              <a:rPr lang="it-IT" sz="1350" dirty="0">
                <a:solidFill>
                  <a:srgbClr val="1C1819"/>
                </a:solidFill>
                <a:latin typeface="Plus Jakarta Sans" panose="020B0604020202020204" charset="0"/>
                <a:cs typeface="Plus Jakarta Sans" panose="020B0604020202020204" charset="0"/>
              </a:rPr>
              <a:t> updates via:</a:t>
            </a:r>
          </a:p>
          <a:p>
            <a:pPr>
              <a:lnSpc>
                <a:spcPct val="150000"/>
              </a:lnSpc>
              <a:defRPr sz="1350">
                <a:solidFill>
                  <a:srgbClr val="1C1819"/>
                </a:solidFill>
              </a:defRPr>
            </a:pPr>
            <a:r>
              <a:rPr lang="it-IT" sz="1350" dirty="0" err="1">
                <a:solidFill>
                  <a:srgbClr val="1C1819"/>
                </a:solidFill>
                <a:latin typeface="Plus Jakarta Sans" panose="020B0604020202020204" charset="0"/>
                <a:cs typeface="Plus Jakarta Sans" panose="020B0604020202020204" charset="0"/>
              </a:rPr>
              <a:t>Plotly</a:t>
            </a:r>
            <a:r>
              <a:rPr lang="it-IT" sz="1350" dirty="0">
                <a:solidFill>
                  <a:srgbClr val="1C1819"/>
                </a:solidFill>
                <a:latin typeface="Plus Jakarta Sans" panose="020B0604020202020204" charset="0"/>
                <a:cs typeface="Plus Jakarta Sans" panose="020B0604020202020204" charset="0"/>
              </a:rPr>
              <a:t> </a:t>
            </a:r>
            <a:r>
              <a:rPr lang="it-IT" sz="1350" dirty="0" err="1">
                <a:solidFill>
                  <a:srgbClr val="1C1819"/>
                </a:solidFill>
                <a:latin typeface="Plus Jakarta Sans" panose="020B0604020202020204" charset="0"/>
                <a:cs typeface="Plus Jakarta Sans" panose="020B0604020202020204" charset="0"/>
              </a:rPr>
              <a:t>uirevision</a:t>
            </a:r>
            <a:r>
              <a:rPr lang="it-IT" sz="1350" dirty="0">
                <a:solidFill>
                  <a:srgbClr val="1C1819"/>
                </a:solidFill>
                <a:latin typeface="Plus Jakarta Sans" panose="020B0604020202020204" charset="0"/>
                <a:cs typeface="Plus Jakarta Sans" panose="020B0604020202020204" charset="0"/>
              </a:rPr>
              <a:t> = '</a:t>
            </a:r>
            <a:r>
              <a:rPr lang="it-IT" sz="1350" dirty="0" err="1">
                <a:solidFill>
                  <a:srgbClr val="1C1819"/>
                </a:solidFill>
                <a:latin typeface="Plus Jakarta Sans" panose="020B0604020202020204" charset="0"/>
                <a:cs typeface="Plus Jakarta Sans" panose="020B0604020202020204" charset="0"/>
              </a:rPr>
              <a:t>constant</a:t>
            </a:r>
            <a:r>
              <a:rPr lang="it-IT" sz="1350" dirty="0">
                <a:solidFill>
                  <a:srgbClr val="1C1819"/>
                </a:solidFill>
                <a:latin typeface="Plus Jakarta Sans" panose="020B0604020202020204" charset="0"/>
                <a:cs typeface="Plus Jakarta Sans" panose="020B0604020202020204" charset="0"/>
              </a:rPr>
              <a:t>'.</a:t>
            </a:r>
            <a:endParaRPr dirty="0">
              <a:latin typeface="Plus Jakarta Sans" panose="020B0604020202020204" charset="0"/>
              <a:cs typeface="Plus Jakarta Sans" panose="020B0604020202020204" charset="0"/>
            </a:endParaRPr>
          </a:p>
        </p:txBody>
      </p:sp>
      <p:pic>
        <p:nvPicPr>
          <p:cNvPr id="201" name="Picture 200"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202"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7C57F544-8A9F-1D21-DFE9-7F50C31F55EF}"/>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Immagine 3">
            <a:extLst>
              <a:ext uri="{FF2B5EF4-FFF2-40B4-BE49-F238E27FC236}">
                <a16:creationId xmlns:a16="http://schemas.microsoft.com/office/drawing/2014/main" id="{56B7850C-0FCC-7C08-99FE-357B55B6F2D2}"/>
              </a:ext>
            </a:extLst>
          </p:cNvPr>
          <p:cNvPicPr>
            <a:picLocks noChangeAspect="1"/>
          </p:cNvPicPr>
          <p:nvPr/>
        </p:nvPicPr>
        <p:blipFill>
          <a:blip r:embed="rId5"/>
          <a:stretch>
            <a:fillRect/>
          </a:stretch>
        </p:blipFill>
        <p:spPr>
          <a:xfrm>
            <a:off x="-1097546" y="4907403"/>
            <a:ext cx="9290322" cy="21579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27"/>
        <p:cNvGrpSpPr/>
        <p:nvPr/>
      </p:nvGrpSpPr>
      <p:grpSpPr>
        <a:xfrm>
          <a:off x="0" y="0"/>
          <a:ext cx="0" cy="0"/>
          <a:chOff x="0" y="0"/>
          <a:chExt cx="0" cy="0"/>
        </a:xfrm>
      </p:grpSpPr>
      <p:sp>
        <p:nvSpPr>
          <p:cNvPr id="228" name="Google Shape;228;p20"/>
          <p:cNvSpPr/>
          <p:nvPr/>
        </p:nvSpPr>
        <p:spPr>
          <a:xfrm>
            <a:off x="6672072" y="1249575"/>
            <a:ext cx="5141976" cy="1619926"/>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29" name="Google Shape;229;p20"/>
          <p:cNvSpPr/>
          <p:nvPr/>
        </p:nvSpPr>
        <p:spPr>
          <a:xfrm>
            <a:off x="6672072" y="3825464"/>
            <a:ext cx="5141976" cy="1539815"/>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p20"/>
          <p:cNvSpPr txBox="1"/>
          <p:nvPr/>
        </p:nvSpPr>
        <p:spPr>
          <a:xfrm>
            <a:off x="609600" y="371187"/>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MULTI-LAYER GEOPHYSICS</a:t>
            </a:r>
            <a:endParaRPr/>
          </a:p>
        </p:txBody>
      </p:sp>
      <p:sp>
        <p:nvSpPr>
          <p:cNvPr id="234" name="Google Shape;234;p20"/>
          <p:cNvSpPr txBox="1"/>
          <p:nvPr/>
        </p:nvSpPr>
        <p:spPr>
          <a:xfrm>
            <a:off x="609600" y="573553"/>
            <a:ext cx="6184392"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3D Tomography</a:t>
            </a:r>
            <a:r>
              <a:rPr lang="en-US" sz="2600" b="1" dirty="0">
                <a:solidFill>
                  <a:srgbClr val="822433"/>
                </a:solidFill>
                <a:latin typeface="Cinzel"/>
                <a:ea typeface="Cinzel"/>
                <a:cs typeface="Cinzel"/>
                <a:sym typeface="Cinzel"/>
              </a:rPr>
              <a:t> &amp;</a:t>
            </a:r>
            <a:r>
              <a:rPr lang="en-US" sz="2600" b="1" i="0" u="none" strike="noStrike" cap="none" dirty="0">
                <a:solidFill>
                  <a:srgbClr val="822433"/>
                </a:solidFill>
                <a:latin typeface="Cinzel"/>
                <a:ea typeface="Cinzel"/>
                <a:cs typeface="Cinzel"/>
                <a:sym typeface="Cinzel"/>
              </a:rPr>
              <a:t> Ground Uplift</a:t>
            </a:r>
            <a:endParaRPr dirty="0"/>
          </a:p>
        </p:txBody>
      </p:sp>
      <p:sp>
        <p:nvSpPr>
          <p:cNvPr id="235" name="Google Shape;235;p20"/>
          <p:cNvSpPr txBox="1"/>
          <p:nvPr/>
        </p:nvSpPr>
        <p:spPr>
          <a:xfrm>
            <a:off x="6872097" y="1484827"/>
            <a:ext cx="4109847" cy="24622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600" b="1" i="0" u="none" strike="noStrike" cap="none" dirty="0" err="1">
                <a:solidFill>
                  <a:srgbClr val="822433"/>
                </a:solidFill>
                <a:latin typeface="Plus Jakarta Sans"/>
                <a:ea typeface="Plus Jakarta Sans"/>
                <a:cs typeface="Plus Jakarta Sans"/>
                <a:sym typeface="Plus Jakarta Sans"/>
              </a:rPr>
              <a:t>Vp</a:t>
            </a:r>
            <a:r>
              <a:rPr lang="en-US" sz="1600" b="1" i="0" u="none" strike="noStrike" cap="none" dirty="0">
                <a:solidFill>
                  <a:srgbClr val="822433"/>
                </a:solidFill>
                <a:latin typeface="Plus Jakarta Sans"/>
                <a:ea typeface="Plus Jakarta Sans"/>
                <a:cs typeface="Plus Jakarta Sans"/>
                <a:sym typeface="Plus Jakarta Sans"/>
              </a:rPr>
              <a:t>/Vs Seismic Tomography</a:t>
            </a:r>
            <a:endParaRPr sz="1800" dirty="0"/>
          </a:p>
        </p:txBody>
      </p:sp>
      <p:sp>
        <p:nvSpPr>
          <p:cNvPr id="236" name="Google Shape;236;p20"/>
          <p:cNvSpPr txBox="1"/>
          <p:nvPr/>
        </p:nvSpPr>
        <p:spPr>
          <a:xfrm>
            <a:off x="6872097" y="1796830"/>
            <a:ext cx="4859655" cy="830997"/>
          </a:xfrm>
          <a:prstGeom prst="rect">
            <a:avLst/>
          </a:prstGeom>
          <a:noFill/>
          <a:ln>
            <a:noFill/>
          </a:ln>
        </p:spPr>
        <p:txBody>
          <a:bodyPr spcFirstLastPara="1" wrap="square" lIns="0" tIns="0" rIns="0" bIns="0" anchor="t" anchorCtr="0">
            <a:spAutoFit/>
          </a:bodyPr>
          <a:lstStyle/>
          <a:p>
            <a:pPr lvl="0">
              <a:lnSpc>
                <a:spcPct val="150000"/>
              </a:lnSpc>
              <a:defRPr b="0">
                <a:solidFill>
                  <a:srgbClr val="2D2628"/>
                </a:solidFill>
              </a:defRPr>
            </a:pPr>
            <a:r>
              <a:rPr lang="it-IT" sz="1200" dirty="0" err="1">
                <a:solidFill>
                  <a:srgbClr val="2D2628"/>
                </a:solidFill>
                <a:latin typeface="Plus Jakarta Sans" panose="020B0604020202020204" charset="0"/>
                <a:cs typeface="Plus Jakarta Sans" panose="020B0604020202020204" charset="0"/>
              </a:rPr>
              <a:t>Converts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tomographic</a:t>
            </a:r>
            <a:r>
              <a:rPr lang="it-IT" sz="1200" dirty="0">
                <a:solidFill>
                  <a:srgbClr val="2D2628"/>
                </a:solidFill>
                <a:latin typeface="Plus Jakarta Sans" panose="020B0604020202020204" charset="0"/>
                <a:cs typeface="Plus Jakarta Sans" panose="020B0604020202020204" charset="0"/>
              </a:rPr>
              <a:t> data </a:t>
            </a:r>
            <a:r>
              <a:rPr lang="it-IT" sz="1200" dirty="0" err="1">
                <a:solidFill>
                  <a:srgbClr val="2D2628"/>
                </a:solidFill>
                <a:latin typeface="Plus Jakarta Sans" panose="020B0604020202020204" charset="0"/>
                <a:cs typeface="Plus Jakarta Sans" panose="020B0604020202020204" charset="0"/>
              </a:rPr>
              <a:t>into</a:t>
            </a:r>
            <a:r>
              <a:rPr lang="it-IT" sz="1200" dirty="0">
                <a:solidFill>
                  <a:srgbClr val="2D2628"/>
                </a:solidFill>
                <a:latin typeface="Plus Jakarta Sans" panose="020B0604020202020204" charset="0"/>
                <a:cs typeface="Plus Jakarta Sans" panose="020B0604020202020204" charset="0"/>
              </a:rPr>
              <a:t> a </a:t>
            </a:r>
            <a:r>
              <a:rPr lang="en-US" sz="1200" dirty="0">
                <a:solidFill>
                  <a:srgbClr val="2D2628"/>
                </a:solidFill>
                <a:latin typeface="Plus Jakarta Sans"/>
                <a:ea typeface="Plus Jakarta Sans"/>
                <a:cs typeface="Plus Jakarta Sans"/>
                <a:sym typeface="Plus Jakarta Sans"/>
              </a:rPr>
              <a:t>3D</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grid</a:t>
            </a:r>
            <a:r>
              <a:rPr lang="it-IT" sz="1200" dirty="0">
                <a:solidFill>
                  <a:srgbClr val="2D2628"/>
                </a:solidFill>
                <a:latin typeface="Plus Jakarta Sans" panose="020B0604020202020204" charset="0"/>
                <a:cs typeface="Plus Jakarta Sans" panose="020B0604020202020204" charset="0"/>
              </a:rPr>
              <a:t> via </a:t>
            </a:r>
            <a:r>
              <a:rPr lang="en-US" sz="1200" b="0" i="0" u="none" strike="noStrike" cap="none" dirty="0">
                <a:solidFill>
                  <a:srgbClr val="2D2628"/>
                </a:solidFill>
                <a:latin typeface="Plus Jakarta Sans"/>
                <a:ea typeface="Plus Jakarta Sans"/>
                <a:cs typeface="Plus Jakarta Sans"/>
                <a:sym typeface="Plus Jakarta Sans"/>
              </a:rPr>
              <a:t>Inverse Distance Weighting (p=2 and k=16 nearest </a:t>
            </a:r>
            <a:r>
              <a:rPr lang="it-IT" sz="1200" dirty="0" err="1">
                <a:solidFill>
                  <a:srgbClr val="2D2628"/>
                </a:solidFill>
                <a:latin typeface="Plus Jakarta Sans" panose="020B0604020202020204" charset="0"/>
                <a:cs typeface="Plus Jakarta Sans" panose="020B0604020202020204" charset="0"/>
              </a:rPr>
              <a:t>neighbours</a:t>
            </a:r>
            <a:r>
              <a:rPr lang="en-US" sz="1200" b="0" i="0" u="none" strike="noStrike" cap="none" dirty="0">
                <a:solidFill>
                  <a:srgbClr val="2D2628"/>
                </a:solidFill>
                <a:latin typeface="Plus Jakarta Sans"/>
                <a:ea typeface="Plus Jakarta Sans"/>
                <a:cs typeface="Plus Jakarta Sans"/>
                <a:sym typeface="Plus Jakarta Sans"/>
              </a:rPr>
              <a:t>)  volumetric grid with Gaussian decay blending toward crustal baseline .</a:t>
            </a:r>
            <a:endParaRPr sz="1200" dirty="0"/>
          </a:p>
        </p:txBody>
      </p:sp>
      <p:sp>
        <p:nvSpPr>
          <p:cNvPr id="237" name="Google Shape;237;p20"/>
          <p:cNvSpPr txBox="1"/>
          <p:nvPr/>
        </p:nvSpPr>
        <p:spPr>
          <a:xfrm>
            <a:off x="6872097" y="4019781"/>
            <a:ext cx="3140583" cy="1962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GNSS Ground Uplift Columns</a:t>
            </a:r>
            <a:endParaRPr dirty="0"/>
          </a:p>
        </p:txBody>
      </p:sp>
      <p:sp>
        <p:nvSpPr>
          <p:cNvPr id="238" name="Google Shape;238;p20"/>
          <p:cNvSpPr txBox="1"/>
          <p:nvPr/>
        </p:nvSpPr>
        <p:spPr>
          <a:xfrm>
            <a:off x="6872097" y="4292189"/>
            <a:ext cx="4798068" cy="830997"/>
          </a:xfrm>
          <a:prstGeom prst="rect">
            <a:avLst/>
          </a:prstGeom>
          <a:noFill/>
          <a:ln>
            <a:noFill/>
          </a:ln>
        </p:spPr>
        <p:txBody>
          <a:bodyPr spcFirstLastPara="1" wrap="square" lIns="0" tIns="0" rIns="0" bIns="0" anchor="t" anchorCtr="0">
            <a:spAutoFit/>
          </a:bodyPr>
          <a:lstStyle/>
          <a:p>
            <a:pPr lvl="0">
              <a:lnSpc>
                <a:spcPct val="150000"/>
              </a:lnSpc>
              <a:defRPr b="0">
                <a:solidFill>
                  <a:srgbClr val="2D2628"/>
                </a:solidFill>
              </a:defRPr>
            </a:pPr>
            <a:r>
              <a:rPr lang="it-IT" sz="1200" dirty="0">
                <a:solidFill>
                  <a:srgbClr val="2D2628"/>
                </a:solidFill>
                <a:latin typeface="Plus Jakarta Sans" panose="020B0604020202020204" charset="0"/>
                <a:cs typeface="Plus Jakarta Sans" panose="020B0604020202020204" charset="0"/>
              </a:rPr>
              <a:t>Ingests </a:t>
            </a:r>
            <a:r>
              <a:rPr lang="it-IT" sz="1200" dirty="0" err="1">
                <a:solidFill>
                  <a:srgbClr val="2D2628"/>
                </a:solidFill>
                <a:latin typeface="Plus Jakarta Sans" panose="020B0604020202020204" charset="0"/>
                <a:cs typeface="Plus Jakarta Sans" panose="020B0604020202020204" charset="0"/>
              </a:rPr>
              <a:t>historical</a:t>
            </a:r>
            <a:r>
              <a:rPr lang="it-IT" sz="1200" dirty="0">
                <a:solidFill>
                  <a:srgbClr val="2D2628"/>
                </a:solidFill>
                <a:latin typeface="Plus Jakarta Sans" panose="020B0604020202020204" charset="0"/>
                <a:cs typeface="Plus Jakarta Sans" panose="020B0604020202020204" charset="0"/>
              </a:rPr>
              <a:t> GPS </a:t>
            </a:r>
            <a:r>
              <a:rPr lang="it-IT" sz="1200" dirty="0" err="1">
                <a:solidFill>
                  <a:srgbClr val="2D2628"/>
                </a:solidFill>
                <a:latin typeface="Plus Jakarta Sans" panose="020B0604020202020204" charset="0"/>
                <a:cs typeface="Plus Jakarta Sans" panose="020B0604020202020204" charset="0"/>
              </a:rPr>
              <a:t>deformation</a:t>
            </a:r>
            <a:r>
              <a:rPr lang="it-IT" sz="1200" dirty="0">
                <a:solidFill>
                  <a:srgbClr val="2D2628"/>
                </a:solidFill>
                <a:latin typeface="Plus Jakarta Sans" panose="020B0604020202020204" charset="0"/>
                <a:cs typeface="Plus Jakarta Sans" panose="020B0604020202020204" charset="0"/>
              </a:rPr>
              <a:t> time-</a:t>
            </a:r>
            <a:r>
              <a:rPr lang="it-IT" sz="1200" dirty="0" err="1">
                <a:solidFill>
                  <a:srgbClr val="2D2628"/>
                </a:solidFill>
                <a:latin typeface="Plus Jakarta Sans" panose="020B0604020202020204" charset="0"/>
                <a:cs typeface="Plus Jakarta Sans" panose="020B0604020202020204" charset="0"/>
              </a:rPr>
              <a:t>series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across</a:t>
            </a:r>
            <a:r>
              <a:rPr lang="it-IT" sz="1200" dirty="0">
                <a:solidFill>
                  <a:srgbClr val="2D2628"/>
                </a:solidFill>
                <a:latin typeface="Plus Jakarta Sans" panose="020B0604020202020204" charset="0"/>
                <a:cs typeface="Plus Jakarta Sans" panose="020B0604020202020204" charset="0"/>
              </a:rPr>
              <a:t> Campi Flegrei and </a:t>
            </a:r>
            <a:r>
              <a:rPr lang="it-IT" sz="1200" dirty="0" err="1">
                <a:solidFill>
                  <a:srgbClr val="2D2628"/>
                </a:solidFill>
                <a:latin typeface="Plus Jakarta Sans" panose="020B0604020202020204" charset="0"/>
                <a:cs typeface="Plus Jakarta Sans" panose="020B0604020202020204" charset="0"/>
              </a:rPr>
              <a:t>Interpolates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vertical</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displacements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onto</a:t>
            </a:r>
            <a:r>
              <a:rPr lang="it-IT" sz="1200" dirty="0">
                <a:solidFill>
                  <a:srgbClr val="2D2628"/>
                </a:solidFill>
                <a:latin typeface="Plus Jakarta Sans" panose="020B0604020202020204" charset="0"/>
                <a:cs typeface="Plus Jakarta Sans" panose="020B0604020202020204" charset="0"/>
              </a:rPr>
              <a:t> a </a:t>
            </a:r>
            <a:r>
              <a:rPr lang="it-IT" sz="1200" dirty="0" err="1">
                <a:solidFill>
                  <a:srgbClr val="2D2628"/>
                </a:solidFill>
                <a:latin typeface="Plus Jakarta Sans" panose="020B0604020202020204" charset="0"/>
                <a:cs typeface="Plus Jakarta Sans" panose="020B0604020202020204" charset="0"/>
              </a:rPr>
              <a:t>grid</a:t>
            </a:r>
            <a:r>
              <a:rPr lang="it-IT" sz="1200" dirty="0">
                <a:solidFill>
                  <a:srgbClr val="2D2628"/>
                </a:solidFill>
                <a:latin typeface="Plus Jakarta Sans" panose="020B0604020202020204" charset="0"/>
                <a:cs typeface="Plus Jakarta Sans" panose="020B0604020202020204" charset="0"/>
              </a:rPr>
              <a:t> (p=2.5) or </a:t>
            </a:r>
            <a:r>
              <a:rPr lang="it-IT" sz="1200" dirty="0" err="1">
                <a:solidFill>
                  <a:srgbClr val="2D2628"/>
                </a:solidFill>
                <a:latin typeface="Plus Jakarta Sans" panose="020B0604020202020204" charset="0"/>
                <a:cs typeface="Plus Jakarta Sans" panose="020B0604020202020204" charset="0"/>
              </a:rPr>
              <a:t>renders</a:t>
            </a:r>
            <a:r>
              <a:rPr lang="it-IT" sz="1200" dirty="0">
                <a:solidFill>
                  <a:srgbClr val="2D2628"/>
                </a:solidFill>
                <a:latin typeface="Plus Jakarta Sans" panose="020B0604020202020204" charset="0"/>
                <a:cs typeface="Plus Jakarta Sans" panose="020B0604020202020204" charset="0"/>
              </a:rPr>
              <a:t> explicit 3D </a:t>
            </a:r>
            <a:r>
              <a:rPr lang="it-IT" sz="1200" dirty="0" err="1">
                <a:solidFill>
                  <a:srgbClr val="2D2628"/>
                </a:solidFill>
                <a:latin typeface="Plus Jakarta Sans" panose="020B0604020202020204" charset="0"/>
                <a:cs typeface="Plus Jakarta Sans" panose="020B0604020202020204" charset="0"/>
              </a:rPr>
              <a:t>deformation</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columns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at</a:t>
            </a:r>
            <a:r>
              <a:rPr lang="it-IT" sz="1200" dirty="0">
                <a:solidFill>
                  <a:srgbClr val="2D2628"/>
                </a:solidFill>
                <a:latin typeface="Plus Jakarta Sans" panose="020B0604020202020204" charset="0"/>
                <a:cs typeface="Plus Jakarta Sans" panose="020B0604020202020204" charset="0"/>
              </a:rPr>
              <a:t> station </a:t>
            </a:r>
            <a:r>
              <a:rPr lang="it-IT" sz="1200" dirty="0" err="1">
                <a:solidFill>
                  <a:srgbClr val="2D2628"/>
                </a:solidFill>
                <a:latin typeface="Plus Jakarta Sans" panose="020B0604020202020204" charset="0"/>
                <a:cs typeface="Plus Jakarta Sans" panose="020B0604020202020204" charset="0"/>
              </a:rPr>
              <a:t>sites</a:t>
            </a:r>
            <a:r>
              <a:rPr lang="it-IT" sz="1200" dirty="0">
                <a:solidFill>
                  <a:srgbClr val="2D2628"/>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p:pic>
        <p:nvPicPr>
          <p:cNvPr id="240" name="Picture 239"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24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Google Shape;232;p20" descr="image.png">
            <a:extLst>
              <a:ext uri="{FF2B5EF4-FFF2-40B4-BE49-F238E27FC236}">
                <a16:creationId xmlns:a16="http://schemas.microsoft.com/office/drawing/2014/main" id="{B1A7FF85-69EB-0A2C-46E3-428B5F7DD841}"/>
              </a:ext>
            </a:extLst>
          </p:cNvPr>
          <p:cNvPicPr preferRelativeResize="0"/>
          <p:nvPr/>
        </p:nvPicPr>
        <p:blipFill rotWithShape="1">
          <a:blip r:embed="rId4">
            <a:alphaModFix/>
          </a:blip>
          <a:srcRect/>
          <a:stretch/>
        </p:blipFill>
        <p:spPr>
          <a:xfrm>
            <a:off x="1110027" y="1033094"/>
            <a:ext cx="3873452" cy="2606218"/>
          </a:xfrm>
          <a:prstGeom prst="rect">
            <a:avLst/>
          </a:prstGeom>
          <a:noFill/>
          <a:ln>
            <a:noFill/>
          </a:ln>
        </p:spPr>
      </p:pic>
      <p:sp>
        <p:nvSpPr>
          <p:cNvPr id="4" name="SapienzaTopStripe">
            <a:extLst>
              <a:ext uri="{FF2B5EF4-FFF2-40B4-BE49-F238E27FC236}">
                <a16:creationId xmlns:a16="http://schemas.microsoft.com/office/drawing/2014/main" id="{0C4EC909-3E05-F317-9402-5851EE2DD315}"/>
              </a:ext>
            </a:extLst>
          </p:cNvPr>
          <p:cNvSpPr/>
          <p:nvPr/>
        </p:nvSpPr>
        <p:spPr>
          <a:xfrm>
            <a:off x="0" y="68199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Immagine 5">
            <a:extLst>
              <a:ext uri="{FF2B5EF4-FFF2-40B4-BE49-F238E27FC236}">
                <a16:creationId xmlns:a16="http://schemas.microsoft.com/office/drawing/2014/main" id="{CDA0D929-2EE3-0BF0-BBBA-C4A003BEA808}"/>
              </a:ext>
            </a:extLst>
          </p:cNvPr>
          <p:cNvPicPr>
            <a:picLocks noChangeAspect="1"/>
          </p:cNvPicPr>
          <p:nvPr/>
        </p:nvPicPr>
        <p:blipFill>
          <a:blip r:embed="rId5"/>
          <a:stretch>
            <a:fillRect/>
          </a:stretch>
        </p:blipFill>
        <p:spPr>
          <a:xfrm>
            <a:off x="7916533" y="2360483"/>
            <a:ext cx="5282347" cy="1902893"/>
          </a:xfrm>
          <a:prstGeom prst="rect">
            <a:avLst/>
          </a:prstGeom>
        </p:spPr>
      </p:pic>
      <p:pic>
        <p:nvPicPr>
          <p:cNvPr id="8" name="Immagine 7">
            <a:extLst>
              <a:ext uri="{FF2B5EF4-FFF2-40B4-BE49-F238E27FC236}">
                <a16:creationId xmlns:a16="http://schemas.microsoft.com/office/drawing/2014/main" id="{96A21B14-0A5B-C55F-3246-4AC2DE06AF1B}"/>
              </a:ext>
            </a:extLst>
          </p:cNvPr>
          <p:cNvPicPr>
            <a:picLocks noChangeAspect="1"/>
          </p:cNvPicPr>
          <p:nvPr/>
        </p:nvPicPr>
        <p:blipFill>
          <a:blip r:embed="rId6"/>
          <a:stretch>
            <a:fillRect/>
          </a:stretch>
        </p:blipFill>
        <p:spPr>
          <a:xfrm>
            <a:off x="5805209" y="5145812"/>
            <a:ext cx="6993429" cy="1624458"/>
          </a:xfrm>
          <a:prstGeom prst="rect">
            <a:avLst/>
          </a:prstGeom>
        </p:spPr>
      </p:pic>
      <p:pic>
        <p:nvPicPr>
          <p:cNvPr id="10" name="Immagine 9">
            <a:extLst>
              <a:ext uri="{FF2B5EF4-FFF2-40B4-BE49-F238E27FC236}">
                <a16:creationId xmlns:a16="http://schemas.microsoft.com/office/drawing/2014/main" id="{55764D67-25B1-3794-8E97-8A5B15A7DCB8}"/>
              </a:ext>
            </a:extLst>
          </p:cNvPr>
          <p:cNvPicPr>
            <a:picLocks noChangeAspect="1"/>
          </p:cNvPicPr>
          <p:nvPr/>
        </p:nvPicPr>
        <p:blipFill>
          <a:blip r:embed="rId7"/>
          <a:stretch>
            <a:fillRect/>
          </a:stretch>
        </p:blipFill>
        <p:spPr>
          <a:xfrm>
            <a:off x="5205906" y="2677793"/>
            <a:ext cx="5421255" cy="1259268"/>
          </a:xfrm>
          <a:prstGeom prst="rect">
            <a:avLst/>
          </a:prstGeom>
        </p:spPr>
      </p:pic>
      <p:pic>
        <p:nvPicPr>
          <p:cNvPr id="12" name="Immagine 11">
            <a:extLst>
              <a:ext uri="{FF2B5EF4-FFF2-40B4-BE49-F238E27FC236}">
                <a16:creationId xmlns:a16="http://schemas.microsoft.com/office/drawing/2014/main" id="{C13285E5-CCDA-0B6D-E081-0248F2A77FAB}"/>
              </a:ext>
            </a:extLst>
          </p:cNvPr>
          <p:cNvPicPr>
            <a:picLocks noChangeAspect="1"/>
          </p:cNvPicPr>
          <p:nvPr/>
        </p:nvPicPr>
        <p:blipFill>
          <a:blip r:embed="rId8"/>
          <a:stretch>
            <a:fillRect/>
          </a:stretch>
        </p:blipFill>
        <p:spPr>
          <a:xfrm>
            <a:off x="1110026" y="3675066"/>
            <a:ext cx="3873453" cy="276090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04"/>
        <p:cNvGrpSpPr/>
        <p:nvPr/>
      </p:nvGrpSpPr>
      <p:grpSpPr>
        <a:xfrm>
          <a:off x="0" y="0"/>
          <a:ext cx="0" cy="0"/>
          <a:chOff x="0" y="0"/>
          <a:chExt cx="0" cy="0"/>
        </a:xfrm>
      </p:grpSpPr>
      <p:sp>
        <p:nvSpPr>
          <p:cNvPr id="205" name="Google Shape;205;p19"/>
          <p:cNvSpPr/>
          <p:nvPr/>
        </p:nvSpPr>
        <p:spPr>
          <a:xfrm>
            <a:off x="5079503" y="5520899"/>
            <a:ext cx="5910414" cy="1007035"/>
          </a:xfrm>
          <a:prstGeom prst="roundRect">
            <a:avLst>
              <a:gd name="adj" fmla="val 14893"/>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6" name="Google Shape;206;p19"/>
          <p:cNvSpPr/>
          <p:nvPr/>
        </p:nvSpPr>
        <p:spPr>
          <a:xfrm>
            <a:off x="609452" y="1493579"/>
            <a:ext cx="3530649" cy="1381840"/>
          </a:xfrm>
          <a:prstGeom prst="roundRect">
            <a:avLst>
              <a:gd name="adj" fmla="val 10687"/>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7" name="Google Shape;207;p19"/>
          <p:cNvSpPr/>
          <p:nvPr/>
        </p:nvSpPr>
        <p:spPr>
          <a:xfrm>
            <a:off x="609452" y="3125363"/>
            <a:ext cx="3530649" cy="1381840"/>
          </a:xfrm>
          <a:prstGeom prst="roundRect">
            <a:avLst>
              <a:gd name="adj" fmla="val 1068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08" name="Google Shape;208;p19"/>
          <p:cNvSpPr/>
          <p:nvPr/>
        </p:nvSpPr>
        <p:spPr>
          <a:xfrm>
            <a:off x="609451" y="4757146"/>
            <a:ext cx="3530649" cy="1616221"/>
          </a:xfrm>
          <a:prstGeom prst="roundRect">
            <a:avLst>
              <a:gd name="adj" fmla="val 1068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b="0" i="0" u="none" strike="noStrike" cap="none">
              <a:solidFill>
                <a:schemeClr val="dk1"/>
              </a:solidFill>
              <a:latin typeface="Plus Jakarta Sans" panose="020B0604020202020204" charset="0"/>
              <a:ea typeface="Calibri"/>
              <a:cs typeface="Plus Jakarta Sans" panose="020B0604020202020204" charset="0"/>
              <a:sym typeface="Calibri"/>
            </a:endParaRPr>
          </a:p>
        </p:txBody>
      </p:sp>
      <p:sp>
        <p:nvSpPr>
          <p:cNvPr id="214" name="Google Shape;214;p19"/>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dirty="0">
                <a:solidFill>
                  <a:srgbClr val="204060"/>
                </a:solidFill>
                <a:latin typeface="Plus Jakarta Sans"/>
                <a:ea typeface="Plus Jakarta Sans"/>
                <a:cs typeface="Plus Jakarta Sans"/>
                <a:sym typeface="Plus Jakarta Sans"/>
              </a:rPr>
              <a:t>APPLICATION WORKSPACE • 4D MODE</a:t>
            </a:r>
            <a:endParaRPr dirty="0"/>
          </a:p>
        </p:txBody>
      </p:sp>
      <p:sp>
        <p:nvSpPr>
          <p:cNvPr id="215" name="Google Shape;215;p19"/>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4D Temporal Animation &amp; Sequence Slicing</a:t>
            </a:r>
            <a:endParaRPr/>
          </a:p>
        </p:txBody>
      </p:sp>
      <p:sp>
        <p:nvSpPr>
          <p:cNvPr id="216" name="Google Shape;216;p19"/>
          <p:cNvSpPr txBox="1"/>
          <p:nvPr/>
        </p:nvSpPr>
        <p:spPr>
          <a:xfrm>
            <a:off x="809477" y="1862859"/>
            <a:ext cx="3187749" cy="83099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Shows seismic buildup from initial event to current timestamp, tracking cumulative stress release.</a:t>
            </a:r>
            <a:endParaRPr sz="1200" dirty="0">
              <a:latin typeface="Plus Jakarta Sans" panose="020B0604020202020204" charset="0"/>
              <a:cs typeface="Plus Jakarta Sans" panose="020B0604020202020204" charset="0"/>
            </a:endParaRPr>
          </a:p>
        </p:txBody>
      </p:sp>
      <p:sp>
        <p:nvSpPr>
          <p:cNvPr id="217" name="Google Shape;217;p19"/>
          <p:cNvSpPr txBox="1"/>
          <p:nvPr/>
        </p:nvSpPr>
        <p:spPr>
          <a:xfrm>
            <a:off x="828527" y="3531134"/>
            <a:ext cx="3187749" cy="830997"/>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defRPr sz="13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Moves a window of width W across time (one frame per occurrence day), isolating active </a:t>
            </a:r>
            <a:r>
              <a:rPr lang="en-US" sz="1200" b="0" i="0" u="none" strike="noStrike" cap="none" dirty="0" err="1">
                <a:solidFill>
                  <a:srgbClr val="1C1819"/>
                </a:solidFill>
                <a:latin typeface="Plus Jakarta Sans" panose="020B0604020202020204" charset="0"/>
                <a:ea typeface="Plus Jakarta Sans"/>
                <a:cs typeface="Plus Jakarta Sans" panose="020B0604020202020204" charset="0"/>
                <a:sym typeface="Plus Jakarta Sans"/>
              </a:rPr>
              <a:t>hypocentral</a:t>
            </a: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 migration fronts.</a:t>
            </a:r>
            <a:endParaRPr sz="1200" dirty="0">
              <a:latin typeface="Plus Jakarta Sans" panose="020B0604020202020204" charset="0"/>
              <a:cs typeface="Plus Jakarta Sans" panose="020B0604020202020204" charset="0"/>
            </a:endParaRPr>
          </a:p>
        </p:txBody>
      </p:sp>
      <p:sp>
        <p:nvSpPr>
          <p:cNvPr id="218" name="Google Shape;218;p19"/>
          <p:cNvSpPr txBox="1"/>
          <p:nvPr/>
        </p:nvSpPr>
        <p:spPr>
          <a:xfrm>
            <a:off x="828527" y="5140942"/>
            <a:ext cx="3187749" cy="1107996"/>
          </a:xfrm>
          <a:prstGeom prst="rect">
            <a:avLst/>
          </a:prstGeom>
          <a:noFill/>
          <a:ln>
            <a:noFill/>
          </a:ln>
        </p:spPr>
        <p:txBody>
          <a:bodyPr spcFirstLastPara="1" wrap="square" lIns="0" tIns="0" rIns="0" bIns="0" anchor="t" anchorCtr="0">
            <a:spAutoFit/>
          </a:bodyPr>
          <a:lstStyle/>
          <a:p>
            <a:pPr lvl="0">
              <a:lnSpc>
                <a:spcPct val="150000"/>
              </a:lnSpc>
              <a:defRPr sz="1350" b="0">
                <a:solidFill>
                  <a:srgbClr val="1C1819"/>
                </a:solidFill>
              </a:defRPr>
            </a:pPr>
            <a:r>
              <a:rPr lang="en-US" sz="1200" dirty="0">
                <a:solidFill>
                  <a:srgbClr val="1C1819"/>
                </a:solidFill>
                <a:latin typeface="Plus Jakarta Sans" panose="020B0604020202020204" charset="0"/>
                <a:ea typeface="Plus Jakarta Sans"/>
                <a:cs typeface="Plus Jakarta Sans" panose="020B0604020202020204" charset="0"/>
                <a:sym typeface="Plus Jakarta Sans"/>
              </a:rPr>
              <a:t>Moves a window of width W across time with a custom step. </a:t>
            </a:r>
            <a:r>
              <a:rPr lang="it-IT" sz="1200" dirty="0" err="1">
                <a:solidFill>
                  <a:srgbClr val="1C1819"/>
                </a:solidFill>
                <a:latin typeface="Plus Jakarta Sans" panose="020B0604020202020204" charset="0"/>
                <a:cs typeface="Plus Jakarta Sans" panose="020B0604020202020204" charset="0"/>
              </a:rPr>
              <a:t>Allows</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flexible</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temporal</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downsampling</a:t>
            </a:r>
            <a:r>
              <a:rPr lang="it-IT" sz="1200" dirty="0">
                <a:solidFill>
                  <a:srgbClr val="1C1819"/>
                </a:solidFill>
                <a:latin typeface="Plus Jakarta Sans" panose="020B0604020202020204" charset="0"/>
                <a:cs typeface="Plus Jakarta Sans" panose="020B0604020202020204" charset="0"/>
              </a:rPr>
              <a:t> and multi-day </a:t>
            </a:r>
            <a:r>
              <a:rPr lang="it-IT" sz="1200" dirty="0" err="1">
                <a:solidFill>
                  <a:srgbClr val="1C1819"/>
                </a:solidFill>
                <a:latin typeface="Plus Jakarta Sans" panose="020B0604020202020204" charset="0"/>
                <a:cs typeface="Plus Jakarta Sans" panose="020B0604020202020204" charset="0"/>
              </a:rPr>
              <a:t>epoch</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comparisons</a:t>
            </a:r>
            <a:endParaRPr lang="en-US" sz="1200" dirty="0">
              <a:latin typeface="Plus Jakarta Sans" panose="020B0604020202020204" charset="0"/>
              <a:cs typeface="Plus Jakarta Sans" panose="020B0604020202020204" charset="0"/>
            </a:endParaRPr>
          </a:p>
        </p:txBody>
      </p:sp>
      <p:sp>
        <p:nvSpPr>
          <p:cNvPr id="219" name="Google Shape;219;p19"/>
          <p:cNvSpPr txBox="1"/>
          <p:nvPr/>
        </p:nvSpPr>
        <p:spPr>
          <a:xfrm>
            <a:off x="6162600" y="5643492"/>
            <a:ext cx="3906393"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200" b="1" i="0" u="none" strike="noStrike" cap="none" dirty="0">
                <a:solidFill>
                  <a:srgbClr val="822433"/>
                </a:solidFill>
                <a:latin typeface="Plus Jakarta Sans" panose="020B0604020202020204" charset="0"/>
                <a:ea typeface="Plus Jakarta Sans"/>
                <a:cs typeface="Plus Jakarta Sans" panose="020B0604020202020204" charset="0"/>
                <a:sym typeface="Plus Jakarta Sans"/>
              </a:rPr>
              <a:t>Interactive Timeline Histogram &amp; Energy Meter</a:t>
            </a:r>
            <a:endParaRPr sz="1200" dirty="0">
              <a:latin typeface="Plus Jakarta Sans" panose="020B0604020202020204" charset="0"/>
              <a:cs typeface="Plus Jakarta Sans" panose="020B0604020202020204" charset="0"/>
            </a:endParaRPr>
          </a:p>
        </p:txBody>
      </p:sp>
      <p:sp>
        <p:nvSpPr>
          <p:cNvPr id="220" name="Google Shape;220;p19"/>
          <p:cNvSpPr txBox="1"/>
          <p:nvPr/>
        </p:nvSpPr>
        <p:spPr>
          <a:xfrm>
            <a:off x="5336442" y="5828158"/>
            <a:ext cx="5558711" cy="553998"/>
          </a:xfrm>
          <a:prstGeom prst="rect">
            <a:avLst/>
          </a:prstGeom>
          <a:noFill/>
          <a:ln>
            <a:noFill/>
          </a:ln>
        </p:spPr>
        <p:txBody>
          <a:bodyPr spcFirstLastPara="1" wrap="square" lIns="0" tIns="0" rIns="0" bIns="0" anchor="t" anchorCtr="0">
            <a:spAutoFit/>
          </a:bodyPr>
          <a:lstStyle/>
          <a:p>
            <a:pPr lvl="0" algn="ctr">
              <a:lnSpc>
                <a:spcPct val="150000"/>
              </a:lnSpc>
              <a:defRPr sz="1350" b="0">
                <a:solidFill>
                  <a:srgbClr val="1C1819"/>
                </a:solidFill>
              </a:defRPr>
            </a:pPr>
            <a:r>
              <a:rPr lang="it-IT" sz="1200" dirty="0">
                <a:solidFill>
                  <a:srgbClr val="1C1819"/>
                </a:solidFill>
                <a:latin typeface="Plus Jakarta Sans" panose="020B0604020202020204" charset="0"/>
                <a:cs typeface="Plus Jakarta Sans" panose="020B0604020202020204" charset="0"/>
              </a:rPr>
              <a:t>Real-time timeline </a:t>
            </a:r>
            <a:r>
              <a:rPr lang="it-IT" sz="1200" dirty="0" err="1">
                <a:solidFill>
                  <a:srgbClr val="1C1819"/>
                </a:solidFill>
                <a:latin typeface="Plus Jakarta Sans" panose="020B0604020202020204" charset="0"/>
                <a:cs typeface="Plus Jakarta Sans" panose="020B0604020202020204" charset="0"/>
              </a:rPr>
              <a:t>navigation</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coupled</a:t>
            </a:r>
            <a:r>
              <a:rPr lang="it-IT" sz="1200" dirty="0">
                <a:solidFill>
                  <a:srgbClr val="1C1819"/>
                </a:solidFill>
                <a:latin typeface="Plus Jakarta Sans" panose="020B0604020202020204" charset="0"/>
                <a:cs typeface="Plus Jakarta Sans" panose="020B0604020202020204" charset="0"/>
              </a:rPr>
              <a:t> with </a:t>
            </a:r>
            <a:r>
              <a:rPr lang="it-IT" sz="1200" dirty="0" err="1">
                <a:solidFill>
                  <a:srgbClr val="1C1819"/>
                </a:solidFill>
                <a:latin typeface="Plus Jakarta Sans" panose="020B0604020202020204" charset="0"/>
                <a:cs typeface="Plus Jakarta Sans" panose="020B0604020202020204" charset="0"/>
              </a:rPr>
              <a:t>simultaneous</a:t>
            </a:r>
            <a:r>
              <a:rPr lang="it-IT" sz="1200" dirty="0">
                <a:solidFill>
                  <a:srgbClr val="1C1819"/>
                </a:solidFill>
                <a:latin typeface="Plus Jakarta Sans" panose="020B0604020202020204" charset="0"/>
                <a:cs typeface="Plus Jakarta Sans" panose="020B0604020202020204" charset="0"/>
              </a:rPr>
              <a:t> cumulative </a:t>
            </a:r>
            <a:r>
              <a:rPr lang="it-IT" sz="1200" dirty="0" err="1">
                <a:solidFill>
                  <a:srgbClr val="1C1819"/>
                </a:solidFill>
                <a:latin typeface="Plus Jakarta Sans" panose="020B0604020202020204" charset="0"/>
                <a:cs typeface="Plus Jakarta Sans" panose="020B0604020202020204" charset="0"/>
              </a:rPr>
              <a:t>seismic</a:t>
            </a:r>
            <a:r>
              <a:rPr lang="it-IT" sz="1200" dirty="0">
                <a:solidFill>
                  <a:srgbClr val="1C1819"/>
                </a:solidFill>
                <a:latin typeface="Plus Jakarta Sans" panose="020B0604020202020204" charset="0"/>
                <a:cs typeface="Plus Jakarta Sans" panose="020B0604020202020204" charset="0"/>
              </a:rPr>
              <a:t> energy tracking and </a:t>
            </a:r>
            <a:r>
              <a:rPr lang="it-IT" sz="1200" dirty="0" err="1">
                <a:solidFill>
                  <a:srgbClr val="1C1819"/>
                </a:solidFill>
                <a:latin typeface="Plus Jakarta Sans" panose="020B0604020202020204" charset="0"/>
                <a:cs typeface="Plus Jakarta Sans" panose="020B0604020202020204" charset="0"/>
              </a:rPr>
              <a:t>peak</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magnitude</a:t>
            </a:r>
            <a:r>
              <a:rPr lang="it-IT" sz="1200" dirty="0">
                <a:solidFill>
                  <a:srgbClr val="1C1819"/>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p:sp>
        <p:nvSpPr>
          <p:cNvPr id="221" name="Google Shape;221;p19"/>
          <p:cNvSpPr txBox="1"/>
          <p:nvPr/>
        </p:nvSpPr>
        <p:spPr>
          <a:xfrm>
            <a:off x="809477" y="1678193"/>
            <a:ext cx="2225278"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200" b="1" i="0" u="none" strike="noStrike" cap="none" dirty="0">
                <a:solidFill>
                  <a:srgbClr val="B85828"/>
                </a:solidFill>
                <a:latin typeface="Plus Jakarta Sans" panose="020B0604020202020204" charset="0"/>
                <a:ea typeface="Plus Jakarta Sans"/>
                <a:cs typeface="Plus Jakarta Sans" panose="020B0604020202020204" charset="0"/>
                <a:sym typeface="Plus Jakarta Sans"/>
              </a:rPr>
              <a:t>Accumulation Mode</a:t>
            </a:r>
            <a:endParaRPr sz="1200" dirty="0">
              <a:latin typeface="Plus Jakarta Sans" panose="020B0604020202020204" charset="0"/>
              <a:cs typeface="Plus Jakarta Sans" panose="020B0604020202020204" charset="0"/>
            </a:endParaRPr>
          </a:p>
        </p:txBody>
      </p:sp>
      <p:sp>
        <p:nvSpPr>
          <p:cNvPr id="222" name="Google Shape;222;p19"/>
          <p:cNvSpPr txBox="1"/>
          <p:nvPr/>
        </p:nvSpPr>
        <p:spPr>
          <a:xfrm>
            <a:off x="828527" y="3336667"/>
            <a:ext cx="1737717"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04060"/>
                </a:solidFill>
              </a:defRPr>
            </a:pPr>
            <a:r>
              <a:rPr lang="en-US" sz="1200" b="1" i="0" u="none" strike="noStrike" cap="none" dirty="0">
                <a:solidFill>
                  <a:srgbClr val="204060"/>
                </a:solidFill>
                <a:latin typeface="Plus Jakarta Sans" panose="020B0604020202020204" charset="0"/>
                <a:ea typeface="Plus Jakarta Sans"/>
                <a:cs typeface="Plus Jakarta Sans" panose="020B0604020202020204" charset="0"/>
                <a:sym typeface="Plus Jakarta Sans"/>
              </a:rPr>
              <a:t>Sliding Window</a:t>
            </a:r>
            <a:endParaRPr sz="1200" dirty="0">
              <a:latin typeface="Plus Jakarta Sans" panose="020B0604020202020204" charset="0"/>
              <a:cs typeface="Plus Jakarta Sans" panose="020B0604020202020204" charset="0"/>
            </a:endParaRPr>
          </a:p>
        </p:txBody>
      </p:sp>
      <p:sp>
        <p:nvSpPr>
          <p:cNvPr id="223" name="Google Shape;223;p19"/>
          <p:cNvSpPr txBox="1"/>
          <p:nvPr/>
        </p:nvSpPr>
        <p:spPr>
          <a:xfrm>
            <a:off x="828527" y="4956276"/>
            <a:ext cx="2262782"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200" b="1" i="0" u="none" strike="noStrike" cap="none" dirty="0">
                <a:solidFill>
                  <a:srgbClr val="236B5E"/>
                </a:solidFill>
                <a:latin typeface="Plus Jakarta Sans" panose="020B0604020202020204" charset="0"/>
                <a:ea typeface="Plus Jakarta Sans"/>
                <a:cs typeface="Plus Jakarta Sans" panose="020B0604020202020204" charset="0"/>
                <a:sym typeface="Plus Jakarta Sans"/>
              </a:rPr>
              <a:t>Block Mode</a:t>
            </a:r>
            <a:endParaRPr sz="1200" dirty="0">
              <a:latin typeface="Plus Jakarta Sans" panose="020B0604020202020204" charset="0"/>
              <a:cs typeface="Plus Jakarta Sans" panose="020B0604020202020204" charset="0"/>
            </a:endParaRPr>
          </a:p>
        </p:txBody>
      </p:sp>
      <p:pic>
        <p:nvPicPr>
          <p:cNvPr id="224" name="Picture 223"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22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Immagine 2">
            <a:extLst>
              <a:ext uri="{FF2B5EF4-FFF2-40B4-BE49-F238E27FC236}">
                <a16:creationId xmlns:a16="http://schemas.microsoft.com/office/drawing/2014/main" id="{2280DB2C-A8AC-E259-7429-819258F09D95}"/>
              </a:ext>
            </a:extLst>
          </p:cNvPr>
          <p:cNvPicPr>
            <a:picLocks noChangeAspect="1"/>
          </p:cNvPicPr>
          <p:nvPr/>
        </p:nvPicPr>
        <p:blipFill>
          <a:blip r:embed="rId4"/>
          <a:stretch>
            <a:fillRect/>
          </a:stretch>
        </p:blipFill>
        <p:spPr>
          <a:xfrm>
            <a:off x="5208648" y="1401257"/>
            <a:ext cx="5686506" cy="3739685"/>
          </a:xfrm>
          <a:prstGeom prst="rect">
            <a:avLst/>
          </a:prstGeom>
        </p:spPr>
      </p:pic>
      <p:sp>
        <p:nvSpPr>
          <p:cNvPr id="4" name="SapienzaTopStripe">
            <a:extLst>
              <a:ext uri="{FF2B5EF4-FFF2-40B4-BE49-F238E27FC236}">
                <a16:creationId xmlns:a16="http://schemas.microsoft.com/office/drawing/2014/main" id="{17B8F323-5F66-7A06-2300-10CC18AB58FD}"/>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83"/>
        <p:cNvGrpSpPr/>
        <p:nvPr/>
      </p:nvGrpSpPr>
      <p:grpSpPr>
        <a:xfrm>
          <a:off x="0" y="0"/>
          <a:ext cx="0" cy="0"/>
          <a:chOff x="0" y="0"/>
          <a:chExt cx="0" cy="0"/>
        </a:xfrm>
      </p:grpSpPr>
      <p:sp>
        <p:nvSpPr>
          <p:cNvPr id="284" name="Google Shape;284;p23"/>
          <p:cNvSpPr/>
          <p:nvPr/>
        </p:nvSpPr>
        <p:spPr>
          <a:xfrm>
            <a:off x="6790432" y="1736590"/>
            <a:ext cx="4791967" cy="2140466"/>
          </a:xfrm>
          <a:prstGeom prst="roundRect">
            <a:avLst>
              <a:gd name="adj" fmla="val 5447"/>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p23"/>
          <p:cNvSpPr/>
          <p:nvPr/>
        </p:nvSpPr>
        <p:spPr>
          <a:xfrm>
            <a:off x="6790432" y="4041959"/>
            <a:ext cx="4791967" cy="106680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6" name="Google Shape;286;p23"/>
          <p:cNvSpPr/>
          <p:nvPr/>
        </p:nvSpPr>
        <p:spPr>
          <a:xfrm>
            <a:off x="6790432" y="5232981"/>
            <a:ext cx="4791967" cy="785019"/>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88" name="Google Shape;288;p23" descr="image.png"/>
          <p:cNvPicPr preferRelativeResize="0"/>
          <p:nvPr/>
        </p:nvPicPr>
        <p:blipFill rotWithShape="1">
          <a:blip r:embed="rId3">
            <a:alphaModFix/>
          </a:blip>
          <a:srcRect/>
          <a:stretch/>
        </p:blipFill>
        <p:spPr>
          <a:xfrm>
            <a:off x="705800" y="1972724"/>
            <a:ext cx="5683632" cy="3722176"/>
          </a:xfrm>
          <a:prstGeom prst="rect">
            <a:avLst/>
          </a:prstGeom>
          <a:noFill/>
          <a:ln>
            <a:noFill/>
          </a:ln>
        </p:spPr>
      </p:pic>
      <p:sp>
        <p:nvSpPr>
          <p:cNvPr id="289" name="Google Shape;289;p23"/>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ALGORITHMIC INNOVATION</a:t>
            </a:r>
            <a:endParaRPr/>
          </a:p>
        </p:txBody>
      </p:sp>
      <p:sp>
        <p:nvSpPr>
          <p:cNvPr id="290" name="Google Shape;290;p23"/>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dirty="0">
                <a:solidFill>
                  <a:srgbClr val="822433"/>
                </a:solidFill>
                <a:latin typeface="Cinzel"/>
                <a:ea typeface="Cinzel"/>
                <a:cs typeface="Cinzel"/>
                <a:sym typeface="Cinzel"/>
              </a:rPr>
              <a:t>Cylinder Partitioning &amp; Temporal Label Stability</a:t>
            </a:r>
            <a:endParaRPr dirty="0"/>
          </a:p>
        </p:txBody>
      </p:sp>
      <p:sp>
        <p:nvSpPr>
          <p:cNvPr id="291" name="Google Shape;291;p23"/>
          <p:cNvSpPr txBox="1"/>
          <p:nvPr/>
        </p:nvSpPr>
        <p:spPr>
          <a:xfrm>
            <a:off x="6995728" y="1849485"/>
            <a:ext cx="2190687" cy="1962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Why Cylinder Partitioning?</a:t>
            </a:r>
            <a:endParaRPr dirty="0"/>
          </a:p>
        </p:txBody>
      </p:sp>
      <p:sp>
        <p:nvSpPr>
          <p:cNvPr id="292" name="Google Shape;292;p23"/>
          <p:cNvSpPr txBox="1"/>
          <p:nvPr/>
        </p:nvSpPr>
        <p:spPr>
          <a:xfrm>
            <a:off x="6990457" y="2088052"/>
            <a:ext cx="4487167" cy="1661993"/>
          </a:xfrm>
          <a:prstGeom prst="rect">
            <a:avLst/>
          </a:prstGeom>
          <a:noFill/>
          <a:ln>
            <a:noFill/>
          </a:ln>
        </p:spPr>
        <p:txBody>
          <a:bodyPr spcFirstLastPara="1" wrap="square" lIns="0" tIns="0" rIns="0" bIns="0" anchor="t" anchorCtr="0">
            <a:spAutoFit/>
          </a:bodyPr>
          <a:lstStyle/>
          <a:p>
            <a:pPr lvl="0">
              <a:lnSpc>
                <a:spcPct val="150000"/>
              </a:lnSpc>
            </a:pPr>
            <a:r>
              <a:rPr lang="it-IT" sz="1200" dirty="0">
                <a:latin typeface="Plus Jakarta Sans" panose="020B0604020202020204" charset="0"/>
                <a:cs typeface="Plus Jakarta Sans" panose="020B0604020202020204" charset="0"/>
              </a:rPr>
              <a:t>Caldera ring faults curve </a:t>
            </a:r>
            <a:r>
              <a:rPr lang="it-IT" sz="1200" dirty="0" err="1">
                <a:latin typeface="Plus Jakarta Sans" panose="020B0604020202020204" charset="0"/>
                <a:cs typeface="Plus Jakarta Sans" panose="020B0604020202020204" charset="0"/>
              </a:rPr>
              <a:t>along</a:t>
            </a:r>
            <a:r>
              <a:rPr lang="it-IT" sz="1200" dirty="0">
                <a:latin typeface="Plus Jakarta Sans" panose="020B0604020202020204" charset="0"/>
                <a:cs typeface="Plus Jakarta Sans" panose="020B0604020202020204" charset="0"/>
              </a:rPr>
              <a:t> the </a:t>
            </a:r>
            <a:r>
              <a:rPr lang="it-IT" sz="1200" dirty="0" err="1">
                <a:latin typeface="Plus Jakarta Sans" panose="020B0604020202020204" charset="0"/>
                <a:cs typeface="Plus Jakarta Sans" panose="020B0604020202020204" charset="0"/>
              </a:rPr>
              <a:t>volcanic</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perimeter</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attempting</a:t>
            </a:r>
            <a:r>
              <a:rPr lang="it-IT" sz="1200" dirty="0">
                <a:latin typeface="Plus Jakarta Sans" panose="020B0604020202020204" charset="0"/>
                <a:cs typeface="Plus Jakarta Sans" panose="020B0604020202020204" charset="0"/>
              </a:rPr>
              <a:t> to </a:t>
            </a:r>
            <a:r>
              <a:rPr lang="it-IT" sz="1200" dirty="0" err="1">
                <a:latin typeface="Plus Jakarta Sans" panose="020B0604020202020204" charset="0"/>
                <a:cs typeface="Plus Jakarta Sans" panose="020B0604020202020204" charset="0"/>
              </a:rPr>
              <a:t>fit</a:t>
            </a:r>
            <a:r>
              <a:rPr lang="it-IT" sz="1200" dirty="0">
                <a:latin typeface="Plus Jakarta Sans" panose="020B0604020202020204" charset="0"/>
                <a:cs typeface="Plus Jakarta Sans" panose="020B0604020202020204" charset="0"/>
              </a:rPr>
              <a:t> a single global </a:t>
            </a:r>
            <a:r>
              <a:rPr lang="it-IT" sz="1200" dirty="0" err="1">
                <a:latin typeface="Plus Jakarta Sans" panose="020B0604020202020204" charset="0"/>
                <a:cs typeface="Plus Jakarta Sans" panose="020B0604020202020204" charset="0"/>
              </a:rPr>
              <a:t>plane</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produces</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geometric</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errors</a:t>
            </a:r>
            <a:r>
              <a:rPr lang="it-IT" sz="1200" dirty="0">
                <a:latin typeface="Plus Jakarta Sans" panose="020B0604020202020204" charset="0"/>
                <a:cs typeface="Plus Jakarta Sans" panose="020B0604020202020204" charset="0"/>
              </a:rPr>
              <a:t>.</a:t>
            </a:r>
          </a:p>
          <a:p>
            <a:pPr lvl="0">
              <a:lnSpc>
                <a:spcPct val="150000"/>
              </a:lnSpc>
            </a:pPr>
            <a:r>
              <a:rPr lang="it-IT" sz="1200" dirty="0" err="1">
                <a:latin typeface="Plus Jakarta Sans" panose="020B0604020202020204" charset="0"/>
                <a:cs typeface="Plus Jakarta Sans" panose="020B0604020202020204" charset="0"/>
              </a:rPr>
              <a:t>It</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partitions</a:t>
            </a:r>
            <a:r>
              <a:rPr lang="it-IT" sz="1200" dirty="0">
                <a:latin typeface="Plus Jakarta Sans" panose="020B0604020202020204" charset="0"/>
                <a:cs typeface="Plus Jakarta Sans" panose="020B0604020202020204" charset="0"/>
              </a:rPr>
              <a:t> the 3D </a:t>
            </a:r>
            <a:r>
              <a:rPr lang="it-IT" sz="1200" dirty="0" err="1">
                <a:latin typeface="Plus Jakarta Sans" panose="020B0604020202020204" charset="0"/>
                <a:cs typeface="Plus Jakarta Sans" panose="020B0604020202020204" charset="0"/>
              </a:rPr>
              <a:t>crustal</a:t>
            </a:r>
            <a:r>
              <a:rPr lang="it-IT" sz="1200" dirty="0">
                <a:latin typeface="Plus Jakarta Sans" panose="020B0604020202020204" charset="0"/>
                <a:cs typeface="Plus Jakarta Sans" panose="020B0604020202020204" charset="0"/>
              </a:rPr>
              <a:t> volume </a:t>
            </a:r>
            <a:r>
              <a:rPr lang="it-IT" sz="1200" dirty="0" err="1">
                <a:latin typeface="Plus Jakarta Sans" panose="020B0604020202020204" charset="0"/>
                <a:cs typeface="Plus Jakarta Sans" panose="020B0604020202020204" charset="0"/>
              </a:rPr>
              <a:t>into</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vertical</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cylindrical</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columns</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this</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replicates</a:t>
            </a:r>
            <a:r>
              <a:rPr lang="it-IT" sz="1200" dirty="0">
                <a:latin typeface="Plus Jakarta Sans" panose="020B0604020202020204" charset="0"/>
                <a:cs typeface="Plus Jakarta Sans" panose="020B0604020202020204" charset="0"/>
              </a:rPr>
              <a:t> the </a:t>
            </a:r>
            <a:r>
              <a:rPr lang="it-IT" sz="1200" dirty="0" err="1">
                <a:latin typeface="Plus Jakarta Sans" panose="020B0604020202020204" charset="0"/>
                <a:cs typeface="Plus Jakarta Sans" panose="020B0604020202020204" charset="0"/>
              </a:rPr>
              <a:t>spatial</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segmentation</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methodology</a:t>
            </a:r>
            <a:r>
              <a:rPr lang="it-IT" sz="1200" dirty="0">
                <a:latin typeface="Plus Jakarta Sans" panose="020B0604020202020204" charset="0"/>
                <a:cs typeface="Plus Jakarta Sans" panose="020B0604020202020204" charset="0"/>
              </a:rPr>
              <a:t> of </a:t>
            </a:r>
            <a:r>
              <a:rPr lang="it-IT" sz="1200" i="1" dirty="0">
                <a:latin typeface="Plus Jakarta Sans" panose="020B0604020202020204" charset="0"/>
                <a:cs typeface="Plus Jakarta Sans" panose="020B0604020202020204" charset="0"/>
              </a:rPr>
              <a:t>Giordano &amp; Alfonsi (2025).</a:t>
            </a:r>
            <a:endParaRPr lang="it-IT" sz="1200" dirty="0">
              <a:latin typeface="Plus Jakarta Sans" panose="020B0604020202020204" charset="0"/>
              <a:cs typeface="Plus Jakarta Sans" panose="020B0604020202020204" charset="0"/>
            </a:endParaRPr>
          </a:p>
        </p:txBody>
      </p:sp>
      <p:sp>
        <p:nvSpPr>
          <p:cNvPr id="293" name="Google Shape;293;p23"/>
          <p:cNvSpPr txBox="1"/>
          <p:nvPr/>
        </p:nvSpPr>
        <p:spPr>
          <a:xfrm>
            <a:off x="6990457" y="4227563"/>
            <a:ext cx="1906655" cy="198093"/>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Global Label Matching</a:t>
            </a:r>
            <a:endParaRPr dirty="0"/>
          </a:p>
        </p:txBody>
      </p:sp>
      <p:sp>
        <p:nvSpPr>
          <p:cNvPr id="294" name="Google Shape;294;p23"/>
          <p:cNvSpPr txBox="1"/>
          <p:nvPr/>
        </p:nvSpPr>
        <p:spPr>
          <a:xfrm>
            <a:off x="6990457" y="4508684"/>
            <a:ext cx="4487167" cy="517065"/>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b="0">
                <a:solidFill>
                  <a:srgbClr val="2D2628"/>
                </a:solidFill>
              </a:defRPr>
            </a:pPr>
            <a:r>
              <a:rPr lang="en-US" sz="1200" b="0" i="0" u="none" strike="noStrike" cap="none" dirty="0">
                <a:solidFill>
                  <a:srgbClr val="2D2628"/>
                </a:solidFill>
                <a:latin typeface="Plus Jakarta Sans"/>
                <a:ea typeface="Plus Jakarta Sans"/>
                <a:cs typeface="Plus Jakarta Sans"/>
                <a:sym typeface="Plus Jakarta Sans"/>
              </a:rPr>
              <a:t>Historical majority voting eliminates cluster </a:t>
            </a:r>
            <a:r>
              <a:rPr lang="en-US" sz="1200" b="0" i="0" u="none" strike="noStrike" cap="none" dirty="0" err="1">
                <a:solidFill>
                  <a:srgbClr val="2D2628"/>
                </a:solidFill>
                <a:latin typeface="Plus Jakarta Sans"/>
                <a:ea typeface="Plus Jakarta Sans"/>
                <a:cs typeface="Plus Jakarta Sans"/>
                <a:sym typeface="Plus Jakarta Sans"/>
              </a:rPr>
              <a:t>colour</a:t>
            </a:r>
            <a:r>
              <a:rPr lang="en-US" sz="1200" b="0" i="0" u="none" strike="noStrike" cap="none" dirty="0">
                <a:solidFill>
                  <a:srgbClr val="2D2628"/>
                </a:solidFill>
                <a:latin typeface="Plus Jakarta Sans"/>
                <a:ea typeface="Plus Jakarta Sans"/>
                <a:cs typeface="Plus Jakarta Sans"/>
                <a:sym typeface="Plus Jakarta Sans"/>
              </a:rPr>
              <a:t> flickering across sequential animation frames.</a:t>
            </a:r>
            <a:endParaRPr sz="1600" dirty="0"/>
          </a:p>
        </p:txBody>
      </p:sp>
      <p:sp>
        <p:nvSpPr>
          <p:cNvPr id="295" name="Google Shape;295;p23"/>
          <p:cNvSpPr txBox="1"/>
          <p:nvPr/>
        </p:nvSpPr>
        <p:spPr>
          <a:xfrm>
            <a:off x="6990457" y="5316195"/>
            <a:ext cx="4495743" cy="553998"/>
          </a:xfrm>
          <a:prstGeom prst="rect">
            <a:avLst/>
          </a:prstGeom>
          <a:noFill/>
          <a:ln>
            <a:noFill/>
          </a:ln>
        </p:spPr>
        <p:txBody>
          <a:bodyPr spcFirstLastPara="1" wrap="square" lIns="0" tIns="0" rIns="0" bIns="0" anchor="t" anchorCtr="0">
            <a:spAutoFit/>
          </a:bodyPr>
          <a:lstStyle/>
          <a:p>
            <a:pPr lvl="0">
              <a:lnSpc>
                <a:spcPct val="150000"/>
              </a:lnSpc>
              <a:defRPr b="0">
                <a:solidFill>
                  <a:srgbClr val="2D2628"/>
                </a:solidFill>
              </a:defRPr>
            </a:pPr>
            <a:r>
              <a:rPr lang="it-IT" sz="1200" dirty="0">
                <a:solidFill>
                  <a:srgbClr val="2D2628"/>
                </a:solidFill>
                <a:latin typeface="Plus Jakarta Sans" panose="020B0604020202020204" charset="0"/>
                <a:cs typeface="Plus Jakarta Sans" panose="020B0604020202020204" charset="0"/>
              </a:rPr>
              <a:t>An </a:t>
            </a:r>
            <a:r>
              <a:rPr lang="it-IT" sz="1200" dirty="0" err="1">
                <a:solidFill>
                  <a:srgbClr val="2D2628"/>
                </a:solidFill>
                <a:latin typeface="Plus Jakarta Sans" panose="020B0604020202020204" charset="0"/>
                <a:cs typeface="Plus Jakarta Sans" panose="020B0604020202020204" charset="0"/>
              </a:rPr>
              <a:t>asynchronous</a:t>
            </a:r>
            <a:r>
              <a:rPr lang="it-IT" sz="1200" dirty="0">
                <a:solidFill>
                  <a:srgbClr val="2D2628"/>
                </a:solidFill>
                <a:latin typeface="Plus Jakarta Sans" panose="020B0604020202020204" charset="0"/>
                <a:cs typeface="Plus Jakarta Sans" panose="020B0604020202020204" charset="0"/>
              </a:rPr>
              <a:t> worker </a:t>
            </a:r>
            <a:r>
              <a:rPr lang="it-IT" sz="1200" dirty="0" err="1">
                <a:solidFill>
                  <a:srgbClr val="2D2628"/>
                </a:solidFill>
                <a:latin typeface="Plus Jakarta Sans" panose="020B0604020202020204" charset="0"/>
                <a:cs typeface="Plus Jakarta Sans" panose="020B0604020202020204" charset="0"/>
              </a:rPr>
              <a:t>thread</a:t>
            </a:r>
            <a:r>
              <a:rPr lang="it-IT" sz="1200" dirty="0">
                <a:solidFill>
                  <a:srgbClr val="2D2628"/>
                </a:solidFill>
                <a:latin typeface="Plus Jakarta Sans" panose="020B0604020202020204" charset="0"/>
                <a:cs typeface="Plus Jakarta Sans" panose="020B0604020202020204" charset="0"/>
              </a:rPr>
              <a:t> pool (</a:t>
            </a:r>
            <a:r>
              <a:rPr lang="it-IT" sz="1200" dirty="0" err="1">
                <a:solidFill>
                  <a:srgbClr val="2D2628"/>
                </a:solidFill>
                <a:latin typeface="Plus Jakarta Sans" panose="020B0604020202020204" charset="0"/>
                <a:cs typeface="Plus Jakarta Sans" panose="020B0604020202020204" charset="0"/>
              </a:rPr>
              <a:t>ThreadPoolExecutor</a:t>
            </a:r>
            <a:r>
              <a:rPr lang="it-IT" sz="1200" dirty="0">
                <a:solidFill>
                  <a:srgbClr val="2D2628"/>
                </a:solidFill>
                <a:latin typeface="Plus Jakarta Sans" panose="020B0604020202020204" charset="0"/>
                <a:cs typeface="Plus Jakarta Sans" panose="020B0604020202020204" charset="0"/>
              </a:rPr>
              <a:t>, 8 workers) to </a:t>
            </a:r>
            <a:r>
              <a:rPr lang="it-IT" sz="1200" dirty="0" err="1">
                <a:solidFill>
                  <a:srgbClr val="2D2628"/>
                </a:solidFill>
                <a:latin typeface="Plus Jakarta Sans" panose="020B0604020202020204" charset="0"/>
                <a:cs typeface="Plus Jakarta Sans" panose="020B0604020202020204" charset="0"/>
              </a:rPr>
              <a:t>parallelize</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cylinder</a:t>
            </a:r>
            <a:r>
              <a:rPr lang="it-IT" sz="1200" dirty="0">
                <a:solidFill>
                  <a:srgbClr val="2D2628"/>
                </a:solidFill>
                <a:latin typeface="Plus Jakarta Sans" panose="020B0604020202020204" charset="0"/>
                <a:cs typeface="Plus Jakarta Sans" panose="020B0604020202020204" charset="0"/>
              </a:rPr>
              <a:t> fitting </a:t>
            </a:r>
            <a:r>
              <a:rPr lang="it-IT" sz="1200" dirty="0" err="1">
                <a:solidFill>
                  <a:srgbClr val="2D2628"/>
                </a:solidFill>
                <a:latin typeface="Plus Jakarta Sans" panose="020B0604020202020204" charset="0"/>
                <a:cs typeface="Plus Jakarta Sans" panose="020B0604020202020204" charset="0"/>
              </a:rPr>
              <a:t>across</a:t>
            </a:r>
            <a:r>
              <a:rPr lang="it-IT" sz="1200" dirty="0">
                <a:solidFill>
                  <a:srgbClr val="2D2628"/>
                </a:solidFill>
                <a:latin typeface="Plus Jakarta Sans" panose="020B0604020202020204" charset="0"/>
                <a:cs typeface="Plus Jakarta Sans" panose="020B0604020202020204" charset="0"/>
              </a:rPr>
              <a:t> frames.</a:t>
            </a:r>
            <a:endParaRPr sz="1200" dirty="0">
              <a:latin typeface="Plus Jakarta Sans" panose="020B0604020202020204" charset="0"/>
              <a:cs typeface="Plus Jakarta Sans" panose="020B0604020202020204" charset="0"/>
            </a:endParaRPr>
          </a:p>
        </p:txBody>
      </p:sp>
      <p:pic>
        <p:nvPicPr>
          <p:cNvPr id="296" name="Picture 295"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297"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8214AE52-F9D7-03E1-1B49-A390609A0412}"/>
              </a:ext>
            </a:extLst>
          </p:cNvPr>
          <p:cNvSpPr/>
          <p:nvPr/>
        </p:nvSpPr>
        <p:spPr>
          <a:xfrm>
            <a:off x="-1"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43"/>
        <p:cNvGrpSpPr/>
        <p:nvPr/>
      </p:nvGrpSpPr>
      <p:grpSpPr>
        <a:xfrm>
          <a:off x="0" y="0"/>
          <a:ext cx="0" cy="0"/>
          <a:chOff x="0" y="0"/>
          <a:chExt cx="0" cy="0"/>
        </a:xfrm>
      </p:grpSpPr>
      <p:sp>
        <p:nvSpPr>
          <p:cNvPr id="244" name="Google Shape;244;p21"/>
          <p:cNvSpPr/>
          <p:nvPr/>
        </p:nvSpPr>
        <p:spPr>
          <a:xfrm>
            <a:off x="8080473" y="2043684"/>
            <a:ext cx="3463049" cy="2881642"/>
          </a:xfrm>
          <a:prstGeom prst="roundRect">
            <a:avLst>
              <a:gd name="adj" fmla="val 9007"/>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5" name="Google Shape;245;p21"/>
          <p:cNvSpPr/>
          <p:nvPr/>
        </p:nvSpPr>
        <p:spPr>
          <a:xfrm>
            <a:off x="4330675" y="2042321"/>
            <a:ext cx="3530649" cy="2888945"/>
          </a:xfrm>
          <a:prstGeom prst="roundRect">
            <a:avLst>
              <a:gd name="adj" fmla="val 791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6" name="Google Shape;246;p21"/>
          <p:cNvSpPr/>
          <p:nvPr/>
        </p:nvSpPr>
        <p:spPr>
          <a:xfrm>
            <a:off x="580879" y="2042321"/>
            <a:ext cx="3530649" cy="2878616"/>
          </a:xfrm>
          <a:prstGeom prst="roundRect">
            <a:avLst>
              <a:gd name="adj" fmla="val 7919"/>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1" name="Google Shape;251;p21"/>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MACHINE LEARNING ENGINE</a:t>
            </a:r>
            <a:endParaRPr/>
          </a:p>
        </p:txBody>
      </p:sp>
      <p:sp>
        <p:nvSpPr>
          <p:cNvPr id="252" name="Google Shape;252;p21"/>
          <p:cNvSpPr txBox="1"/>
          <p:nvPr/>
        </p:nvSpPr>
        <p:spPr>
          <a:xfrm>
            <a:off x="609600" y="840000"/>
            <a:ext cx="9000744" cy="800219"/>
          </a:xfrm>
          <a:prstGeom prst="rect">
            <a:avLst/>
          </a:prstGeom>
          <a:noFill/>
          <a:ln>
            <a:noFill/>
          </a:ln>
        </p:spPr>
        <p:txBody>
          <a:bodyPr spcFirstLastPara="1" wrap="square" lIns="0" tIns="0" rIns="0" bIns="0" anchor="t" anchorCtr="0">
            <a:spAutoFit/>
          </a:bodyPr>
          <a:lstStyle/>
          <a:p>
            <a:pPr lvl="0">
              <a:defRPr sz="2600" b="1">
                <a:solidFill>
                  <a:srgbClr val="822433"/>
                </a:solidFill>
              </a:defRPr>
            </a:pPr>
            <a:r>
              <a:rPr lang="it-IT" sz="2600" b="1" dirty="0" err="1">
                <a:solidFill>
                  <a:srgbClr val="822433"/>
                </a:solidFill>
                <a:latin typeface="Cinzel" panose="020B0604020202020204" charset="0"/>
              </a:rPr>
              <a:t>Spatial</a:t>
            </a:r>
            <a:r>
              <a:rPr lang="it-IT" sz="2600" b="1" dirty="0">
                <a:solidFill>
                  <a:srgbClr val="822433"/>
                </a:solidFill>
                <a:latin typeface="Cinzel" panose="020B0604020202020204" charset="0"/>
              </a:rPr>
              <a:t> Clustering </a:t>
            </a:r>
            <a:r>
              <a:rPr lang="it-IT" sz="2600" b="1" dirty="0" err="1">
                <a:solidFill>
                  <a:srgbClr val="822433"/>
                </a:solidFill>
                <a:latin typeface="Cinzel" panose="020B0604020202020204" charset="0"/>
              </a:rPr>
              <a:t>Paradigms</a:t>
            </a:r>
            <a:r>
              <a:rPr lang="it-IT" sz="2600" b="1" dirty="0">
                <a:solidFill>
                  <a:srgbClr val="822433"/>
                </a:solidFill>
                <a:latin typeface="Cinzel" panose="020B0604020202020204" charset="0"/>
              </a:rPr>
              <a:t> &amp; </a:t>
            </a:r>
            <a:r>
              <a:rPr lang="it-IT" sz="2600" b="1" dirty="0" err="1">
                <a:solidFill>
                  <a:srgbClr val="822433"/>
                </a:solidFill>
                <a:latin typeface="Cinzel" panose="020B0604020202020204" charset="0"/>
              </a:rPr>
              <a:t>Hyperparameter</a:t>
            </a:r>
            <a:r>
              <a:rPr lang="it-IT" sz="2600" b="1" dirty="0">
                <a:solidFill>
                  <a:srgbClr val="822433"/>
                </a:solidFill>
                <a:latin typeface="Cinzel" panose="020B0604020202020204" charset="0"/>
              </a:rPr>
              <a:t> Tuning</a:t>
            </a:r>
            <a:endParaRPr dirty="0">
              <a:latin typeface="Cinzel" panose="020B0604020202020204" charset="0"/>
            </a:endParaRPr>
          </a:p>
        </p:txBody>
      </p:sp>
      <p:sp>
        <p:nvSpPr>
          <p:cNvPr id="253" name="Google Shape;253;p21"/>
          <p:cNvSpPr txBox="1"/>
          <p:nvPr/>
        </p:nvSpPr>
        <p:spPr>
          <a:xfrm>
            <a:off x="8362031" y="2198121"/>
            <a:ext cx="3001294" cy="507831"/>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822433"/>
                </a:solidFill>
              </a:defRPr>
            </a:pPr>
            <a:r>
              <a:rPr lang="en-US" sz="1650" b="1" i="0" u="none" strike="noStrike" cap="none" dirty="0">
                <a:solidFill>
                  <a:srgbClr val="822433"/>
                </a:solidFill>
                <a:latin typeface="Plus Jakarta Sans"/>
                <a:ea typeface="Plus Jakarta Sans"/>
                <a:cs typeface="Plus Jakarta Sans"/>
                <a:sym typeface="Plus Jakarta Sans"/>
              </a:rPr>
              <a:t>Hierarchical Sub-Clustering &amp; Lock Mechanism</a:t>
            </a:r>
            <a:endParaRPr dirty="0"/>
          </a:p>
        </p:txBody>
      </p:sp>
      <p:sp>
        <p:nvSpPr>
          <p:cNvPr id="254" name="Google Shape;254;p21"/>
          <p:cNvSpPr txBox="1"/>
          <p:nvPr/>
        </p:nvSpPr>
        <p:spPr>
          <a:xfrm>
            <a:off x="8362031" y="2806654"/>
            <a:ext cx="3039427" cy="1938992"/>
          </a:xfrm>
          <a:prstGeom prst="rect">
            <a:avLst/>
          </a:prstGeom>
          <a:noFill/>
          <a:ln>
            <a:noFill/>
          </a:ln>
        </p:spPr>
        <p:txBody>
          <a:bodyPr spcFirstLastPara="1" wrap="square" lIns="0" tIns="0" rIns="0" bIns="0" anchor="t" anchorCtr="0">
            <a:spAutoFit/>
          </a:bodyPr>
          <a:lstStyle/>
          <a:p>
            <a:pPr lvl="0">
              <a:lnSpc>
                <a:spcPct val="150000"/>
              </a:lnSpc>
            </a:pPr>
            <a:r>
              <a:rPr lang="it-IT" sz="1200" dirty="0" err="1">
                <a:latin typeface="Plus Jakarta Sans" panose="020B0604020202020204" charset="0"/>
                <a:cs typeface="Plus Jakarta Sans" panose="020B0604020202020204" charset="0"/>
              </a:rPr>
              <a:t>Researchers</a:t>
            </a:r>
            <a:r>
              <a:rPr lang="it-IT" sz="1200" dirty="0">
                <a:latin typeface="Plus Jakarta Sans" panose="020B0604020202020204" charset="0"/>
                <a:cs typeface="Plus Jakarta Sans" panose="020B0604020202020204" charset="0"/>
              </a:rPr>
              <a:t> can </a:t>
            </a:r>
            <a:r>
              <a:rPr lang="it-IT" sz="1200" dirty="0" err="1">
                <a:latin typeface="Plus Jakarta Sans" panose="020B0604020202020204" charset="0"/>
                <a:cs typeface="Plus Jakarta Sans" panose="020B0604020202020204" charset="0"/>
              </a:rPr>
              <a:t>selectively</a:t>
            </a:r>
            <a:r>
              <a:rPr lang="it-IT" sz="1200" dirty="0">
                <a:latin typeface="Plus Jakarta Sans" panose="020B0604020202020204" charset="0"/>
                <a:cs typeface="Plus Jakarta Sans" panose="020B0604020202020204" charset="0"/>
              </a:rPr>
              <a:t> "Lock" </a:t>
            </a:r>
            <a:r>
              <a:rPr lang="it-IT" sz="1200" dirty="0" err="1">
                <a:latin typeface="Plus Jakarta Sans" panose="020B0604020202020204" charset="0"/>
                <a:cs typeface="Plus Jakarta Sans" panose="020B0604020202020204" charset="0"/>
              </a:rPr>
              <a:t>confirmed</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seismogenic</a:t>
            </a:r>
            <a:r>
              <a:rPr lang="it-IT" sz="1200" dirty="0">
                <a:latin typeface="Plus Jakarta Sans" panose="020B0604020202020204" charset="0"/>
                <a:cs typeface="Plus Jakarta Sans" panose="020B0604020202020204" charset="0"/>
              </a:rPr>
              <a:t> faults, freezing </a:t>
            </a:r>
            <a:r>
              <a:rPr lang="it-IT" sz="1200" dirty="0" err="1">
                <a:latin typeface="Plus Jakarta Sans" panose="020B0604020202020204" charset="0"/>
                <a:cs typeface="Plus Jakarta Sans" panose="020B0604020202020204" charset="0"/>
              </a:rPr>
              <a:t>their</a:t>
            </a:r>
            <a:r>
              <a:rPr lang="it-IT" sz="1200" dirty="0">
                <a:latin typeface="Plus Jakarta Sans" panose="020B0604020202020204" charset="0"/>
                <a:cs typeface="Plus Jakarta Sans" panose="020B0604020202020204" charset="0"/>
              </a:rPr>
              <a:t> geometry and </a:t>
            </a:r>
            <a:r>
              <a:rPr lang="it-IT" sz="1200" dirty="0" err="1">
                <a:latin typeface="Plus Jakarta Sans" panose="020B0604020202020204" charset="0"/>
                <a:cs typeface="Plus Jakarta Sans" panose="020B0604020202020204" charset="0"/>
              </a:rPr>
              <a:t>colours</a:t>
            </a:r>
            <a:r>
              <a:rPr lang="it-IT" sz="1200" dirty="0">
                <a:latin typeface="Plus Jakarta Sans" panose="020B0604020202020204" charset="0"/>
                <a:cs typeface="Plus Jakarta Sans" panose="020B0604020202020204" charset="0"/>
              </a:rPr>
              <a:t>.</a:t>
            </a:r>
          </a:p>
          <a:p>
            <a:pPr lvl="0">
              <a:lnSpc>
                <a:spcPct val="150000"/>
              </a:lnSpc>
            </a:pPr>
            <a:endParaRPr lang="it-IT" sz="1200" dirty="0">
              <a:latin typeface="Plus Jakarta Sans" panose="020B0604020202020204" charset="0"/>
              <a:cs typeface="Plus Jakarta Sans" panose="020B0604020202020204" charset="0"/>
            </a:endParaRPr>
          </a:p>
          <a:p>
            <a:pPr lvl="0">
              <a:lnSpc>
                <a:spcPct val="150000"/>
              </a:lnSpc>
            </a:pPr>
            <a:r>
              <a:rPr lang="it-IT" sz="1200" b="1" dirty="0" err="1">
                <a:latin typeface="Plus Jakarta Sans" panose="020B0604020202020204" charset="0"/>
                <a:cs typeface="Plus Jakarta Sans" panose="020B0604020202020204" charset="0"/>
              </a:rPr>
              <a:t>Isolated</a:t>
            </a:r>
            <a:r>
              <a:rPr lang="it-IT" sz="1200" b="1" dirty="0">
                <a:latin typeface="Plus Jakarta Sans" panose="020B0604020202020204" charset="0"/>
                <a:cs typeface="Plus Jakarta Sans" panose="020B0604020202020204" charset="0"/>
              </a:rPr>
              <a:t> Re-Clustering</a:t>
            </a:r>
            <a:r>
              <a:rPr lang="it-IT" sz="1200" dirty="0">
                <a:latin typeface="Plus Jakarta Sans" panose="020B0604020202020204" charset="0"/>
                <a:cs typeface="Plus Jakarta Sans" panose="020B0604020202020204" charset="0"/>
              </a:rPr>
              <a:t>: Re-</a:t>
            </a:r>
            <a:r>
              <a:rPr lang="it-IT" sz="1200" dirty="0" err="1">
                <a:latin typeface="Plus Jakarta Sans" panose="020B0604020202020204" charset="0"/>
                <a:cs typeface="Plus Jakarta Sans" panose="020B0604020202020204" charset="0"/>
              </a:rPr>
              <a:t>partitions</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only</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unresolved</a:t>
            </a:r>
            <a:r>
              <a:rPr lang="it-IT" sz="1200" dirty="0">
                <a:latin typeface="Plus Jakarta Sans" panose="020B0604020202020204" charset="0"/>
                <a:cs typeface="Plus Jakarta Sans" panose="020B0604020202020204" charset="0"/>
              </a:rPr>
              <a:t> or </a:t>
            </a:r>
            <a:r>
              <a:rPr lang="it-IT" sz="1200" dirty="0" err="1">
                <a:latin typeface="Plus Jakarta Sans" panose="020B0604020202020204" charset="0"/>
                <a:cs typeface="Plus Jakarta Sans" panose="020B0604020202020204" charset="0"/>
              </a:rPr>
              <a:t>complex</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swarms</a:t>
            </a:r>
            <a:r>
              <a:rPr lang="it-IT" sz="1200" dirty="0">
                <a:latin typeface="Plus Jakarta Sans" panose="020B0604020202020204" charset="0"/>
                <a:cs typeface="Plus Jakarta Sans" panose="020B0604020202020204" charset="0"/>
              </a:rPr>
              <a:t> with </a:t>
            </a:r>
            <a:r>
              <a:rPr lang="it-IT" sz="1200" dirty="0" err="1">
                <a:latin typeface="Plus Jakarta Sans" panose="020B0604020202020204" charset="0"/>
                <a:cs typeface="Plus Jakarta Sans" panose="020B0604020202020204" charset="0"/>
              </a:rPr>
              <a:t>refined</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local</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density</a:t>
            </a:r>
            <a:r>
              <a:rPr lang="it-IT" sz="1200" dirty="0">
                <a:latin typeface="Plus Jakarta Sans" panose="020B0604020202020204" charset="0"/>
                <a:cs typeface="Plus Jakarta Sans" panose="020B0604020202020204" charset="0"/>
              </a:rPr>
              <a:t> </a:t>
            </a:r>
            <a:r>
              <a:rPr lang="it-IT" sz="1200" dirty="0" err="1">
                <a:latin typeface="Plus Jakarta Sans" panose="020B0604020202020204" charset="0"/>
                <a:cs typeface="Plus Jakarta Sans" panose="020B0604020202020204" charset="0"/>
              </a:rPr>
              <a:t>parameters</a:t>
            </a:r>
            <a:r>
              <a:rPr lang="it-IT" sz="1200" dirty="0">
                <a:latin typeface="Plus Jakarta Sans" panose="020B0604020202020204" charset="0"/>
                <a:cs typeface="Plus Jakarta Sans" panose="020B0604020202020204" charset="0"/>
              </a:rPr>
              <a:t>.</a:t>
            </a:r>
            <a:endParaRPr lang="it-IT" sz="1200" dirty="0">
              <a:effectLst/>
              <a:latin typeface="Plus Jakarta Sans" panose="020B0604020202020204" charset="0"/>
              <a:cs typeface="Plus Jakarta Sans" panose="020B0604020202020204" charset="0"/>
            </a:endParaRPr>
          </a:p>
        </p:txBody>
      </p:sp>
      <p:sp>
        <p:nvSpPr>
          <p:cNvPr id="255" name="Google Shape;255;p21"/>
          <p:cNvSpPr txBox="1"/>
          <p:nvPr/>
        </p:nvSpPr>
        <p:spPr>
          <a:xfrm>
            <a:off x="4549750" y="2582650"/>
            <a:ext cx="3187749"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defRPr sz="1150" b="0">
                <a:solidFill>
                  <a:srgbClr val="1C1819"/>
                </a:solidFill>
              </a:defRPr>
            </a:pPr>
            <a:r>
              <a:rPr lang="en-US" sz="1200" b="0" i="0" u="none" strike="noStrike" cap="none" dirty="0">
                <a:solidFill>
                  <a:srgbClr val="1C1819"/>
                </a:solidFill>
                <a:latin typeface="Plus Jakarta Sans"/>
                <a:ea typeface="Plus Jakarta Sans"/>
                <a:cs typeface="Plus Jakarta Sans"/>
                <a:sym typeface="Plus Jakarta Sans"/>
              </a:rPr>
              <a:t>It detects non-planar, arbitrary fault shapes without prior K cluster count, isolates background noise (label -1).</a:t>
            </a:r>
            <a:endParaRPr sz="1200" dirty="0"/>
          </a:p>
        </p:txBody>
      </p:sp>
      <mc:AlternateContent xmlns:mc="http://schemas.openxmlformats.org/markup-compatibility/2006" xmlns:a14="http://schemas.microsoft.com/office/drawing/2010/main">
        <mc:Choice Requires="a14">
          <p:sp>
            <p:nvSpPr>
              <p:cNvPr id="256" name="Google Shape;256;p21"/>
              <p:cNvSpPr txBox="1"/>
              <p:nvPr/>
            </p:nvSpPr>
            <p:spPr>
              <a:xfrm>
                <a:off x="4549749" y="3452650"/>
                <a:ext cx="3187749" cy="1107996"/>
              </a:xfrm>
              <a:prstGeom prst="rect">
                <a:avLst/>
              </a:prstGeom>
              <a:noFill/>
              <a:ln>
                <a:noFill/>
              </a:ln>
            </p:spPr>
            <p:txBody>
              <a:bodyPr spcFirstLastPara="1" wrap="square" lIns="0" tIns="0" rIns="0" bIns="0" anchor="t" anchorCtr="0">
                <a:spAutoFit/>
              </a:bodyPr>
              <a:lstStyle/>
              <a:p>
                <a:pPr lvl="0">
                  <a:lnSpc>
                    <a:spcPct val="150000"/>
                  </a:lnSpc>
                  <a:defRPr sz="1150" b="0">
                    <a:solidFill>
                      <a:srgbClr val="1C1819"/>
                    </a:solidFill>
                  </a:defRPr>
                </a:pPr>
                <a:r>
                  <a:rPr lang="en-US" sz="1200" b="0" i="0" u="none" strike="noStrike" cap="none" dirty="0">
                    <a:solidFill>
                      <a:srgbClr val="1C1819"/>
                    </a:solidFill>
                    <a:latin typeface="Plus Jakarta Sans" panose="020B0604020202020204" charset="0"/>
                    <a:ea typeface="Plus Jakarta Sans"/>
                    <a:cs typeface="Plus Jakarta Sans" panose="020B0604020202020204" charset="0"/>
                    <a:sym typeface="Plus Jakarta Sans"/>
                  </a:rPr>
                  <a:t>Auto-Tuning: </a:t>
                </a:r>
                <a:r>
                  <a:rPr lang="it-IT" sz="1200" dirty="0">
                    <a:solidFill>
                      <a:srgbClr val="1C1819"/>
                    </a:solidFill>
                    <a:latin typeface="Plus Jakarta Sans" panose="020B0604020202020204" charset="0"/>
                    <a:cs typeface="Plus Jakarta Sans" panose="020B0604020202020204" charset="0"/>
                  </a:rPr>
                  <a:t>Search </a:t>
                </a:r>
                <a:r>
                  <a:rPr lang="it-IT" sz="1200" dirty="0" err="1">
                    <a:solidFill>
                      <a:srgbClr val="1C1819"/>
                    </a:solidFill>
                    <a:latin typeface="Plus Jakarta Sans" panose="020B0604020202020204" charset="0"/>
                    <a:cs typeface="Plus Jakarta Sans" panose="020B0604020202020204" charset="0"/>
                  </a:rPr>
                  <a:t>radius</a:t>
                </a:r>
                <a:r>
                  <a:rPr lang="it-IT" sz="1200" dirty="0">
                    <a:solidFill>
                      <a:srgbClr val="1C1819"/>
                    </a:solidFill>
                    <a:latin typeface="Plus Jakarta Sans" panose="020B0604020202020204" charset="0"/>
                    <a:cs typeface="Plus Jakarta Sans" panose="020B0604020202020204" charset="0"/>
                  </a:rPr>
                  <a:t> </a:t>
                </a:r>
                <a14:m>
                  <m:oMath xmlns:m="http://schemas.openxmlformats.org/officeDocument/2006/math">
                    <m:sSup>
                      <m:sSupPr>
                        <m:ctrlPr>
                          <a:rPr lang="it-IT" sz="1200" i="1">
                            <a:solidFill>
                              <a:srgbClr val="1C1819"/>
                            </a:solidFill>
                            <a:latin typeface="Cambria Math" panose="02040503050406030204" pitchFamily="18" charset="0"/>
                          </a:rPr>
                        </m:ctrlPr>
                      </m:sSupPr>
                      <m:e>
                        <m:r>
                          <a:rPr lang="it-IT" sz="1200" i="1">
                            <a:solidFill>
                              <a:srgbClr val="1C1819"/>
                            </a:solidFill>
                            <a:latin typeface="Cambria Math" panose="02040503050406030204" pitchFamily="18" charset="0"/>
                          </a:rPr>
                          <m:t>𝜀</m:t>
                        </m:r>
                      </m:e>
                      <m:sup>
                        <m:r>
                          <a:rPr lang="it-IT" sz="1200">
                            <a:solidFill>
                              <a:srgbClr val="1C1819"/>
                            </a:solidFill>
                            <a:latin typeface="Cambria Math" panose="02040503050406030204" pitchFamily="18" charset="0"/>
                          </a:rPr>
                          <m:t>∗</m:t>
                        </m:r>
                      </m:sup>
                    </m:sSup>
                  </m:oMath>
                </a14:m>
                <a:r>
                  <a:rPr lang="it-IT" sz="1200" dirty="0" err="1">
                    <a:solidFill>
                      <a:srgbClr val="1C1819"/>
                    </a:solidFill>
                    <a:latin typeface="Plus Jakarta Sans" panose="020B0604020202020204" charset="0"/>
                    <a:cs typeface="Plus Jakarta Sans" panose="020B0604020202020204" charset="0"/>
                  </a:rPr>
                  <a:t>is</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automatically</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derived</a:t>
                </a:r>
                <a:r>
                  <a:rPr lang="it-IT" sz="1200" dirty="0">
                    <a:solidFill>
                      <a:srgbClr val="1C1819"/>
                    </a:solidFill>
                    <a:latin typeface="Plus Jakarta Sans" panose="020B0604020202020204" charset="0"/>
                    <a:cs typeface="Plus Jakarta Sans" panose="020B0604020202020204" charset="0"/>
                  </a:rPr>
                  <a:t> from the maximum curvature point of the </a:t>
                </a:r>
                <a:r>
                  <a:rPr lang="it-IT" sz="1200" dirty="0" err="1">
                    <a:solidFill>
                      <a:srgbClr val="1C1819"/>
                    </a:solidFill>
                    <a:latin typeface="Plus Jakarta Sans" panose="020B0604020202020204" charset="0"/>
                    <a:cs typeface="Plus Jakarta Sans" panose="020B0604020202020204" charset="0"/>
                  </a:rPr>
                  <a:t>sorted</a:t>
                </a:r>
                <a:r>
                  <a:rPr lang="it-IT" sz="1200" dirty="0">
                    <a:solidFill>
                      <a:srgbClr val="1C1819"/>
                    </a:solidFill>
                    <a:latin typeface="Plus Jakarta Sans" panose="020B0604020202020204" charset="0"/>
                    <a:cs typeface="Plus Jakarta Sans" panose="020B0604020202020204" charset="0"/>
                  </a:rPr>
                  <a:t> </a:t>
                </a:r>
                <a14:m>
                  <m:oMath xmlns:m="http://schemas.openxmlformats.org/officeDocument/2006/math">
                    <m:r>
                      <a:rPr lang="it-IT" sz="1200" i="1">
                        <a:solidFill>
                          <a:srgbClr val="1C1819"/>
                        </a:solidFill>
                        <a:latin typeface="Cambria Math" panose="02040503050406030204" pitchFamily="18" charset="0"/>
                      </a:rPr>
                      <m:t>𝑘</m:t>
                    </m:r>
                  </m:oMath>
                </a14:m>
                <a:r>
                  <a:rPr lang="it-IT" sz="1200" dirty="0">
                    <a:solidFill>
                      <a:srgbClr val="1C1819"/>
                    </a:solidFill>
                    <a:latin typeface="Plus Jakarta Sans" panose="020B0604020202020204" charset="0"/>
                    <a:cs typeface="Plus Jakarta Sans" panose="020B0604020202020204" charset="0"/>
                  </a:rPr>
                  <a:t>-NN </a:t>
                </a:r>
                <a:r>
                  <a:rPr lang="it-IT" sz="1200" dirty="0" err="1">
                    <a:solidFill>
                      <a:srgbClr val="1C1819"/>
                    </a:solidFill>
                    <a:latin typeface="Plus Jakarta Sans" panose="020B0604020202020204" charset="0"/>
                    <a:cs typeface="Plus Jakarta Sans" panose="020B0604020202020204" charset="0"/>
                  </a:rPr>
                  <a:t>distance</a:t>
                </a:r>
                <a:r>
                  <a:rPr lang="it-IT" sz="1200" dirty="0">
                    <a:solidFill>
                      <a:srgbClr val="1C1819"/>
                    </a:solidFill>
                    <a:latin typeface="Plus Jakarta Sans" panose="020B0604020202020204" charset="0"/>
                    <a:cs typeface="Plus Jakarta Sans" panose="020B0604020202020204" charset="0"/>
                  </a:rPr>
                  <a:t> curve, </a:t>
                </a:r>
                <a:r>
                  <a:rPr lang="it-IT" sz="1200" dirty="0" err="1">
                    <a:solidFill>
                      <a:srgbClr val="1C1819"/>
                    </a:solidFill>
                    <a:latin typeface="Plus Jakarta Sans" panose="020B0604020202020204" charset="0"/>
                    <a:cs typeface="Plus Jakarta Sans" panose="020B0604020202020204" charset="0"/>
                  </a:rPr>
                  <a:t>where</a:t>
                </a:r>
                <a:r>
                  <a:rPr lang="it-IT" sz="1200" dirty="0">
                    <a:solidFill>
                      <a:srgbClr val="1C1819"/>
                    </a:solidFill>
                    <a:latin typeface="Plus Jakarta Sans" panose="020B0604020202020204" charset="0"/>
                    <a:cs typeface="Plus Jakarta Sans" panose="020B0604020202020204" charset="0"/>
                  </a:rPr>
                  <a:t>  </a:t>
                </a:r>
                <a14:m>
                  <m:oMath xmlns:m="http://schemas.openxmlformats.org/officeDocument/2006/math">
                    <m:r>
                      <a:rPr lang="it-IT" sz="1200" i="1">
                        <a:solidFill>
                          <a:srgbClr val="1C1819"/>
                        </a:solidFill>
                        <a:latin typeface="Cambria Math" panose="02040503050406030204" pitchFamily="18" charset="0"/>
                      </a:rPr>
                      <m:t>𝑘</m:t>
                    </m:r>
                    <m:r>
                      <a:rPr lang="it-IT" sz="1200">
                        <a:solidFill>
                          <a:srgbClr val="1C1819"/>
                        </a:solidFill>
                        <a:latin typeface="Cambria Math" panose="02040503050406030204" pitchFamily="18" charset="0"/>
                      </a:rPr>
                      <m:t>=</m:t>
                    </m:r>
                    <m:r>
                      <m:rPr>
                        <m:sty m:val="p"/>
                      </m:rPr>
                      <a:rPr lang="it-IT" sz="1200">
                        <a:solidFill>
                          <a:srgbClr val="1C1819"/>
                        </a:solidFill>
                        <a:latin typeface="Cambria Math" panose="02040503050406030204" pitchFamily="18" charset="0"/>
                      </a:rPr>
                      <m:t>max</m:t>
                    </m:r>
                    <m:r>
                      <a:rPr lang="it-IT" sz="1200">
                        <a:solidFill>
                          <a:srgbClr val="1C1819"/>
                        </a:solidFill>
                        <a:latin typeface="Cambria Math" panose="02040503050406030204" pitchFamily="18" charset="0"/>
                      </a:rPr>
                      <m:t>⁡</m:t>
                    </m:r>
                    <m:d>
                      <m:dPr>
                        <m:sepChr m:val=","/>
                        <m:ctrlPr>
                          <a:rPr lang="it-IT" sz="1200">
                            <a:solidFill>
                              <a:srgbClr val="1C1819"/>
                            </a:solidFill>
                            <a:latin typeface="Cambria Math" panose="02040503050406030204" pitchFamily="18" charset="0"/>
                          </a:rPr>
                        </m:ctrlPr>
                      </m:dPr>
                      <m:e>
                        <m:r>
                          <a:rPr lang="it-IT" sz="1200">
                            <a:solidFill>
                              <a:srgbClr val="1C1819"/>
                            </a:solidFill>
                            <a:latin typeface="Cambria Math" panose="02040503050406030204" pitchFamily="18" charset="0"/>
                          </a:rPr>
                          <m:t>3</m:t>
                        </m:r>
                      </m:e>
                      <m:e>
                        <m:d>
                          <m:dPr>
                            <m:begChr m:val="⌊"/>
                            <m:endChr m:val="⌋"/>
                            <m:ctrlPr>
                              <a:rPr lang="it-IT" sz="1200" i="1">
                                <a:solidFill>
                                  <a:srgbClr val="1C1819"/>
                                </a:solidFill>
                                <a:latin typeface="Cambria Math" panose="02040503050406030204" pitchFamily="18" charset="0"/>
                              </a:rPr>
                            </m:ctrlPr>
                          </m:dPr>
                          <m:e>
                            <m:func>
                              <m:funcPr>
                                <m:ctrlPr>
                                  <a:rPr lang="it-IT" sz="1200">
                                    <a:solidFill>
                                      <a:srgbClr val="1C1819"/>
                                    </a:solidFill>
                                    <a:latin typeface="Cambria Math" panose="02040503050406030204" pitchFamily="18" charset="0"/>
                                  </a:rPr>
                                </m:ctrlPr>
                              </m:funcPr>
                              <m:fName>
                                <m:r>
                                  <m:rPr>
                                    <m:sty m:val="p"/>
                                  </m:rPr>
                                  <a:rPr lang="it-IT" sz="1200">
                                    <a:solidFill>
                                      <a:srgbClr val="1C1819"/>
                                    </a:solidFill>
                                    <a:latin typeface="Cambria Math" panose="02040503050406030204" pitchFamily="18" charset="0"/>
                                  </a:rPr>
                                  <m:t>ln</m:t>
                                </m:r>
                              </m:fName>
                              <m:e>
                                <m:r>
                                  <a:rPr lang="it-IT" sz="1200" i="1">
                                    <a:solidFill>
                                      <a:srgbClr val="1C1819"/>
                                    </a:solidFill>
                                    <a:latin typeface="Cambria Math" panose="02040503050406030204" pitchFamily="18" charset="0"/>
                                  </a:rPr>
                                  <m:t>𝑁</m:t>
                                </m:r>
                              </m:e>
                            </m:func>
                          </m:e>
                        </m:d>
                      </m:e>
                    </m:d>
                  </m:oMath>
                </a14:m>
                <a:endParaRPr sz="1200" dirty="0">
                  <a:latin typeface="Plus Jakarta Sans" panose="020B0604020202020204" charset="0"/>
                  <a:cs typeface="Plus Jakarta Sans" panose="020B0604020202020204" charset="0"/>
                </a:endParaRPr>
              </a:p>
            </p:txBody>
          </p:sp>
        </mc:Choice>
        <mc:Fallback xmlns="">
          <p:sp>
            <p:nvSpPr>
              <p:cNvPr id="256" name="Google Shape;256;p21"/>
              <p:cNvSpPr txBox="1">
                <a:spLocks noRot="1" noChangeAspect="1" noMove="1" noResize="1" noEditPoints="1" noAdjustHandles="1" noChangeArrowheads="1" noChangeShapeType="1" noTextEdit="1"/>
              </p:cNvSpPr>
              <p:nvPr/>
            </p:nvSpPr>
            <p:spPr>
              <a:xfrm>
                <a:off x="4549749" y="3452650"/>
                <a:ext cx="3187749" cy="1107996"/>
              </a:xfrm>
              <a:prstGeom prst="rect">
                <a:avLst/>
              </a:prstGeom>
              <a:blipFill>
                <a:blip r:embed="rId3"/>
                <a:stretch>
                  <a:fillRect l="-2868" r="-1338" b="-4945"/>
                </a:stretch>
              </a:blipFill>
              <a:ln>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7" name="Google Shape;257;p21"/>
              <p:cNvSpPr txBox="1"/>
              <p:nvPr/>
            </p:nvSpPr>
            <p:spPr>
              <a:xfrm>
                <a:off x="799954" y="2572321"/>
                <a:ext cx="3187749" cy="830997"/>
              </a:xfrm>
              <a:prstGeom prst="rect">
                <a:avLst/>
              </a:prstGeom>
              <a:noFill/>
              <a:ln>
                <a:noFill/>
              </a:ln>
            </p:spPr>
            <p:txBody>
              <a:bodyPr spcFirstLastPara="1" wrap="square" lIns="0" tIns="0" rIns="0" bIns="0" anchor="t" anchorCtr="0">
                <a:spAutoFit/>
              </a:bodyPr>
              <a:lstStyle/>
              <a:p>
                <a:pPr lvl="0">
                  <a:lnSpc>
                    <a:spcPct val="150000"/>
                  </a:lnSpc>
                  <a:defRPr sz="1150" b="0">
                    <a:solidFill>
                      <a:srgbClr val="1C1819"/>
                    </a:solidFill>
                  </a:defRPr>
                </a:pPr>
                <a:r>
                  <a:rPr lang="it-IT" sz="1200" dirty="0" err="1">
                    <a:solidFill>
                      <a:srgbClr val="1C1819"/>
                    </a:solidFill>
                    <a:latin typeface="Plus Jakarta Sans" panose="020B0604020202020204" charset="0"/>
                    <a:cs typeface="Plus Jakarta Sans" panose="020B0604020202020204" charset="0"/>
                  </a:rPr>
                  <a:t>Processes</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stochastic</a:t>
                </a:r>
                <a:r>
                  <a:rPr lang="it-IT" sz="1200" dirty="0">
                    <a:solidFill>
                      <a:srgbClr val="1C1819"/>
                    </a:solidFill>
                    <a:latin typeface="Plus Jakarta Sans" panose="020B0604020202020204" charset="0"/>
                    <a:cs typeface="Plus Jakarta Sans" panose="020B0604020202020204" charset="0"/>
                  </a:rPr>
                  <a:t> random mini-</a:t>
                </a:r>
                <a:r>
                  <a:rPr lang="it-IT" sz="1200" dirty="0" err="1">
                    <a:solidFill>
                      <a:srgbClr val="1C1819"/>
                    </a:solidFill>
                    <a:latin typeface="Plus Jakarta Sans" panose="020B0604020202020204" charset="0"/>
                    <a:cs typeface="Plus Jakarta Sans" panose="020B0604020202020204" charset="0"/>
                  </a:rPr>
                  <a:t>batches</a:t>
                </a:r>
                <a:r>
                  <a:rPr lang="it-IT" sz="1200" dirty="0">
                    <a:solidFill>
                      <a:srgbClr val="1C1819"/>
                    </a:solidFill>
                    <a:latin typeface="Plus Jakarta Sans" panose="020B0604020202020204" charset="0"/>
                    <a:cs typeface="Plus Jakarta Sans" panose="020B0604020202020204" charset="0"/>
                  </a:rPr>
                  <a:t> (</a:t>
                </a:r>
                <a14:m>
                  <m:oMath xmlns:m="http://schemas.openxmlformats.org/officeDocument/2006/math">
                    <m:r>
                      <a:rPr lang="it-IT" sz="1200" i="1">
                        <a:solidFill>
                          <a:srgbClr val="1C1819"/>
                        </a:solidFill>
                        <a:latin typeface="Cambria Math" panose="02040503050406030204" pitchFamily="18" charset="0"/>
                      </a:rPr>
                      <m:t>𝑏</m:t>
                    </m:r>
                    <m:r>
                      <a:rPr lang="it-IT" sz="1200">
                        <a:solidFill>
                          <a:srgbClr val="1C1819"/>
                        </a:solidFill>
                        <a:latin typeface="Cambria Math" panose="02040503050406030204" pitchFamily="18" charset="0"/>
                      </a:rPr>
                      <m:t>=1024</m:t>
                    </m:r>
                  </m:oMath>
                </a14:m>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reducing</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computation</a:t>
                </a:r>
                <a:r>
                  <a:rPr lang="it-IT" sz="1200" dirty="0">
                    <a:solidFill>
                      <a:srgbClr val="1C1819"/>
                    </a:solidFill>
                    <a:latin typeface="Plus Jakarta Sans" panose="020B0604020202020204" charset="0"/>
                    <a:cs typeface="Plus Jakarta Sans" panose="020B0604020202020204" charset="0"/>
                  </a:rPr>
                  <a:t> from </a:t>
                </a:r>
                <a14:m>
                  <m:oMath xmlns:m="http://schemas.openxmlformats.org/officeDocument/2006/math">
                    <m:r>
                      <a:rPr lang="it-IT" sz="1200" i="1">
                        <a:solidFill>
                          <a:srgbClr val="1C1819"/>
                        </a:solidFill>
                        <a:latin typeface="Cambria Math" panose="02040503050406030204" pitchFamily="18" charset="0"/>
                      </a:rPr>
                      <m:t>𝑂</m:t>
                    </m:r>
                    <m:d>
                      <m:dPr>
                        <m:ctrlPr>
                          <a:rPr lang="it-IT" sz="1200" i="1">
                            <a:solidFill>
                              <a:srgbClr val="1C1819"/>
                            </a:solidFill>
                            <a:latin typeface="Cambria Math" panose="02040503050406030204" pitchFamily="18" charset="0"/>
                          </a:rPr>
                        </m:ctrlPr>
                      </m:dPr>
                      <m:e>
                        <m:r>
                          <a:rPr lang="it-IT" sz="1200" i="1">
                            <a:solidFill>
                              <a:srgbClr val="1C1819"/>
                            </a:solidFill>
                            <a:latin typeface="Cambria Math" panose="02040503050406030204" pitchFamily="18" charset="0"/>
                          </a:rPr>
                          <m:t>𝑁𝐾</m:t>
                        </m:r>
                      </m:e>
                    </m:d>
                  </m:oMath>
                </a14:m>
                <a:r>
                  <a:rPr lang="it-IT" sz="1200" dirty="0">
                    <a:solidFill>
                      <a:srgbClr val="1C1819"/>
                    </a:solidFill>
                    <a:latin typeface="Plus Jakarta Sans" panose="020B0604020202020204" charset="0"/>
                    <a:cs typeface="Plus Jakarta Sans" panose="020B0604020202020204" charset="0"/>
                  </a:rPr>
                  <a:t> to </a:t>
                </a:r>
                <a14:m>
                  <m:oMath xmlns:m="http://schemas.openxmlformats.org/officeDocument/2006/math">
                    <m:r>
                      <a:rPr lang="it-IT" sz="1200" i="1">
                        <a:solidFill>
                          <a:srgbClr val="1C1819"/>
                        </a:solidFill>
                        <a:latin typeface="Cambria Math" panose="02040503050406030204" pitchFamily="18" charset="0"/>
                      </a:rPr>
                      <m:t>𝑂</m:t>
                    </m:r>
                    <m:d>
                      <m:dPr>
                        <m:ctrlPr>
                          <a:rPr lang="it-IT" sz="1200" i="1">
                            <a:solidFill>
                              <a:srgbClr val="1C1819"/>
                            </a:solidFill>
                            <a:latin typeface="Cambria Math" panose="02040503050406030204" pitchFamily="18" charset="0"/>
                          </a:rPr>
                        </m:ctrlPr>
                      </m:dPr>
                      <m:e>
                        <m:r>
                          <a:rPr lang="it-IT" sz="1200" i="1">
                            <a:solidFill>
                              <a:srgbClr val="1C1819"/>
                            </a:solidFill>
                            <a:latin typeface="Cambria Math" panose="02040503050406030204" pitchFamily="18" charset="0"/>
                          </a:rPr>
                          <m:t>𝑏𝐾</m:t>
                        </m:r>
                      </m:e>
                    </m:d>
                  </m:oMath>
                </a14:m>
                <a:r>
                  <a:rPr lang="it-IT" sz="1200" dirty="0">
                    <a:solidFill>
                      <a:srgbClr val="1C1819"/>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mc:Choice>
        <mc:Fallback xmlns="">
          <p:sp>
            <p:nvSpPr>
              <p:cNvPr id="257" name="Google Shape;257;p21"/>
              <p:cNvSpPr txBox="1">
                <a:spLocks noRot="1" noChangeAspect="1" noMove="1" noResize="1" noEditPoints="1" noAdjustHandles="1" noChangeArrowheads="1" noChangeShapeType="1" noTextEdit="1"/>
              </p:cNvSpPr>
              <p:nvPr/>
            </p:nvSpPr>
            <p:spPr>
              <a:xfrm>
                <a:off x="799954" y="2572321"/>
                <a:ext cx="3187749" cy="830997"/>
              </a:xfrm>
              <a:prstGeom prst="rect">
                <a:avLst/>
              </a:prstGeom>
              <a:blipFill>
                <a:blip r:embed="rId4"/>
                <a:stretch>
                  <a:fillRect l="-2868" r="-1530" b="-6618"/>
                </a:stretch>
              </a:blipFill>
              <a:ln>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8" name="Google Shape;258;p21"/>
              <p:cNvSpPr txBox="1"/>
              <p:nvPr/>
            </p:nvSpPr>
            <p:spPr>
              <a:xfrm>
                <a:off x="799954" y="3473950"/>
                <a:ext cx="3187749" cy="830997"/>
              </a:xfrm>
              <a:prstGeom prst="rect">
                <a:avLst/>
              </a:prstGeom>
              <a:noFill/>
              <a:ln>
                <a:noFill/>
              </a:ln>
            </p:spPr>
            <p:txBody>
              <a:bodyPr spcFirstLastPara="1" wrap="square" lIns="0" tIns="0" rIns="0" bIns="0" anchor="t" anchorCtr="0">
                <a:spAutoFit/>
              </a:bodyPr>
              <a:lstStyle/>
              <a:p>
                <a:pPr lvl="0">
                  <a:lnSpc>
                    <a:spcPct val="150000"/>
                  </a:lnSpc>
                  <a:defRPr sz="1150" b="0">
                    <a:solidFill>
                      <a:srgbClr val="1C1819"/>
                    </a:solidFill>
                  </a:defRPr>
                </a:pPr>
                <a:r>
                  <a:rPr lang="en-US" sz="1200" b="0" i="0" u="none" strike="noStrike" cap="none" dirty="0">
                    <a:solidFill>
                      <a:srgbClr val="1C1819"/>
                    </a:solidFill>
                    <a:latin typeface="Plus Jakarta Sans"/>
                    <a:ea typeface="Plus Jakarta Sans"/>
                    <a:cs typeface="Plus Jakarta Sans"/>
                    <a:sym typeface="Plus Jakarta Sans"/>
                  </a:rPr>
                  <a:t>Adaptation: </a:t>
                </a:r>
                <a:r>
                  <a:rPr lang="it-IT" sz="1200" dirty="0" err="1">
                    <a:solidFill>
                      <a:srgbClr val="1C1819"/>
                    </a:solidFill>
                    <a:latin typeface="Plus Jakarta Sans" panose="020B0604020202020204" charset="0"/>
                    <a:cs typeface="Plus Jakarta Sans" panose="020B0604020202020204" charset="0"/>
                  </a:rPr>
                  <a:t>Applies</a:t>
                </a:r>
                <a:r>
                  <a:rPr lang="it-IT" sz="1200" dirty="0">
                    <a:solidFill>
                      <a:srgbClr val="1C1819"/>
                    </a:solidFill>
                    <a:latin typeface="Plus Jakarta Sans" panose="020B0604020202020204" charset="0"/>
                    <a:cs typeface="Plus Jakarta Sans" panose="020B0604020202020204" charset="0"/>
                  </a:rPr>
                  <a:t> a post-clustering </a:t>
                </a:r>
                <a:r>
                  <a:rPr lang="it-IT" sz="1200" dirty="0" err="1">
                    <a:solidFill>
                      <a:srgbClr val="1C1819"/>
                    </a:solidFill>
                    <a:latin typeface="Plus Jakarta Sans" panose="020B0604020202020204" charset="0"/>
                    <a:cs typeface="Plus Jakarta Sans" panose="020B0604020202020204" charset="0"/>
                  </a:rPr>
                  <a:t>distance</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threshold</a:t>
                </a:r>
                <a:r>
                  <a:rPr lang="it-IT" sz="1200" dirty="0">
                    <a:solidFill>
                      <a:srgbClr val="1C1819"/>
                    </a:solidFill>
                    <a:latin typeface="Plus Jakarta Sans" panose="020B0604020202020204" charset="0"/>
                    <a:cs typeface="Plus Jakarta Sans" panose="020B0604020202020204" charset="0"/>
                  </a:rPr>
                  <a:t> </a:t>
                </a:r>
                <a14:m>
                  <m:oMath xmlns:m="http://schemas.openxmlformats.org/officeDocument/2006/math">
                    <m:sSub>
                      <m:sSubPr>
                        <m:ctrlPr>
                          <a:rPr lang="it-IT" sz="1200" i="1">
                            <a:solidFill>
                              <a:srgbClr val="1C1819"/>
                            </a:solidFill>
                            <a:latin typeface="Cambria Math" panose="02040503050406030204" pitchFamily="18" charset="0"/>
                          </a:rPr>
                        </m:ctrlPr>
                      </m:sSubPr>
                      <m:e>
                        <m:r>
                          <a:rPr lang="it-IT" sz="1200" i="1">
                            <a:solidFill>
                              <a:srgbClr val="1C1819"/>
                            </a:solidFill>
                            <a:latin typeface="Cambria Math" panose="02040503050406030204" pitchFamily="18" charset="0"/>
                          </a:rPr>
                          <m:t>𝑑</m:t>
                        </m:r>
                      </m:e>
                      <m:sub>
                        <m:r>
                          <m:rPr>
                            <m:nor/>
                          </m:rPr>
                          <a:rPr lang="it-IT" sz="1200" i="0">
                            <a:solidFill>
                              <a:srgbClr val="1C1819"/>
                            </a:solidFill>
                            <a:latin typeface="Plus Jakarta Sans" panose="020B0604020202020204" charset="0"/>
                            <a:cs typeface="Plus Jakarta Sans" panose="020B0604020202020204" charset="0"/>
                          </a:rPr>
                          <m:t>max</m:t>
                        </m:r>
                      </m:sub>
                    </m:sSub>
                  </m:oMath>
                </a14:m>
                <a:r>
                  <a:rPr lang="it-IT" sz="1200" dirty="0">
                    <a:solidFill>
                      <a:srgbClr val="1C1819"/>
                    </a:solidFill>
                    <a:latin typeface="Plus Jakarta Sans" panose="020B0604020202020204" charset="0"/>
                    <a:cs typeface="Plus Jakarta Sans" panose="020B0604020202020204" charset="0"/>
                  </a:rPr>
                  <a:t>to eliminate </a:t>
                </a:r>
                <a:r>
                  <a:rPr lang="it-IT" sz="1200" dirty="0" err="1">
                    <a:solidFill>
                      <a:srgbClr val="1C1819"/>
                    </a:solidFill>
                    <a:latin typeface="Plus Jakarta Sans" panose="020B0604020202020204" charset="0"/>
                    <a:cs typeface="Plus Jakarta Sans" panose="020B0604020202020204" charset="0"/>
                  </a:rPr>
                  <a:t>forced</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centroid</a:t>
                </a:r>
                <a:r>
                  <a:rPr lang="it-IT" sz="1200" dirty="0">
                    <a:solidFill>
                      <a:srgbClr val="1C1819"/>
                    </a:solidFill>
                    <a:latin typeface="Plus Jakarta Sans" panose="020B0604020202020204" charset="0"/>
                    <a:cs typeface="Plus Jakarta Sans" panose="020B0604020202020204" charset="0"/>
                  </a:rPr>
                  <a:t> </a:t>
                </a:r>
                <a:r>
                  <a:rPr lang="it-IT" sz="1200" dirty="0" err="1">
                    <a:solidFill>
                      <a:srgbClr val="1C1819"/>
                    </a:solidFill>
                    <a:latin typeface="Plus Jakarta Sans" panose="020B0604020202020204" charset="0"/>
                    <a:cs typeface="Plus Jakarta Sans" panose="020B0604020202020204" charset="0"/>
                  </a:rPr>
                  <a:t>assignments</a:t>
                </a:r>
                <a:r>
                  <a:rPr lang="it-IT" sz="1200" dirty="0">
                    <a:solidFill>
                      <a:srgbClr val="1C1819"/>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mc:Choice>
        <mc:Fallback xmlns="">
          <p:sp>
            <p:nvSpPr>
              <p:cNvPr id="258" name="Google Shape;258;p21"/>
              <p:cNvSpPr txBox="1">
                <a:spLocks noRot="1" noChangeAspect="1" noMove="1" noResize="1" noEditPoints="1" noAdjustHandles="1" noChangeArrowheads="1" noChangeShapeType="1" noTextEdit="1"/>
              </p:cNvSpPr>
              <p:nvPr/>
            </p:nvSpPr>
            <p:spPr>
              <a:xfrm>
                <a:off x="799954" y="3473950"/>
                <a:ext cx="3187749" cy="830997"/>
              </a:xfrm>
              <a:prstGeom prst="rect">
                <a:avLst/>
              </a:prstGeom>
              <a:blipFill>
                <a:blip r:embed="rId5"/>
                <a:stretch>
                  <a:fillRect l="-2868" r="-1530" b="-6618"/>
                </a:stretch>
              </a:blipFill>
              <a:ln>
                <a:noFill/>
              </a:ln>
            </p:spPr>
            <p:txBody>
              <a:bodyPr/>
              <a:lstStyle/>
              <a:p>
                <a:r>
                  <a:rPr lang="it-IT">
                    <a:noFill/>
                  </a:rPr>
                  <a:t> </a:t>
                </a:r>
              </a:p>
            </p:txBody>
          </p:sp>
        </mc:Fallback>
      </mc:AlternateContent>
      <p:sp>
        <p:nvSpPr>
          <p:cNvPr id="261" name="Google Shape;261;p21"/>
          <p:cNvSpPr txBox="1"/>
          <p:nvPr/>
        </p:nvSpPr>
        <p:spPr>
          <a:xfrm>
            <a:off x="5652408" y="2202650"/>
            <a:ext cx="894163" cy="238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36B5E"/>
                </a:solidFill>
              </a:defRPr>
            </a:pPr>
            <a:r>
              <a:rPr lang="en-US" sz="1550" b="1" i="0" u="none" strike="noStrike" cap="none" dirty="0">
                <a:solidFill>
                  <a:srgbClr val="236B5E"/>
                </a:solidFill>
                <a:latin typeface="Plus Jakarta Sans"/>
                <a:ea typeface="Plus Jakarta Sans"/>
                <a:cs typeface="Plus Jakarta Sans"/>
                <a:sym typeface="Plus Jakarta Sans"/>
              </a:rPr>
              <a:t>DBSCAN</a:t>
            </a:r>
            <a:endParaRPr dirty="0"/>
          </a:p>
        </p:txBody>
      </p:sp>
      <p:sp>
        <p:nvSpPr>
          <p:cNvPr id="262" name="Google Shape;262;p21"/>
          <p:cNvSpPr txBox="1"/>
          <p:nvPr/>
        </p:nvSpPr>
        <p:spPr>
          <a:xfrm>
            <a:off x="1444264" y="2192321"/>
            <a:ext cx="1803732" cy="238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550" b="1">
                <a:solidFill>
                  <a:srgbClr val="204060"/>
                </a:solidFill>
              </a:defRPr>
            </a:pPr>
            <a:r>
              <a:rPr lang="en-US" sz="1550" b="1" i="0" u="none" strike="noStrike" cap="none" dirty="0" err="1">
                <a:solidFill>
                  <a:srgbClr val="204060"/>
                </a:solidFill>
                <a:latin typeface="Plus Jakarta Sans"/>
                <a:ea typeface="Plus Jakarta Sans"/>
                <a:cs typeface="Plus Jakarta Sans"/>
                <a:sym typeface="Plus Jakarta Sans"/>
              </a:rPr>
              <a:t>MiniBatchKMeans</a:t>
            </a:r>
            <a:endParaRPr dirty="0"/>
          </a:p>
        </p:txBody>
      </p:sp>
      <p:pic>
        <p:nvPicPr>
          <p:cNvPr id="264" name="Picture 263" descr="sapienza_logo.png"/>
          <p:cNvPicPr>
            <a:picLocks noChangeAspect="1"/>
          </p:cNvPicPr>
          <p:nvPr/>
        </p:nvPicPr>
        <p:blipFill>
          <a:blip r:embed="rId6"/>
          <a:stretch>
            <a:fillRect/>
          </a:stretch>
        </p:blipFill>
        <p:spPr>
          <a:xfrm>
            <a:off x="9750000" y="400000"/>
            <a:ext cx="1900000" cy="570000"/>
          </a:xfrm>
          <a:prstGeom prst="rect">
            <a:avLst/>
          </a:prstGeom>
        </p:spPr>
      </p:pic>
      <p:sp>
        <p:nvSpPr>
          <p:cNvPr id="265"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7AEE45E6-A74E-A056-D683-02BA74F9A152}"/>
              </a:ext>
            </a:extLst>
          </p:cNvPr>
          <p:cNvSpPr/>
          <p:nvPr/>
        </p:nvSpPr>
        <p:spPr>
          <a:xfrm>
            <a:off x="0" y="68199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67"/>
        <p:cNvGrpSpPr/>
        <p:nvPr/>
      </p:nvGrpSpPr>
      <p:grpSpPr>
        <a:xfrm>
          <a:off x="0" y="0"/>
          <a:ext cx="0" cy="0"/>
          <a:chOff x="0" y="0"/>
          <a:chExt cx="0" cy="0"/>
        </a:xfrm>
      </p:grpSpPr>
      <p:sp>
        <p:nvSpPr>
          <p:cNvPr id="268" name="Google Shape;268;p22"/>
          <p:cNvSpPr/>
          <p:nvPr/>
        </p:nvSpPr>
        <p:spPr>
          <a:xfrm>
            <a:off x="609600" y="1396179"/>
            <a:ext cx="4791967" cy="1544070"/>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9" name="Google Shape;269;p22"/>
          <p:cNvSpPr/>
          <p:nvPr/>
        </p:nvSpPr>
        <p:spPr>
          <a:xfrm>
            <a:off x="609600" y="3127372"/>
            <a:ext cx="4791967" cy="1465137"/>
          </a:xfrm>
          <a:prstGeom prst="roundRect">
            <a:avLst>
              <a:gd name="adj" fmla="val 12500"/>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0" name="Google Shape;270;p22"/>
          <p:cNvSpPr/>
          <p:nvPr/>
        </p:nvSpPr>
        <p:spPr>
          <a:xfrm>
            <a:off x="609600" y="4696478"/>
            <a:ext cx="4791967" cy="1823894"/>
          </a:xfrm>
          <a:prstGeom prst="roundRect">
            <a:avLst>
              <a:gd name="adj" fmla="val 19444"/>
            </a:avLst>
          </a:prstGeom>
          <a:solidFill>
            <a:srgbClr val="FFFFFF"/>
          </a:solidFill>
          <a:ln w="12700" cap="flat" cmpd="sng">
            <a:solidFill>
              <a:srgbClr val="E4DED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72" name="Google Shape;272;p22"/>
          <p:cNvPicPr preferRelativeResize="0"/>
          <p:nvPr/>
        </p:nvPicPr>
        <p:blipFill>
          <a:blip r:embed="rId3">
            <a:alphaModFix/>
          </a:blip>
          <a:srcRect/>
          <a:stretch/>
        </p:blipFill>
        <p:spPr>
          <a:xfrm>
            <a:off x="5794072" y="1960181"/>
            <a:ext cx="5700621" cy="3747262"/>
          </a:xfrm>
          <a:prstGeom prst="rect">
            <a:avLst/>
          </a:prstGeom>
          <a:noFill/>
          <a:ln>
            <a:noFill/>
          </a:ln>
        </p:spPr>
      </p:pic>
      <p:sp>
        <p:nvSpPr>
          <p:cNvPr id="273" name="Google Shape;273;p22"/>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STRUCTURAL GEOLOGY &amp; MATHEMATICS</a:t>
            </a:r>
            <a:endParaRPr/>
          </a:p>
        </p:txBody>
      </p:sp>
      <p:sp>
        <p:nvSpPr>
          <p:cNvPr id="274" name="Google Shape;274;p22"/>
          <p:cNvSpPr txBox="1"/>
          <p:nvPr/>
        </p:nvSpPr>
        <p:spPr>
          <a:xfrm>
            <a:off x="609600" y="840000"/>
            <a:ext cx="11582400" cy="409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Automated Fault Plane Estimation: RANSAC + SVD</a:t>
            </a:r>
            <a:endParaRPr/>
          </a:p>
        </p:txBody>
      </p:sp>
      <p:sp>
        <p:nvSpPr>
          <p:cNvPr id="275" name="Google Shape;275;p22"/>
          <p:cNvSpPr txBox="1"/>
          <p:nvPr/>
        </p:nvSpPr>
        <p:spPr>
          <a:xfrm>
            <a:off x="809624" y="1539212"/>
            <a:ext cx="2683384" cy="1962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1: RANSAC Inlier Consensus</a:t>
            </a:r>
            <a:endParaRPr dirty="0"/>
          </a:p>
        </p:txBody>
      </p:sp>
      <mc:AlternateContent xmlns:mc="http://schemas.openxmlformats.org/markup-compatibility/2006" xmlns:a14="http://schemas.microsoft.com/office/drawing/2010/main">
        <mc:Choice Requires="a14">
          <p:sp>
            <p:nvSpPr>
              <p:cNvPr id="276" name="Google Shape;276;p22"/>
              <p:cNvSpPr txBox="1"/>
              <p:nvPr/>
            </p:nvSpPr>
            <p:spPr>
              <a:xfrm>
                <a:off x="809624" y="1813240"/>
                <a:ext cx="4487167" cy="1000659"/>
              </a:xfrm>
              <a:prstGeom prst="rect">
                <a:avLst/>
              </a:prstGeom>
              <a:noFill/>
              <a:ln>
                <a:noFill/>
              </a:ln>
            </p:spPr>
            <p:txBody>
              <a:bodyPr spcFirstLastPara="1" wrap="square" lIns="0" tIns="0" rIns="0" bIns="0" anchor="t" anchorCtr="0">
                <a:spAutoFit/>
              </a:bodyPr>
              <a:lstStyle/>
              <a:p>
                <a:pPr lvl="0">
                  <a:lnSpc>
                    <a:spcPct val="150000"/>
                  </a:lnSpc>
                </a:pPr>
                <a:r>
                  <a:rPr lang="it-IT" sz="1200" dirty="0">
                    <a:latin typeface="Plus Jakarta Sans" panose="020B0604020202020204" charset="0"/>
                    <a:cs typeface="Plus Jakarta Sans" panose="020B0604020202020204" charset="0"/>
                  </a:rPr>
                  <a:t>Samples random point </a:t>
                </a:r>
                <a:r>
                  <a:rPr lang="it-IT" sz="1200" dirty="0" err="1">
                    <a:latin typeface="Plus Jakarta Sans" panose="020B0604020202020204" charset="0"/>
                    <a:cs typeface="Plus Jakarta Sans" panose="020B0604020202020204" charset="0"/>
                  </a:rPr>
                  <a:t>triplets</a:t>
                </a:r>
                <a:r>
                  <a:rPr lang="it-IT" sz="1200" dirty="0">
                    <a:latin typeface="Plus Jakarta Sans" panose="020B0604020202020204" charset="0"/>
                    <a:cs typeface="Plus Jakarta Sans" panose="020B0604020202020204" charset="0"/>
                  </a:rPr>
                  <a:t> </a:t>
                </a:r>
                <a14:m>
                  <m:oMath xmlns:m="http://schemas.openxmlformats.org/officeDocument/2006/math">
                    <m:d>
                      <m:dPr>
                        <m:begChr m:val="{"/>
                        <m:endChr m:val="}"/>
                        <m:sepChr m:val=","/>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1</m:t>
                            </m:r>
                          </m:sub>
                        </m:sSub>
                      </m:e>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2</m:t>
                            </m:r>
                          </m:sub>
                        </m:sSub>
                      </m:e>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3</m:t>
                            </m:r>
                          </m:sub>
                        </m:sSub>
                      </m:e>
                    </m:d>
                  </m:oMath>
                </a14:m>
                <a:r>
                  <a:rPr lang="it-IT" sz="1200" dirty="0">
                    <a:effectLst/>
                    <a:latin typeface="Plus Jakarta Sans" panose="020B0604020202020204" charset="0"/>
                    <a:cs typeface="Plus Jakarta Sans" panose="020B0604020202020204" charset="0"/>
                  </a:rPr>
                  <a:t>over 100 </a:t>
                </a:r>
                <a:r>
                  <a:rPr lang="it-IT" sz="1200" dirty="0" err="1">
                    <a:effectLst/>
                    <a:latin typeface="Plus Jakarta Sans" panose="020B0604020202020204" charset="0"/>
                    <a:cs typeface="Plus Jakarta Sans" panose="020B0604020202020204" charset="0"/>
                  </a:rPr>
                  <a:t>iterations</a:t>
                </a:r>
                <a:r>
                  <a:rPr lang="it-IT" sz="1200" dirty="0">
                    <a:effectLst/>
                    <a:latin typeface="Plus Jakarta Sans" panose="020B0604020202020204" charset="0"/>
                    <a:cs typeface="Plus Jakarta Sans" panose="020B0604020202020204" charset="0"/>
                  </a:rPr>
                  <a:t> to </a:t>
                </a:r>
                <a:r>
                  <a:rPr lang="it-IT" sz="1200" dirty="0" err="1">
                    <a:effectLst/>
                    <a:latin typeface="Plus Jakarta Sans" panose="020B0604020202020204" charset="0"/>
                    <a:cs typeface="Plus Jakarta Sans" panose="020B0604020202020204" charset="0"/>
                  </a:rPr>
                  <a:t>evaluate</a:t>
                </a:r>
                <a:r>
                  <a:rPr lang="it-IT" sz="1200" dirty="0">
                    <a:effectLst/>
                    <a:latin typeface="Plus Jakarta Sans" panose="020B0604020202020204" charset="0"/>
                    <a:cs typeface="Plus Jakarta Sans" panose="020B0604020202020204" charset="0"/>
                  </a:rPr>
                  <a:t> candidate </a:t>
                </a:r>
                <a:r>
                  <a:rPr lang="it-IT" sz="1200" dirty="0" err="1">
                    <a:effectLst/>
                    <a:latin typeface="Plus Jakarta Sans" panose="020B0604020202020204" charset="0"/>
                    <a:cs typeface="Plus Jakarta Sans" panose="020B0604020202020204" charset="0"/>
                  </a:rPr>
                  <a:t>plane</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normals</a:t>
                </a:r>
                <a:r>
                  <a:rPr lang="it-IT" sz="1200" dirty="0">
                    <a:effectLst/>
                    <a:latin typeface="Plus Jakarta Sans" panose="020B0604020202020204" charset="0"/>
                    <a:cs typeface="Plus Jakarta Sans" panose="020B0604020202020204" charset="0"/>
                  </a:rPr>
                  <a:t>: </a:t>
                </a:r>
                <a14:m>
                  <m:oMath xmlns:m="http://schemas.openxmlformats.org/officeDocument/2006/math">
                    <m:sSub>
                      <m:sSubPr>
                        <m:ctrlPr>
                          <a:rPr lang="it-IT" sz="1200" i="1">
                            <a:latin typeface="Cambria Math" panose="02040503050406030204" pitchFamily="18" charset="0"/>
                          </a:rPr>
                        </m:ctrlPr>
                      </m:sSubPr>
                      <m:e>
                        <m:acc>
                          <m:accPr>
                            <m:chr m:val="⃗"/>
                            <m:ctrlPr>
                              <a:rPr lang="it-IT" sz="1200" i="1">
                                <a:latin typeface="Cambria Math" panose="02040503050406030204" pitchFamily="18" charset="0"/>
                              </a:rPr>
                            </m:ctrlPr>
                          </m:accPr>
                          <m:e>
                            <m:r>
                              <a:rPr lang="it-IT" sz="1200" i="1">
                                <a:latin typeface="Cambria Math" panose="02040503050406030204" pitchFamily="18" charset="0"/>
                              </a:rPr>
                              <m:t>𝑛</m:t>
                            </m:r>
                          </m:e>
                        </m:acc>
                      </m:e>
                      <m:sub>
                        <m:r>
                          <m:rPr>
                            <m:nor/>
                          </m:rPr>
                          <a:rPr lang="it-IT" sz="1200" i="0">
                            <a:latin typeface="Plus Jakarta Sans" panose="020B0604020202020204" charset="0"/>
                            <a:cs typeface="Plus Jakarta Sans" panose="020B0604020202020204" charset="0"/>
                          </a:rPr>
                          <m:t>cand</m:t>
                        </m:r>
                      </m:sub>
                    </m:sSub>
                    <m:r>
                      <a:rPr lang="it-IT" sz="1200">
                        <a:latin typeface="Cambria Math" panose="02040503050406030204" pitchFamily="18" charset="0"/>
                      </a:rPr>
                      <m:t>=</m:t>
                    </m:r>
                    <m:f>
                      <m:fPr>
                        <m:ctrlPr>
                          <a:rPr lang="it-IT" sz="1200" i="1">
                            <a:latin typeface="Cambria Math" panose="02040503050406030204" pitchFamily="18" charset="0"/>
                          </a:rPr>
                        </m:ctrlPr>
                      </m:fPr>
                      <m:num>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2</m:t>
                                </m:r>
                              </m:sub>
                            </m:sSub>
                            <m:r>
                              <a:rPr lang="it-IT" sz="1200">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1</m:t>
                                </m:r>
                              </m:sub>
                            </m:sSub>
                          </m:e>
                        </m:d>
                        <m:r>
                          <a:rPr lang="it-IT" sz="1200">
                            <a:latin typeface="Cambria Math" panose="02040503050406030204" pitchFamily="18" charset="0"/>
                          </a:rPr>
                          <m:t>×</m:t>
                        </m:r>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3</m:t>
                                </m:r>
                              </m:sub>
                            </m:sSub>
                            <m:r>
                              <a:rPr lang="it-IT" sz="1200">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1</m:t>
                                </m:r>
                              </m:sub>
                            </m:sSub>
                          </m:e>
                        </m:d>
                      </m:num>
                      <m:den>
                        <m:r>
                          <a:rPr lang="it-IT" sz="1200">
                            <a:latin typeface="Cambria Math" panose="02040503050406030204" pitchFamily="18" charset="0"/>
                          </a:rPr>
                          <m:t>∥</m:t>
                        </m:r>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2</m:t>
                                </m:r>
                              </m:sub>
                            </m:sSub>
                            <m:r>
                              <a:rPr lang="it-IT" sz="1200">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1</m:t>
                                </m:r>
                              </m:sub>
                            </m:sSub>
                          </m:e>
                        </m:d>
                        <m:r>
                          <a:rPr lang="it-IT" sz="1200">
                            <a:latin typeface="Cambria Math" panose="02040503050406030204" pitchFamily="18" charset="0"/>
                          </a:rPr>
                          <m:t>×</m:t>
                        </m:r>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3</m:t>
                                </m:r>
                              </m:sub>
                            </m:sSub>
                            <m:r>
                              <a:rPr lang="it-IT" sz="1200">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𝑃</m:t>
                                </m:r>
                              </m:e>
                              <m:sub>
                                <m:r>
                                  <a:rPr lang="it-IT" sz="1200">
                                    <a:latin typeface="Cambria Math" panose="02040503050406030204" pitchFamily="18" charset="0"/>
                                  </a:rPr>
                                  <m:t>1</m:t>
                                </m:r>
                              </m:sub>
                            </m:sSub>
                          </m:e>
                        </m:d>
                        <m:r>
                          <a:rPr lang="it-IT" sz="1200">
                            <a:latin typeface="Cambria Math" panose="02040503050406030204" pitchFamily="18" charset="0"/>
                          </a:rPr>
                          <m:t>∥</m:t>
                        </m:r>
                      </m:den>
                    </m:f>
                  </m:oMath>
                </a14:m>
                <a:endParaRPr lang="it-IT" sz="1200" dirty="0">
                  <a:effectLst/>
                  <a:latin typeface="Plus Jakarta Sans" panose="020B0604020202020204" charset="0"/>
                  <a:cs typeface="Plus Jakarta Sans" panose="020B0604020202020204" charset="0"/>
                </a:endParaRPr>
              </a:p>
              <a:p>
                <a:pPr lvl="0">
                  <a:lnSpc>
                    <a:spcPct val="150000"/>
                  </a:lnSpc>
                </a:pPr>
                <a:r>
                  <a:rPr lang="it-IT" sz="1200" dirty="0" err="1">
                    <a:effectLst/>
                    <a:latin typeface="Plus Jakarta Sans" panose="020B0604020202020204" charset="0"/>
                    <a:cs typeface="Plus Jakarta Sans" panose="020B0604020202020204" charset="0"/>
                  </a:rPr>
                  <a:t>Maximizes</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inlier</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density</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within</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spatial</a:t>
                </a:r>
                <a:r>
                  <a:rPr lang="it-IT" sz="1200" dirty="0">
                    <a:effectLst/>
                    <a:latin typeface="Plus Jakarta Sans" panose="020B0604020202020204" charset="0"/>
                    <a:cs typeface="Plus Jakarta Sans" panose="020B0604020202020204" charset="0"/>
                  </a:rPr>
                  <a:t> </a:t>
                </a:r>
                <a:r>
                  <a:rPr lang="it-IT" sz="1200" dirty="0" err="1">
                    <a:effectLst/>
                    <a:latin typeface="Plus Jakarta Sans" panose="020B0604020202020204" charset="0"/>
                    <a:cs typeface="Plus Jakarta Sans" panose="020B0604020202020204" charset="0"/>
                  </a:rPr>
                  <a:t>threshold</a:t>
                </a:r>
                <a:r>
                  <a:rPr lang="it-IT" sz="1200" dirty="0">
                    <a:effectLst/>
                    <a:latin typeface="Plus Jakarta Sans" panose="020B0604020202020204" charset="0"/>
                    <a:cs typeface="Plus Jakarta Sans" panose="020B0604020202020204" charset="0"/>
                  </a:rPr>
                  <a:t>.</a:t>
                </a:r>
              </a:p>
            </p:txBody>
          </p:sp>
        </mc:Choice>
        <mc:Fallback xmlns="">
          <p:sp>
            <p:nvSpPr>
              <p:cNvPr id="276" name="Google Shape;276;p22"/>
              <p:cNvSpPr txBox="1">
                <a:spLocks noRot="1" noChangeAspect="1" noMove="1" noResize="1" noEditPoints="1" noAdjustHandles="1" noChangeArrowheads="1" noChangeShapeType="1" noTextEdit="1"/>
              </p:cNvSpPr>
              <p:nvPr/>
            </p:nvSpPr>
            <p:spPr>
              <a:xfrm>
                <a:off x="809624" y="1813240"/>
                <a:ext cx="4487167" cy="1000659"/>
              </a:xfrm>
              <a:prstGeom prst="rect">
                <a:avLst/>
              </a:prstGeom>
              <a:blipFill>
                <a:blip r:embed="rId4"/>
                <a:stretch>
                  <a:fillRect l="-2174" b="-4848"/>
                </a:stretch>
              </a:blipFill>
              <a:ln>
                <a:noFill/>
              </a:ln>
            </p:spPr>
            <p:txBody>
              <a:bodyPr/>
              <a:lstStyle/>
              <a:p>
                <a:r>
                  <a:rPr lang="it-IT">
                    <a:noFill/>
                  </a:rPr>
                  <a:t> </a:t>
                </a:r>
              </a:p>
            </p:txBody>
          </p:sp>
        </mc:Fallback>
      </mc:AlternateContent>
      <p:sp>
        <p:nvSpPr>
          <p:cNvPr id="277" name="Google Shape;277;p22"/>
          <p:cNvSpPr txBox="1"/>
          <p:nvPr/>
        </p:nvSpPr>
        <p:spPr>
          <a:xfrm>
            <a:off x="809624" y="3293921"/>
            <a:ext cx="2683384" cy="19620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275" b="1" i="0" u="none" strike="noStrike" cap="none" dirty="0">
                <a:solidFill>
                  <a:srgbClr val="822433"/>
                </a:solidFill>
                <a:latin typeface="Plus Jakarta Sans"/>
                <a:ea typeface="Plus Jakarta Sans"/>
                <a:cs typeface="Plus Jakarta Sans"/>
                <a:sym typeface="Plus Jakarta Sans"/>
              </a:rPr>
              <a:t>Step 2: SVD &amp; Geological Angles</a:t>
            </a:r>
            <a:endParaRPr dirty="0"/>
          </a:p>
        </p:txBody>
      </p:sp>
      <mc:AlternateContent xmlns:mc="http://schemas.openxmlformats.org/markup-compatibility/2006" xmlns:a14="http://schemas.microsoft.com/office/drawing/2010/main">
        <mc:Choice Requires="a14">
          <p:sp>
            <p:nvSpPr>
              <p:cNvPr id="278" name="Google Shape;278;p22"/>
              <p:cNvSpPr txBox="1"/>
              <p:nvPr/>
            </p:nvSpPr>
            <p:spPr>
              <a:xfrm>
                <a:off x="809625" y="3594098"/>
                <a:ext cx="4487167" cy="882486"/>
              </a:xfrm>
              <a:prstGeom prst="rect">
                <a:avLst/>
              </a:prstGeom>
              <a:noFill/>
              <a:ln>
                <a:noFill/>
              </a:ln>
            </p:spPr>
            <p:txBody>
              <a:bodyPr spcFirstLastPara="1" wrap="square" lIns="0" tIns="0" rIns="0" bIns="0" anchor="t" anchorCtr="0">
                <a:spAutoFit/>
              </a:bodyPr>
              <a:lstStyle/>
              <a:p>
                <a:pPr lvl="0">
                  <a:lnSpc>
                    <a:spcPct val="150000"/>
                  </a:lnSpc>
                  <a:defRPr b="0">
                    <a:solidFill>
                      <a:srgbClr val="2D2628"/>
                    </a:solidFill>
                  </a:defRPr>
                </a:pPr>
                <a:r>
                  <a:rPr lang="it-IT" sz="1200" dirty="0" err="1">
                    <a:solidFill>
                      <a:srgbClr val="2D2628"/>
                    </a:solidFill>
                    <a:latin typeface="Plus Jakarta Sans" panose="020B0604020202020204" charset="0"/>
                    <a:cs typeface="Plus Jakarta Sans" panose="020B0604020202020204" charset="0"/>
                  </a:rPr>
                  <a:t>Centered</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inlier</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matrix</a:t>
                </a:r>
                <a:r>
                  <a:rPr lang="it-IT" sz="1200" dirty="0">
                    <a:solidFill>
                      <a:srgbClr val="2D2628"/>
                    </a:solidFill>
                    <a:latin typeface="Plus Jakarta Sans" panose="020B0604020202020204" charset="0"/>
                    <a:cs typeface="Plus Jakarta Sans" panose="020B0604020202020204" charset="0"/>
                  </a:rPr>
                  <a:t> </a:t>
                </a:r>
                <a14:m>
                  <m:oMath xmlns:m="http://schemas.openxmlformats.org/officeDocument/2006/math">
                    <m:r>
                      <a:rPr lang="it-IT" sz="1200" i="1">
                        <a:solidFill>
                          <a:srgbClr val="2D2628"/>
                        </a:solidFill>
                        <a:latin typeface="Cambria Math" panose="02040503050406030204" pitchFamily="18" charset="0"/>
                      </a:rPr>
                      <m:t>𝐴</m:t>
                    </m:r>
                    <m:r>
                      <a:rPr lang="it-IT" sz="1200">
                        <a:solidFill>
                          <a:srgbClr val="2D2628"/>
                        </a:solidFill>
                        <a:latin typeface="Cambria Math" panose="02040503050406030204" pitchFamily="18" charset="0"/>
                      </a:rPr>
                      <m:t>∈</m:t>
                    </m:r>
                    <m:sSup>
                      <m:sSupPr>
                        <m:ctrlPr>
                          <a:rPr lang="it-IT" sz="1200">
                            <a:solidFill>
                              <a:srgbClr val="2D2628"/>
                            </a:solidFill>
                            <a:latin typeface="Cambria Math" panose="02040503050406030204" pitchFamily="18" charset="0"/>
                          </a:rPr>
                        </m:ctrlPr>
                      </m:sSupPr>
                      <m:e>
                        <m:r>
                          <a:rPr lang="it-IT" sz="1200">
                            <a:solidFill>
                              <a:srgbClr val="2D2628"/>
                            </a:solidFill>
                            <a:latin typeface="Cambria Math" panose="02040503050406030204" pitchFamily="18" charset="0"/>
                          </a:rPr>
                          <m:t>ℝ</m:t>
                        </m:r>
                      </m:e>
                      <m:sup>
                        <m:r>
                          <a:rPr lang="it-IT" sz="1200" i="1">
                            <a:solidFill>
                              <a:srgbClr val="2D2628"/>
                            </a:solidFill>
                            <a:latin typeface="Cambria Math" panose="02040503050406030204" pitchFamily="18" charset="0"/>
                          </a:rPr>
                          <m:t>𝑛</m:t>
                        </m:r>
                        <m:r>
                          <a:rPr lang="it-IT" sz="1200">
                            <a:solidFill>
                              <a:srgbClr val="2D2628"/>
                            </a:solidFill>
                            <a:latin typeface="Cambria Math" panose="02040503050406030204" pitchFamily="18" charset="0"/>
                          </a:rPr>
                          <m:t>×3</m:t>
                        </m:r>
                      </m:sup>
                    </m:sSup>
                    <m:r>
                      <a:rPr lang="it-IT" sz="1200">
                        <a:solidFill>
                          <a:srgbClr val="2D2628"/>
                        </a:solidFill>
                        <a:latin typeface="Cambria Math" panose="02040503050406030204" pitchFamily="18" charset="0"/>
                      </a:rPr>
                      <m:t>=</m:t>
                    </m:r>
                    <m:r>
                      <a:rPr lang="it-IT" sz="1200" i="1">
                        <a:solidFill>
                          <a:srgbClr val="2D2628"/>
                        </a:solidFill>
                        <a:latin typeface="Cambria Math" panose="02040503050406030204" pitchFamily="18" charset="0"/>
                      </a:rPr>
                      <m:t>𝑈</m:t>
                    </m:r>
                    <m:r>
                      <m:rPr>
                        <m:sty m:val="p"/>
                      </m:rPr>
                      <a:rPr lang="it-IT" sz="1200">
                        <a:solidFill>
                          <a:srgbClr val="2D2628"/>
                        </a:solidFill>
                        <a:latin typeface="Cambria Math" panose="02040503050406030204" pitchFamily="18" charset="0"/>
                      </a:rPr>
                      <m:t>Σ</m:t>
                    </m:r>
                    <m:sSup>
                      <m:sSupPr>
                        <m:ctrlPr>
                          <a:rPr lang="it-IT" sz="1200" i="1">
                            <a:solidFill>
                              <a:srgbClr val="2D2628"/>
                            </a:solidFill>
                            <a:latin typeface="Cambria Math" panose="02040503050406030204" pitchFamily="18" charset="0"/>
                          </a:rPr>
                        </m:ctrlPr>
                      </m:sSupPr>
                      <m:e>
                        <m:r>
                          <a:rPr lang="it-IT" sz="1200" i="1">
                            <a:solidFill>
                              <a:srgbClr val="2D2628"/>
                            </a:solidFill>
                            <a:latin typeface="Cambria Math" panose="02040503050406030204" pitchFamily="18" charset="0"/>
                          </a:rPr>
                          <m:t>𝑉</m:t>
                        </m:r>
                      </m:e>
                      <m:sup>
                        <m:r>
                          <a:rPr lang="it-IT" sz="1200" i="1">
                            <a:solidFill>
                              <a:srgbClr val="2D2628"/>
                            </a:solidFill>
                            <a:latin typeface="Cambria Math" panose="02040503050406030204" pitchFamily="18" charset="0"/>
                          </a:rPr>
                          <m:t>𝑇</m:t>
                        </m:r>
                      </m:sup>
                    </m:sSup>
                  </m:oMath>
                </a14:m>
                <a:r>
                  <a:rPr lang="it-IT" sz="1200" dirty="0">
                    <a:solidFill>
                      <a:srgbClr val="2D2628"/>
                    </a:solidFill>
                    <a:latin typeface="Plus Jakarta Sans" panose="020B0604020202020204" charset="0"/>
                    <a:cs typeface="Plus Jakarta Sans" panose="020B0604020202020204" charset="0"/>
                  </a:rPr>
                  <a:t>. The fault </a:t>
                </a:r>
                <a:r>
                  <a:rPr lang="it-IT" sz="1200" dirty="0" err="1">
                    <a:solidFill>
                      <a:srgbClr val="2D2628"/>
                    </a:solidFill>
                    <a:latin typeface="Plus Jakarta Sans" panose="020B0604020202020204" charset="0"/>
                    <a:cs typeface="Plus Jakarta Sans" panose="020B0604020202020204" charset="0"/>
                  </a:rPr>
                  <a:t>plane</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normal</a:t>
                </a:r>
                <a:r>
                  <a:rPr lang="it-IT" sz="1200" dirty="0">
                    <a:solidFill>
                      <a:srgbClr val="2D2628"/>
                    </a:solidFill>
                    <a:latin typeface="Plus Jakarta Sans" panose="020B0604020202020204" charset="0"/>
                    <a:cs typeface="Plus Jakarta Sans" panose="020B0604020202020204" charset="0"/>
                  </a:rPr>
                  <a:t> </a:t>
                </a:r>
                <a14:m>
                  <m:oMath xmlns:m="http://schemas.openxmlformats.org/officeDocument/2006/math">
                    <m:acc>
                      <m:accPr>
                        <m:chr m:val="⃗"/>
                        <m:ctrlPr>
                          <a:rPr lang="it-IT" sz="1200" i="1">
                            <a:solidFill>
                              <a:srgbClr val="2D2628"/>
                            </a:solidFill>
                            <a:latin typeface="Cambria Math" panose="02040503050406030204" pitchFamily="18" charset="0"/>
                          </a:rPr>
                        </m:ctrlPr>
                      </m:accPr>
                      <m:e>
                        <m:r>
                          <a:rPr lang="it-IT" sz="1200" i="1">
                            <a:solidFill>
                              <a:srgbClr val="2D2628"/>
                            </a:solidFill>
                            <a:latin typeface="Cambria Math" panose="02040503050406030204" pitchFamily="18" charset="0"/>
                          </a:rPr>
                          <m:t>𝑛</m:t>
                        </m:r>
                      </m:e>
                    </m:acc>
                    <m:r>
                      <a:rPr lang="it-IT" sz="1200">
                        <a:solidFill>
                          <a:srgbClr val="2D2628"/>
                        </a:solidFill>
                        <a:latin typeface="Cambria Math" panose="02040503050406030204" pitchFamily="18" charset="0"/>
                      </a:rPr>
                      <m:t>=</m:t>
                    </m:r>
                    <m:d>
                      <m:dPr>
                        <m:begChr m:val="["/>
                        <m:endChr m:val="]"/>
                        <m:sepChr m:val=","/>
                        <m:ctrlPr>
                          <a:rPr lang="it-IT" sz="1200" i="1">
                            <a:solidFill>
                              <a:srgbClr val="2D2628"/>
                            </a:solidFill>
                            <a:latin typeface="Cambria Math" panose="02040503050406030204" pitchFamily="18" charset="0"/>
                          </a:rPr>
                        </m:ctrlPr>
                      </m:dPr>
                      <m:e>
                        <m:sSub>
                          <m:sSubPr>
                            <m:ctrlPr>
                              <a:rPr lang="it-IT" sz="1200" i="1">
                                <a:solidFill>
                                  <a:srgbClr val="2D2628"/>
                                </a:solidFill>
                                <a:latin typeface="Cambria Math" panose="02040503050406030204" pitchFamily="18" charset="0"/>
                              </a:rPr>
                            </m:ctrlPr>
                          </m:sSubPr>
                          <m:e>
                            <m:r>
                              <a:rPr lang="it-IT" sz="1200" i="1">
                                <a:solidFill>
                                  <a:srgbClr val="2D2628"/>
                                </a:solidFill>
                                <a:latin typeface="Cambria Math" panose="02040503050406030204" pitchFamily="18" charset="0"/>
                              </a:rPr>
                              <m:t>𝑛</m:t>
                            </m:r>
                          </m:e>
                          <m:sub>
                            <m:r>
                              <a:rPr lang="it-IT" sz="1200" i="1">
                                <a:solidFill>
                                  <a:srgbClr val="2D2628"/>
                                </a:solidFill>
                                <a:latin typeface="Cambria Math" panose="02040503050406030204" pitchFamily="18" charset="0"/>
                              </a:rPr>
                              <m:t>𝑥</m:t>
                            </m:r>
                          </m:sub>
                        </m:sSub>
                      </m:e>
                      <m:e>
                        <m:sSub>
                          <m:sSubPr>
                            <m:ctrlPr>
                              <a:rPr lang="it-IT" sz="1200" i="1">
                                <a:solidFill>
                                  <a:srgbClr val="2D2628"/>
                                </a:solidFill>
                                <a:latin typeface="Cambria Math" panose="02040503050406030204" pitchFamily="18" charset="0"/>
                              </a:rPr>
                            </m:ctrlPr>
                          </m:sSubPr>
                          <m:e>
                            <m:r>
                              <a:rPr lang="it-IT" sz="1200" i="1">
                                <a:solidFill>
                                  <a:srgbClr val="2D2628"/>
                                </a:solidFill>
                                <a:latin typeface="Cambria Math" panose="02040503050406030204" pitchFamily="18" charset="0"/>
                              </a:rPr>
                              <m:t>𝑛</m:t>
                            </m:r>
                          </m:e>
                          <m:sub>
                            <m:r>
                              <a:rPr lang="it-IT" sz="1200" i="1">
                                <a:solidFill>
                                  <a:srgbClr val="2D2628"/>
                                </a:solidFill>
                                <a:latin typeface="Cambria Math" panose="02040503050406030204" pitchFamily="18" charset="0"/>
                              </a:rPr>
                              <m:t>𝑦</m:t>
                            </m:r>
                          </m:sub>
                        </m:sSub>
                      </m:e>
                      <m:e>
                        <m:sSub>
                          <m:sSubPr>
                            <m:ctrlPr>
                              <a:rPr lang="it-IT" sz="1200" i="1">
                                <a:solidFill>
                                  <a:srgbClr val="2D2628"/>
                                </a:solidFill>
                                <a:latin typeface="Cambria Math" panose="02040503050406030204" pitchFamily="18" charset="0"/>
                              </a:rPr>
                            </m:ctrlPr>
                          </m:sSubPr>
                          <m:e>
                            <m:r>
                              <a:rPr lang="it-IT" sz="1200" i="1">
                                <a:solidFill>
                                  <a:srgbClr val="2D2628"/>
                                </a:solidFill>
                                <a:latin typeface="Cambria Math" panose="02040503050406030204" pitchFamily="18" charset="0"/>
                              </a:rPr>
                              <m:t>𝑛</m:t>
                            </m:r>
                          </m:e>
                          <m:sub>
                            <m:r>
                              <a:rPr lang="it-IT" sz="1200" i="1">
                                <a:solidFill>
                                  <a:srgbClr val="2D2628"/>
                                </a:solidFill>
                                <a:latin typeface="Cambria Math" panose="02040503050406030204" pitchFamily="18" charset="0"/>
                              </a:rPr>
                              <m:t>𝑧</m:t>
                            </m:r>
                          </m:sub>
                        </m:sSub>
                      </m:e>
                    </m:d>
                  </m:oMath>
                </a14:m>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is</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defined</a:t>
                </a:r>
                <a:r>
                  <a:rPr lang="it-IT" sz="1200" dirty="0">
                    <a:solidFill>
                      <a:srgbClr val="2D2628"/>
                    </a:solidFill>
                    <a:latin typeface="Plus Jakarta Sans" panose="020B0604020202020204" charset="0"/>
                    <a:cs typeface="Plus Jakarta Sans" panose="020B0604020202020204" charset="0"/>
                  </a:rPr>
                  <a:t> by the </a:t>
                </a:r>
                <a:r>
                  <a:rPr lang="it-IT" sz="1200" dirty="0" err="1">
                    <a:solidFill>
                      <a:srgbClr val="2D2628"/>
                    </a:solidFill>
                    <a:latin typeface="Plus Jakarta Sans" panose="020B0604020202020204" charset="0"/>
                    <a:cs typeface="Plus Jakarta Sans" panose="020B0604020202020204" charset="0"/>
                  </a:rPr>
                  <a:t>eigenvector</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corresponding</a:t>
                </a:r>
                <a:r>
                  <a:rPr lang="it-IT" sz="1200" dirty="0">
                    <a:solidFill>
                      <a:srgbClr val="2D2628"/>
                    </a:solidFill>
                    <a:latin typeface="Plus Jakarta Sans" panose="020B0604020202020204" charset="0"/>
                    <a:cs typeface="Plus Jakarta Sans" panose="020B0604020202020204" charset="0"/>
                  </a:rPr>
                  <a:t> to </a:t>
                </a:r>
                <a:r>
                  <a:rPr lang="it-IT" sz="1200" dirty="0" err="1">
                    <a:solidFill>
                      <a:srgbClr val="2D2628"/>
                    </a:solidFill>
                    <a:latin typeface="Plus Jakarta Sans" panose="020B0604020202020204" charset="0"/>
                    <a:cs typeface="Plus Jakarta Sans" panose="020B0604020202020204" charset="0"/>
                  </a:rPr>
                  <a:t>smallest</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singular</a:t>
                </a:r>
                <a:r>
                  <a:rPr lang="it-IT" sz="1200" dirty="0">
                    <a:solidFill>
                      <a:srgbClr val="2D2628"/>
                    </a:solidFill>
                    <a:latin typeface="Plus Jakarta Sans" panose="020B0604020202020204" charset="0"/>
                    <a:cs typeface="Plus Jakarta Sans" panose="020B0604020202020204" charset="0"/>
                  </a:rPr>
                  <a:t> </a:t>
                </a:r>
                <a:r>
                  <a:rPr lang="it-IT" sz="1200" dirty="0" err="1">
                    <a:solidFill>
                      <a:srgbClr val="2D2628"/>
                    </a:solidFill>
                    <a:latin typeface="Plus Jakarta Sans" panose="020B0604020202020204" charset="0"/>
                    <a:cs typeface="Plus Jakarta Sans" panose="020B0604020202020204" charset="0"/>
                  </a:rPr>
                  <a:t>value</a:t>
                </a:r>
                <a:r>
                  <a:rPr lang="it-IT" sz="1200" dirty="0">
                    <a:solidFill>
                      <a:srgbClr val="2D2628"/>
                    </a:solidFill>
                    <a:latin typeface="Plus Jakarta Sans" panose="020B0604020202020204" charset="0"/>
                    <a:cs typeface="Plus Jakarta Sans" panose="020B0604020202020204" charset="0"/>
                  </a:rPr>
                  <a:t> </a:t>
                </a:r>
                <a14:m>
                  <m:oMath xmlns:m="http://schemas.openxmlformats.org/officeDocument/2006/math">
                    <m:sSub>
                      <m:sSubPr>
                        <m:ctrlPr>
                          <a:rPr lang="it-IT" sz="1200" i="1">
                            <a:solidFill>
                              <a:srgbClr val="2D2628"/>
                            </a:solidFill>
                            <a:latin typeface="Cambria Math" panose="02040503050406030204" pitchFamily="18" charset="0"/>
                          </a:rPr>
                        </m:ctrlPr>
                      </m:sSubPr>
                      <m:e>
                        <m:r>
                          <a:rPr lang="it-IT" sz="1200" i="1">
                            <a:solidFill>
                              <a:srgbClr val="2D2628"/>
                            </a:solidFill>
                            <a:latin typeface="Cambria Math" panose="02040503050406030204" pitchFamily="18" charset="0"/>
                          </a:rPr>
                          <m:t>𝜎</m:t>
                        </m:r>
                      </m:e>
                      <m:sub>
                        <m:r>
                          <a:rPr lang="it-IT" sz="1200">
                            <a:solidFill>
                              <a:srgbClr val="2D2628"/>
                            </a:solidFill>
                            <a:latin typeface="Cambria Math" panose="02040503050406030204" pitchFamily="18" charset="0"/>
                          </a:rPr>
                          <m:t>3</m:t>
                        </m:r>
                      </m:sub>
                    </m:sSub>
                  </m:oMath>
                </a14:m>
                <a:r>
                  <a:rPr lang="it-IT" sz="1200" dirty="0">
                    <a:solidFill>
                      <a:srgbClr val="2D2628"/>
                    </a:solidFill>
                    <a:latin typeface="Plus Jakarta Sans" panose="020B0604020202020204" charset="0"/>
                    <a:cs typeface="Plus Jakarta Sans" panose="020B0604020202020204" charset="0"/>
                  </a:rPr>
                  <a:t>.</a:t>
                </a:r>
                <a:endParaRPr sz="1200" dirty="0">
                  <a:latin typeface="Plus Jakarta Sans" panose="020B0604020202020204" charset="0"/>
                  <a:cs typeface="Plus Jakarta Sans" panose="020B0604020202020204" charset="0"/>
                </a:endParaRPr>
              </a:p>
            </p:txBody>
          </p:sp>
        </mc:Choice>
        <mc:Fallback xmlns="">
          <p:sp>
            <p:nvSpPr>
              <p:cNvPr id="278" name="Google Shape;278;p22"/>
              <p:cNvSpPr txBox="1">
                <a:spLocks noRot="1" noChangeAspect="1" noMove="1" noResize="1" noEditPoints="1" noAdjustHandles="1" noChangeArrowheads="1" noChangeShapeType="1" noTextEdit="1"/>
              </p:cNvSpPr>
              <p:nvPr/>
            </p:nvSpPr>
            <p:spPr>
              <a:xfrm>
                <a:off x="809625" y="3594098"/>
                <a:ext cx="4487167" cy="882486"/>
              </a:xfrm>
              <a:prstGeom prst="rect">
                <a:avLst/>
              </a:prstGeom>
              <a:blipFill>
                <a:blip r:embed="rId5"/>
                <a:stretch>
                  <a:fillRect l="-2174" r="-408" b="-6250"/>
                </a:stretch>
              </a:blipFill>
              <a:ln>
                <a:noFill/>
              </a:ln>
            </p:spPr>
            <p:txBody>
              <a:bodyPr/>
              <a:lstStyle/>
              <a:p>
                <a:r>
                  <a:rPr lang="it-IT">
                    <a:noFill/>
                  </a:rPr>
                  <a:t> </a:t>
                </a:r>
              </a:p>
            </p:txBody>
          </p:sp>
        </mc:Fallback>
      </mc:AlternateContent>
      <p:pic>
        <p:nvPicPr>
          <p:cNvPr id="280" name="Picture 279" descr="sapienza_logo.png"/>
          <p:cNvPicPr>
            <a:picLocks noChangeAspect="1"/>
          </p:cNvPicPr>
          <p:nvPr/>
        </p:nvPicPr>
        <p:blipFill>
          <a:blip r:embed="rId6"/>
          <a:stretch>
            <a:fillRect/>
          </a:stretch>
        </p:blipFill>
        <p:spPr>
          <a:xfrm>
            <a:off x="9750000" y="400000"/>
            <a:ext cx="1900000" cy="570000"/>
          </a:xfrm>
          <a:prstGeom prst="rect">
            <a:avLst/>
          </a:prstGeom>
        </p:spPr>
      </p:pic>
      <p:sp>
        <p:nvSpPr>
          <p:cNvPr id="281"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0D859F81-B27C-87A3-C900-DAF5FB6A4BC2}"/>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Immagine 7">
            <a:extLst>
              <a:ext uri="{FF2B5EF4-FFF2-40B4-BE49-F238E27FC236}">
                <a16:creationId xmlns:a16="http://schemas.microsoft.com/office/drawing/2014/main" id="{26F2498A-5938-F04D-6C74-A2EF3A02D342}"/>
              </a:ext>
            </a:extLst>
          </p:cNvPr>
          <p:cNvPicPr>
            <a:picLocks noChangeAspect="1"/>
          </p:cNvPicPr>
          <p:nvPr/>
        </p:nvPicPr>
        <p:blipFill>
          <a:blip r:embed="rId7"/>
          <a:stretch>
            <a:fillRect/>
          </a:stretch>
        </p:blipFill>
        <p:spPr>
          <a:xfrm>
            <a:off x="240922" y="4952373"/>
            <a:ext cx="3888800" cy="922766"/>
          </a:xfrm>
          <a:prstGeom prst="rect">
            <a:avLst/>
          </a:prstGeom>
        </p:spPr>
      </p:pic>
      <p:pic>
        <p:nvPicPr>
          <p:cNvPr id="10" name="Immagine 9">
            <a:extLst>
              <a:ext uri="{FF2B5EF4-FFF2-40B4-BE49-F238E27FC236}">
                <a16:creationId xmlns:a16="http://schemas.microsoft.com/office/drawing/2014/main" id="{A938CC6F-7957-1EF2-CA2F-0225356AE0B9}"/>
              </a:ext>
            </a:extLst>
          </p:cNvPr>
          <p:cNvPicPr>
            <a:picLocks noChangeAspect="1"/>
          </p:cNvPicPr>
          <p:nvPr/>
        </p:nvPicPr>
        <p:blipFill>
          <a:blip r:embed="rId8"/>
          <a:stretch>
            <a:fillRect/>
          </a:stretch>
        </p:blipFill>
        <p:spPr>
          <a:xfrm>
            <a:off x="1688864" y="5447592"/>
            <a:ext cx="3527221" cy="836968"/>
          </a:xfrm>
          <a:prstGeom prst="rect">
            <a:avLst/>
          </a:prstGeom>
        </p:spPr>
      </p:pic>
      <p:pic>
        <p:nvPicPr>
          <p:cNvPr id="12" name="Immagine 11">
            <a:extLst>
              <a:ext uri="{FF2B5EF4-FFF2-40B4-BE49-F238E27FC236}">
                <a16:creationId xmlns:a16="http://schemas.microsoft.com/office/drawing/2014/main" id="{93EE4847-5ADC-FA3E-7B74-DA760BB1A05D}"/>
              </a:ext>
            </a:extLst>
          </p:cNvPr>
          <p:cNvPicPr>
            <a:picLocks noChangeAspect="1"/>
          </p:cNvPicPr>
          <p:nvPr/>
        </p:nvPicPr>
        <p:blipFill>
          <a:blip r:embed="rId9"/>
          <a:stretch>
            <a:fillRect/>
          </a:stretch>
        </p:blipFill>
        <p:spPr>
          <a:xfrm>
            <a:off x="921074" y="5854666"/>
            <a:ext cx="3527226" cy="836968"/>
          </a:xfrm>
          <a:prstGeom prst="rect">
            <a:avLst/>
          </a:prstGeom>
        </p:spPr>
      </p:pic>
      <p:sp>
        <p:nvSpPr>
          <p:cNvPr id="15" name="CasellaDiTesto 14">
            <a:extLst>
              <a:ext uri="{FF2B5EF4-FFF2-40B4-BE49-F238E27FC236}">
                <a16:creationId xmlns:a16="http://schemas.microsoft.com/office/drawing/2014/main" id="{87A05B68-D97A-FDC7-BE4A-5F661925822A}"/>
              </a:ext>
            </a:extLst>
          </p:cNvPr>
          <p:cNvSpPr txBox="1"/>
          <p:nvPr/>
        </p:nvSpPr>
        <p:spPr>
          <a:xfrm>
            <a:off x="809624" y="4670329"/>
            <a:ext cx="1375698" cy="1746119"/>
          </a:xfrm>
          <a:prstGeom prst="rect">
            <a:avLst/>
          </a:prstGeom>
          <a:noFill/>
        </p:spPr>
        <p:txBody>
          <a:bodyPr wrap="none" rtlCol="0">
            <a:spAutoFit/>
          </a:bodyPr>
          <a:lstStyle/>
          <a:p>
            <a:pPr>
              <a:lnSpc>
                <a:spcPct val="200000"/>
              </a:lnSpc>
            </a:pPr>
            <a:r>
              <a:rPr lang="it-IT" dirty="0" err="1">
                <a:latin typeface="Plus Jakarta Sans" panose="020B0604020202020204" charset="0"/>
                <a:cs typeface="Plus Jakarta Sans" panose="020B0604020202020204" charset="0"/>
              </a:rPr>
              <a:t>Planarity</a:t>
            </a:r>
            <a:r>
              <a:rPr lang="it-IT" dirty="0">
                <a:latin typeface="Plus Jakarta Sans" panose="020B0604020202020204" charset="0"/>
                <a:cs typeface="Plus Jakarta Sans" panose="020B0604020202020204" charset="0"/>
              </a:rPr>
              <a:t>: </a:t>
            </a:r>
          </a:p>
          <a:p>
            <a:pPr>
              <a:lnSpc>
                <a:spcPct val="200000"/>
              </a:lnSpc>
            </a:pPr>
            <a:r>
              <a:rPr lang="it-IT" dirty="0">
                <a:latin typeface="Plus Jakarta Sans" panose="020B0604020202020204" charset="0"/>
                <a:cs typeface="Plus Jakarta Sans" panose="020B0604020202020204" charset="0"/>
              </a:rPr>
              <a:t>Dip:</a:t>
            </a:r>
          </a:p>
          <a:p>
            <a:pPr>
              <a:lnSpc>
                <a:spcPct val="200000"/>
              </a:lnSpc>
            </a:pPr>
            <a:r>
              <a:rPr lang="it-IT" dirty="0">
                <a:latin typeface="Plus Jakarta Sans" panose="020B0604020202020204" charset="0"/>
                <a:cs typeface="Plus Jakarta Sans" panose="020B0604020202020204" charset="0"/>
              </a:rPr>
              <a:t>Dip </a:t>
            </a:r>
            <a:r>
              <a:rPr lang="it-IT" dirty="0" err="1">
                <a:latin typeface="Plus Jakarta Sans" panose="020B0604020202020204" charset="0"/>
                <a:cs typeface="Plus Jakarta Sans" panose="020B0604020202020204" charset="0"/>
              </a:rPr>
              <a:t>Direction</a:t>
            </a:r>
            <a:r>
              <a:rPr lang="it-IT" dirty="0">
                <a:latin typeface="Plus Jakarta Sans" panose="020B0604020202020204" charset="0"/>
                <a:cs typeface="Plus Jakarta Sans" panose="020B0604020202020204" charset="0"/>
              </a:rPr>
              <a:t>: </a:t>
            </a:r>
          </a:p>
          <a:p>
            <a:pPr>
              <a:lnSpc>
                <a:spcPct val="200000"/>
              </a:lnSpc>
            </a:pPr>
            <a:r>
              <a:rPr lang="it-IT" dirty="0">
                <a:latin typeface="Plus Jakarta Sans" panose="020B0604020202020204" charset="0"/>
                <a:cs typeface="Plus Jakarta Sans" panose="020B0604020202020204" charset="0"/>
              </a:rPr>
              <a:t>Strike:</a:t>
            </a:r>
          </a:p>
        </p:txBody>
      </p:sp>
      <p:pic>
        <p:nvPicPr>
          <p:cNvPr id="17" name="Immagine 16">
            <a:extLst>
              <a:ext uri="{FF2B5EF4-FFF2-40B4-BE49-F238E27FC236}">
                <a16:creationId xmlns:a16="http://schemas.microsoft.com/office/drawing/2014/main" id="{89DCEB93-9C53-8ADA-034F-35708455BF34}"/>
              </a:ext>
            </a:extLst>
          </p:cNvPr>
          <p:cNvPicPr>
            <a:picLocks noChangeAspect="1"/>
          </p:cNvPicPr>
          <p:nvPr/>
        </p:nvPicPr>
        <p:blipFill>
          <a:blip r:embed="rId10"/>
          <a:stretch>
            <a:fillRect/>
          </a:stretch>
        </p:blipFill>
        <p:spPr>
          <a:xfrm>
            <a:off x="1880965" y="4856187"/>
            <a:ext cx="932465" cy="27898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299"/>
        <p:cNvGrpSpPr/>
        <p:nvPr/>
      </p:nvGrpSpPr>
      <p:grpSpPr>
        <a:xfrm>
          <a:off x="0" y="0"/>
          <a:ext cx="0" cy="0"/>
          <a:chOff x="0" y="0"/>
          <a:chExt cx="0" cy="0"/>
        </a:xfrm>
      </p:grpSpPr>
      <p:sp>
        <p:nvSpPr>
          <p:cNvPr id="301" name="Google Shape;301;p24"/>
          <p:cNvSpPr/>
          <p:nvPr/>
        </p:nvSpPr>
        <p:spPr>
          <a:xfrm>
            <a:off x="609600" y="1950000"/>
            <a:ext cx="3112008" cy="3234648"/>
          </a:xfrm>
          <a:prstGeom prst="roundRect">
            <a:avLst>
              <a:gd name="adj" fmla="val 9163"/>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2" name="Google Shape;302;p24"/>
          <p:cNvSpPr/>
          <p:nvPr/>
        </p:nvSpPr>
        <p:spPr>
          <a:xfrm>
            <a:off x="4142232" y="1950000"/>
            <a:ext cx="4041648" cy="4068000"/>
          </a:xfrm>
          <a:prstGeom prst="roundRect">
            <a:avLst>
              <a:gd name="adj" fmla="val 640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303" name="Google Shape;303;p24"/>
          <p:cNvSpPr/>
          <p:nvPr/>
        </p:nvSpPr>
        <p:spPr>
          <a:xfrm>
            <a:off x="8604503" y="1959178"/>
            <a:ext cx="3161837" cy="3506211"/>
          </a:xfrm>
          <a:prstGeom prst="roundRect">
            <a:avLst>
              <a:gd name="adj" fmla="val 9163"/>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05" name="Google Shape;305;p24"/>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DATA ENGINEERING PIPELINE</a:t>
            </a:r>
            <a:endParaRPr/>
          </a:p>
        </p:txBody>
      </p:sp>
      <p:sp>
        <p:nvSpPr>
          <p:cNvPr id="306" name="Google Shape;306;p24"/>
          <p:cNvSpPr txBox="1"/>
          <p:nvPr/>
        </p:nvSpPr>
        <p:spPr>
          <a:xfrm>
            <a:off x="609600" y="840000"/>
            <a:ext cx="9140400" cy="800219"/>
          </a:xfrm>
          <a:prstGeom prst="rect">
            <a:avLst/>
          </a:prstGeom>
          <a:noFill/>
          <a:ln>
            <a:noFill/>
          </a:ln>
        </p:spPr>
        <p:txBody>
          <a:bodyPr spcFirstLastPara="1" wrap="square" lIns="0" tIns="0" rIns="0" bIns="0" anchor="t" anchorCtr="0">
            <a:spAutoFit/>
          </a:bodyPr>
          <a:lstStyle/>
          <a:p>
            <a:pPr lvl="0">
              <a:defRPr sz="2600" b="1">
                <a:solidFill>
                  <a:srgbClr val="822433"/>
                </a:solidFill>
              </a:defRPr>
            </a:pPr>
            <a:r>
              <a:rPr lang="it-IT" sz="2600" b="1" dirty="0" err="1">
                <a:solidFill>
                  <a:srgbClr val="822433"/>
                </a:solidFill>
                <a:latin typeface="Cinzel" panose="020B0604020202020204" charset="0"/>
              </a:rPr>
              <a:t>Geospatial</a:t>
            </a:r>
            <a:r>
              <a:rPr lang="it-IT" sz="2600" b="1" dirty="0">
                <a:solidFill>
                  <a:srgbClr val="822433"/>
                </a:solidFill>
                <a:latin typeface="Cinzel" panose="020B0604020202020204" charset="0"/>
              </a:rPr>
              <a:t> </a:t>
            </a:r>
            <a:r>
              <a:rPr lang="it-IT" sz="2600" b="1" dirty="0" err="1">
                <a:solidFill>
                  <a:srgbClr val="822433"/>
                </a:solidFill>
                <a:latin typeface="Cinzel" panose="020B0604020202020204" charset="0"/>
              </a:rPr>
              <a:t>Ingestion</a:t>
            </a:r>
            <a:r>
              <a:rPr lang="it-IT" sz="2600" b="1" dirty="0">
                <a:solidFill>
                  <a:srgbClr val="822433"/>
                </a:solidFill>
                <a:latin typeface="Cinzel" panose="020B0604020202020204" charset="0"/>
              </a:rPr>
              <a:t>, Quality </a:t>
            </a:r>
            <a:r>
              <a:rPr lang="it-IT" sz="2600" b="1" dirty="0" err="1">
                <a:solidFill>
                  <a:srgbClr val="822433"/>
                </a:solidFill>
                <a:latin typeface="Cinzel" panose="020B0604020202020204" charset="0"/>
              </a:rPr>
              <a:t>Sanitisation</a:t>
            </a:r>
            <a:r>
              <a:rPr lang="it-IT" sz="2600" b="1" dirty="0">
                <a:solidFill>
                  <a:srgbClr val="822433"/>
                </a:solidFill>
                <a:latin typeface="Cinzel" panose="020B0604020202020204" charset="0"/>
              </a:rPr>
              <a:t> &amp; </a:t>
            </a:r>
            <a:r>
              <a:rPr lang="it-IT" sz="2600" b="1" dirty="0" err="1">
                <a:solidFill>
                  <a:srgbClr val="822433"/>
                </a:solidFill>
                <a:latin typeface="Cinzel" panose="020B0604020202020204" charset="0"/>
              </a:rPr>
              <a:t>Binary</a:t>
            </a:r>
            <a:r>
              <a:rPr lang="it-IT" sz="2600" b="1" dirty="0">
                <a:solidFill>
                  <a:srgbClr val="822433"/>
                </a:solidFill>
                <a:latin typeface="Cinzel" panose="020B0604020202020204" charset="0"/>
              </a:rPr>
              <a:t> Streaming </a:t>
            </a:r>
            <a:r>
              <a:rPr lang="it-IT" sz="2600" b="1" dirty="0" err="1">
                <a:solidFill>
                  <a:srgbClr val="822433"/>
                </a:solidFill>
                <a:latin typeface="Cinzel" panose="020B0604020202020204" charset="0"/>
              </a:rPr>
              <a:t>Protocol</a:t>
            </a:r>
            <a:endParaRPr dirty="0">
              <a:latin typeface="Cinzel" panose="020B0604020202020204" charset="0"/>
            </a:endParaRPr>
          </a:p>
        </p:txBody>
      </p:sp>
      <p:sp>
        <p:nvSpPr>
          <p:cNvPr id="312" name="Google Shape;312;p24"/>
          <p:cNvSpPr txBox="1"/>
          <p:nvPr/>
        </p:nvSpPr>
        <p:spPr>
          <a:xfrm>
            <a:off x="869823" y="2091283"/>
            <a:ext cx="2591562" cy="477054"/>
          </a:xfrm>
          <a:prstGeom prst="rect">
            <a:avLst/>
          </a:prstGeom>
          <a:noFill/>
          <a:ln>
            <a:noFill/>
          </a:ln>
        </p:spPr>
        <p:txBody>
          <a:bodyPr spcFirstLastPara="1" wrap="square" lIns="0" tIns="0" rIns="0" bIns="0" anchor="t" anchorCtr="0">
            <a:spAutoFit/>
          </a:bodyPr>
          <a:lstStyle/>
          <a:p>
            <a:pPr algn="ctr">
              <a:defRPr sz="1550" b="1">
                <a:solidFill>
                  <a:srgbClr val="204060"/>
                </a:solidFill>
              </a:defRPr>
            </a:pPr>
            <a:r>
              <a:rPr lang="it-IT" sz="1550" b="1" dirty="0" err="1">
                <a:solidFill>
                  <a:srgbClr val="204060"/>
                </a:solidFill>
                <a:latin typeface="Plus Jakarta Sans" panose="020B0604020202020204" charset="0"/>
                <a:cs typeface="Plus Jakarta Sans" panose="020B0604020202020204" charset="0"/>
              </a:rPr>
              <a:t>Heterogeneous</a:t>
            </a:r>
            <a:r>
              <a:rPr lang="it-IT" sz="1550" b="1" dirty="0">
                <a:solidFill>
                  <a:srgbClr val="204060"/>
                </a:solidFill>
                <a:latin typeface="Plus Jakarta Sans" panose="020B0604020202020204" charset="0"/>
                <a:cs typeface="Plus Jakarta Sans" panose="020B0604020202020204" charset="0"/>
              </a:rPr>
              <a:t> </a:t>
            </a:r>
            <a:r>
              <a:rPr lang="it-IT" sz="1550" b="1" dirty="0" err="1">
                <a:solidFill>
                  <a:srgbClr val="204060"/>
                </a:solidFill>
                <a:latin typeface="Plus Jakarta Sans" panose="020B0604020202020204" charset="0"/>
                <a:cs typeface="Plus Jakarta Sans" panose="020B0604020202020204" charset="0"/>
              </a:rPr>
              <a:t>Catalogue</a:t>
            </a:r>
            <a:r>
              <a:rPr lang="it-IT" sz="1550" b="1" dirty="0">
                <a:solidFill>
                  <a:srgbClr val="204060"/>
                </a:solidFill>
                <a:latin typeface="Plus Jakarta Sans" panose="020B0604020202020204" charset="0"/>
                <a:cs typeface="Plus Jakarta Sans" panose="020B0604020202020204" charset="0"/>
              </a:rPr>
              <a:t> </a:t>
            </a:r>
            <a:r>
              <a:rPr lang="it-IT" sz="1550" b="1" dirty="0" err="1">
                <a:solidFill>
                  <a:srgbClr val="204060"/>
                </a:solidFill>
                <a:latin typeface="Plus Jakarta Sans" panose="020B0604020202020204" charset="0"/>
                <a:cs typeface="Plus Jakarta Sans" panose="020B0604020202020204" charset="0"/>
              </a:rPr>
              <a:t>Ingestion</a:t>
            </a:r>
            <a:endParaRPr dirty="0">
              <a:latin typeface="Plus Jakarta Sans" panose="020B0604020202020204" charset="0"/>
              <a:cs typeface="Plus Jakarta Sans" panose="020B0604020202020204" charset="0"/>
            </a:endParaRPr>
          </a:p>
        </p:txBody>
      </p:sp>
      <p:sp>
        <p:nvSpPr>
          <p:cNvPr id="313" name="Google Shape;313;p24"/>
          <p:cNvSpPr txBox="1"/>
          <p:nvPr/>
        </p:nvSpPr>
        <p:spPr>
          <a:xfrm>
            <a:off x="781050" y="2626150"/>
            <a:ext cx="2858262" cy="2262158"/>
          </a:xfrm>
          <a:prstGeom prst="rect">
            <a:avLst/>
          </a:prstGeom>
          <a:noFill/>
          <a:ln>
            <a:noFill/>
          </a:ln>
        </p:spPr>
        <p:txBody>
          <a:bodyPr spcFirstLastPara="1" wrap="square" lIns="0" tIns="0" rIns="0" bIns="0" anchor="t" anchorCtr="0">
            <a:spAutoFit/>
          </a:bodyPr>
          <a:lstStyle/>
          <a:p>
            <a:pPr lvl="0">
              <a:lnSpc>
                <a:spcPct val="150000"/>
              </a:lnSpc>
            </a:pPr>
            <a:r>
              <a:rPr lang="it-IT" dirty="0" err="1">
                <a:latin typeface="Plus Jakarta Sans" panose="020B0604020202020204" charset="0"/>
                <a:cs typeface="Plus Jakarta Sans" panose="020B0604020202020204" charset="0"/>
              </a:rPr>
              <a:t>Segmented</a:t>
            </a:r>
            <a:r>
              <a:rPr lang="it-IT" dirty="0">
                <a:latin typeface="Plus Jakarta Sans" panose="020B0604020202020204" charset="0"/>
                <a:cs typeface="Plus Jakarta Sans" panose="020B0604020202020204" charset="0"/>
              </a:rPr>
              <a:t> queries to the INGV GOSSIP REST API (</a:t>
            </a:r>
            <a:r>
              <a:rPr lang="it-IT" dirty="0" err="1">
                <a:latin typeface="Plus Jakarta Sans" panose="020B0604020202020204" charset="0"/>
                <a:cs typeface="Plus Jakarta Sans" panose="020B0604020202020204" charset="0"/>
              </a:rPr>
              <a:t>partitioned</a:t>
            </a:r>
            <a:r>
              <a:rPr lang="it-IT" dirty="0">
                <a:latin typeface="Plus Jakarta Sans" panose="020B0604020202020204" charset="0"/>
                <a:cs typeface="Plus Jakarta Sans" panose="020B0604020202020204" charset="0"/>
              </a:rPr>
              <a:t> by </a:t>
            </a:r>
            <a:r>
              <a:rPr lang="it-IT" dirty="0" err="1">
                <a:latin typeface="Plus Jakarta Sans" panose="020B0604020202020204" charset="0"/>
                <a:cs typeface="Plus Jakarta Sans" panose="020B0604020202020204" charset="0"/>
              </a:rPr>
              <a:t>yearly</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chunks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alongside</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local</a:t>
            </a:r>
            <a:r>
              <a:rPr lang="it-IT" dirty="0">
                <a:latin typeface="Plus Jakarta Sans" panose="020B0604020202020204" charset="0"/>
                <a:cs typeface="Plus Jakarta Sans" panose="020B0604020202020204" charset="0"/>
              </a:rPr>
              <a:t> offline CSV </a:t>
            </a:r>
            <a:r>
              <a:rPr lang="it-IT" dirty="0" err="1">
                <a:latin typeface="Plus Jakarta Sans" panose="020B0604020202020204" charset="0"/>
                <a:cs typeface="Plus Jakarta Sans" panose="020B0604020202020204" charset="0"/>
              </a:rPr>
              <a:t>parsing</a:t>
            </a:r>
            <a:r>
              <a:rPr lang="it-IT" dirty="0">
                <a:latin typeface="Plus Jakarta Sans" panose="020B0604020202020204" charset="0"/>
                <a:cs typeface="Plus Jakarta Sans" panose="020B0604020202020204" charset="0"/>
              </a:rPr>
              <a:t>.</a:t>
            </a:r>
          </a:p>
          <a:p>
            <a:pPr lvl="0">
              <a:lnSpc>
                <a:spcPct val="150000"/>
              </a:lnSpc>
            </a:pPr>
            <a:r>
              <a:rPr lang="it-IT" dirty="0">
                <a:latin typeface="Plus Jakarta Sans" panose="020B0604020202020204" charset="0"/>
                <a:cs typeface="Plus Jakarta Sans" panose="020B0604020202020204" charset="0"/>
              </a:rPr>
              <a:t>Alias</a:t>
            </a:r>
            <a:r>
              <a:rPr lang="it-IT" b="1"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detection</a:t>
            </a:r>
            <a:r>
              <a:rPr lang="it-IT" dirty="0">
                <a:latin typeface="Plus Jakarta Sans" panose="020B0604020202020204" charset="0"/>
                <a:cs typeface="Plus Jakarta Sans" panose="020B0604020202020204" charset="0"/>
              </a:rPr>
              <a:t> mapping for standard naming (</a:t>
            </a:r>
            <a:r>
              <a:rPr lang="it-IT" dirty="0" err="1">
                <a:latin typeface="Plus Jakarta Sans" panose="020B0604020202020204" charset="0"/>
                <a:cs typeface="Plus Jakarta Sans" panose="020B0604020202020204" charset="0"/>
              </a:rPr>
              <a:t>lat</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latitude</a:t>
            </a:r>
            <a:r>
              <a:rPr lang="it-IT" dirty="0">
                <a:latin typeface="Plus Jakarta Sans" panose="020B0604020202020204" charset="0"/>
                <a:cs typeface="Plus Jakarta Sans" panose="020B0604020202020204" charset="0"/>
              </a:rPr>
              <a:t>, prof, </a:t>
            </a:r>
            <a:r>
              <a:rPr lang="it-IT" dirty="0" err="1">
                <a:latin typeface="Plus Jakarta Sans" panose="020B0604020202020204" charset="0"/>
                <a:cs typeface="Plus Jakarta Sans" panose="020B0604020202020204" charset="0"/>
              </a:rPr>
              <a:t>depth_km</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mag</a:t>
            </a:r>
            <a:r>
              <a:rPr lang="it-IT" dirty="0">
                <a:latin typeface="Plus Jakarta Sans" panose="020B0604020202020204" charset="0"/>
                <a:cs typeface="Plus Jakarta Sans" panose="020B0604020202020204" charset="0"/>
              </a:rPr>
              <a:t>).</a:t>
            </a:r>
          </a:p>
        </p:txBody>
      </p:sp>
      <p:sp>
        <p:nvSpPr>
          <p:cNvPr id="314" name="Google Shape;314;p24"/>
          <p:cNvSpPr txBox="1"/>
          <p:nvPr/>
        </p:nvSpPr>
        <p:spPr>
          <a:xfrm>
            <a:off x="4233682" y="2093482"/>
            <a:ext cx="3724636" cy="477054"/>
          </a:xfrm>
          <a:prstGeom prst="rect">
            <a:avLst/>
          </a:prstGeom>
          <a:noFill/>
          <a:ln>
            <a:noFill/>
          </a:ln>
        </p:spPr>
        <p:txBody>
          <a:bodyPr spcFirstLastPara="1" wrap="square" lIns="0" tIns="0" rIns="0" bIns="0" anchor="t" anchorCtr="0">
            <a:spAutoFit/>
          </a:bodyPr>
          <a:lstStyle/>
          <a:p>
            <a:pPr algn="ctr">
              <a:defRPr sz="1550" b="1">
                <a:solidFill>
                  <a:srgbClr val="B85828"/>
                </a:solidFill>
              </a:defRPr>
            </a:pPr>
            <a:r>
              <a:rPr lang="it-IT" sz="1550" b="1" dirty="0">
                <a:solidFill>
                  <a:srgbClr val="B85828"/>
                </a:solidFill>
                <a:latin typeface="Plus Jakarta Sans" panose="020B0604020202020204" charset="0"/>
                <a:cs typeface="Plus Jakarta Sans" panose="020B0604020202020204" charset="0"/>
              </a:rPr>
              <a:t>Quality </a:t>
            </a:r>
            <a:r>
              <a:rPr lang="it-IT" sz="1550" b="1" dirty="0" err="1">
                <a:solidFill>
                  <a:srgbClr val="B85828"/>
                </a:solidFill>
                <a:latin typeface="Plus Jakarta Sans" panose="020B0604020202020204" charset="0"/>
                <a:cs typeface="Plus Jakarta Sans" panose="020B0604020202020204" charset="0"/>
              </a:rPr>
              <a:t>Sanitisation</a:t>
            </a:r>
            <a:r>
              <a:rPr lang="it-IT" sz="1550" b="1" dirty="0">
                <a:solidFill>
                  <a:srgbClr val="B85828"/>
                </a:solidFill>
                <a:latin typeface="Plus Jakarta Sans" panose="020B0604020202020204" charset="0"/>
                <a:cs typeface="Plus Jakarta Sans" panose="020B0604020202020204" charset="0"/>
              </a:rPr>
              <a:t> &amp; </a:t>
            </a:r>
            <a:r>
              <a:rPr lang="it-IT" sz="1550" b="1" dirty="0" err="1">
                <a:solidFill>
                  <a:srgbClr val="B85828"/>
                </a:solidFill>
                <a:latin typeface="Plus Jakarta Sans" panose="020B0604020202020204" charset="0"/>
                <a:cs typeface="Plus Jakarta Sans" panose="020B0604020202020204" charset="0"/>
              </a:rPr>
              <a:t>Missing</a:t>
            </a:r>
            <a:r>
              <a:rPr lang="it-IT" sz="1550" b="1" dirty="0">
                <a:solidFill>
                  <a:srgbClr val="B85828"/>
                </a:solidFill>
                <a:latin typeface="Plus Jakarta Sans" panose="020B0604020202020204" charset="0"/>
                <a:cs typeface="Plus Jakarta Sans" panose="020B0604020202020204" charset="0"/>
              </a:rPr>
              <a:t> Depth </a:t>
            </a:r>
            <a:r>
              <a:rPr lang="it-IT" sz="1550" b="1" dirty="0" err="1">
                <a:solidFill>
                  <a:srgbClr val="B85828"/>
                </a:solidFill>
                <a:latin typeface="Plus Jakarta Sans" panose="020B0604020202020204" charset="0"/>
                <a:cs typeface="Plus Jakarta Sans" panose="020B0604020202020204" charset="0"/>
              </a:rPr>
              <a:t>Principle</a:t>
            </a:r>
            <a:endParaRPr dirty="0">
              <a:solidFill>
                <a:schemeClr val="accent6">
                  <a:lumMod val="75000"/>
                </a:schemeClr>
              </a:solidFill>
              <a:latin typeface="Plus Jakarta Sans" panose="020B0604020202020204" charset="0"/>
              <a:cs typeface="Plus Jakarta Sans" panose="020B0604020202020204" charset="0"/>
            </a:endParaRPr>
          </a:p>
        </p:txBody>
      </p:sp>
      <p:sp>
        <p:nvSpPr>
          <p:cNvPr id="316" name="Google Shape;316;p24"/>
          <p:cNvSpPr txBox="1"/>
          <p:nvPr/>
        </p:nvSpPr>
        <p:spPr>
          <a:xfrm>
            <a:off x="8994796" y="2095292"/>
            <a:ext cx="2381250" cy="477054"/>
          </a:xfrm>
          <a:prstGeom prst="rect">
            <a:avLst/>
          </a:prstGeom>
          <a:noFill/>
          <a:ln>
            <a:noFill/>
          </a:ln>
        </p:spPr>
        <p:txBody>
          <a:bodyPr spcFirstLastPara="1" wrap="square" lIns="0" tIns="0" rIns="0" bIns="0" anchor="t" anchorCtr="0">
            <a:spAutoFit/>
          </a:bodyPr>
          <a:lstStyle/>
          <a:p>
            <a:pPr algn="ctr">
              <a:defRPr sz="1550" b="1">
                <a:solidFill>
                  <a:srgbClr val="236B5E"/>
                </a:solidFill>
              </a:defRPr>
            </a:pPr>
            <a:r>
              <a:rPr lang="it-IT" sz="1550" b="1" dirty="0">
                <a:solidFill>
                  <a:srgbClr val="236B5E"/>
                </a:solidFill>
                <a:latin typeface="Plus Jakarta Sans" panose="020B0604020202020204" charset="0"/>
                <a:cs typeface="Plus Jakarta Sans" panose="020B0604020202020204" charset="0"/>
              </a:rPr>
              <a:t>High-Performance Float32 </a:t>
            </a:r>
            <a:r>
              <a:rPr lang="it-IT" sz="1550" b="1" dirty="0" err="1">
                <a:solidFill>
                  <a:srgbClr val="236B5E"/>
                </a:solidFill>
                <a:latin typeface="Plus Jakarta Sans" panose="020B0604020202020204" charset="0"/>
                <a:cs typeface="Plus Jakarta Sans" panose="020B0604020202020204" charset="0"/>
              </a:rPr>
              <a:t>Binary</a:t>
            </a:r>
            <a:r>
              <a:rPr lang="it-IT" sz="1550" b="1" dirty="0">
                <a:solidFill>
                  <a:srgbClr val="236B5E"/>
                </a:solidFill>
                <a:latin typeface="Plus Jakarta Sans" panose="020B0604020202020204" charset="0"/>
                <a:cs typeface="Plus Jakarta Sans" panose="020B0604020202020204" charset="0"/>
              </a:rPr>
              <a:t> </a:t>
            </a:r>
            <a:r>
              <a:rPr lang="it-IT" sz="1550" b="1" dirty="0" err="1">
                <a:solidFill>
                  <a:srgbClr val="236B5E"/>
                </a:solidFill>
                <a:latin typeface="Plus Jakarta Sans" panose="020B0604020202020204" charset="0"/>
                <a:cs typeface="Plus Jakarta Sans" panose="020B0604020202020204" charset="0"/>
              </a:rPr>
              <a:t>Protocol</a:t>
            </a:r>
            <a:endParaRPr dirty="0">
              <a:latin typeface="Plus Jakarta Sans" panose="020B0604020202020204" charset="0"/>
              <a:cs typeface="Plus Jakarta Sans" panose="020B0604020202020204" charset="0"/>
            </a:endParaRPr>
          </a:p>
        </p:txBody>
      </p:sp>
      <mc:AlternateContent xmlns:mc="http://schemas.openxmlformats.org/markup-compatibility/2006" xmlns:a14="http://schemas.microsoft.com/office/drawing/2010/main">
        <mc:Choice Requires="a14">
          <p:sp>
            <p:nvSpPr>
              <p:cNvPr id="317" name="Google Shape;317;p24"/>
              <p:cNvSpPr txBox="1"/>
              <p:nvPr/>
            </p:nvSpPr>
            <p:spPr>
              <a:xfrm>
                <a:off x="8796529" y="2626150"/>
                <a:ext cx="2853472" cy="2839239"/>
              </a:xfrm>
              <a:prstGeom prst="rect">
                <a:avLst/>
              </a:prstGeom>
              <a:noFill/>
              <a:ln>
                <a:noFill/>
              </a:ln>
            </p:spPr>
            <p:txBody>
              <a:bodyPr spcFirstLastPara="1" wrap="square" lIns="0" tIns="0" rIns="0" bIns="0" anchor="t" anchorCtr="0">
                <a:spAutoFit/>
              </a:bodyPr>
              <a:lstStyle/>
              <a:p>
                <a:pPr lvl="0">
                  <a:lnSpc>
                    <a:spcPct val="150000"/>
                  </a:lnSpc>
                </a:pPr>
                <a:r>
                  <a:rPr lang="it-IT" dirty="0">
                    <a:latin typeface="Plus Jakarta Sans" panose="020B0604020202020204" charset="0"/>
                    <a:cs typeface="Plus Jakarta Sans" panose="020B0604020202020204" charset="0"/>
                  </a:rPr>
                  <a:t>/api/data/{</a:t>
                </a:r>
                <a:r>
                  <a:rPr lang="it-IT" dirty="0" err="1">
                    <a:latin typeface="Plus Jakarta Sans" panose="020B0604020202020204" charset="0"/>
                    <a:cs typeface="Plus Jakarta Sans" panose="020B0604020202020204" charset="0"/>
                  </a:rPr>
                  <a:t>session_id</a:t>
                </a:r>
                <a:r>
                  <a:rPr lang="it-IT" dirty="0">
                    <a:latin typeface="Plus Jakarta Sans" panose="020B0604020202020204" charset="0"/>
                    <a:cs typeface="Plus Jakarta Sans" panose="020B0604020202020204" charset="0"/>
                  </a:rPr>
                  <a:t>}/bin </a:t>
                </a:r>
                <a:r>
                  <a:rPr lang="it-IT" dirty="0" err="1">
                    <a:latin typeface="Plus Jakarta Sans" panose="020B0604020202020204" charset="0"/>
                    <a:cs typeface="Plus Jakarta Sans" panose="020B0604020202020204" charset="0"/>
                  </a:rPr>
                  <a:t>replaces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bulky</a:t>
                </a:r>
                <a:r>
                  <a:rPr lang="it-IT" dirty="0">
                    <a:latin typeface="Plus Jakarta Sans" panose="020B0604020202020204" charset="0"/>
                    <a:cs typeface="Plus Jakarta Sans" panose="020B0604020202020204" charset="0"/>
                  </a:rPr>
                  <a:t> JSON </a:t>
                </a:r>
                <a:r>
                  <a:rPr lang="it-IT" dirty="0" err="1">
                    <a:latin typeface="Plus Jakarta Sans" panose="020B0604020202020204" charset="0"/>
                    <a:cs typeface="Plus Jakarta Sans" panose="020B0604020202020204" charset="0"/>
                  </a:rPr>
                  <a:t>serialization</a:t>
                </a:r>
                <a:r>
                  <a:rPr lang="it-IT" dirty="0">
                    <a:latin typeface="Plus Jakarta Sans" panose="020B0604020202020204" charset="0"/>
                    <a:cs typeface="Plus Jakarta Sans" panose="020B0604020202020204" charset="0"/>
                  </a:rPr>
                  <a:t>.</a:t>
                </a:r>
              </a:p>
              <a:p>
                <a:pPr lvl="0">
                  <a:lnSpc>
                    <a:spcPct val="150000"/>
                  </a:lnSpc>
                </a:pPr>
                <a:r>
                  <a:rPr lang="it-IT" dirty="0">
                    <a:latin typeface="Plus Jakarta Sans" panose="020B0604020202020204" charset="0"/>
                    <a:cs typeface="Plus Jakarta Sans" panose="020B0604020202020204" charset="0"/>
                  </a:rPr>
                  <a:t>Packs coordinate arrays </a:t>
                </a:r>
                <a:r>
                  <a:rPr lang="it-IT" dirty="0" err="1">
                    <a:latin typeface="Plus Jakarta Sans" panose="020B0604020202020204" charset="0"/>
                    <a:cs typeface="Plus Jakarta Sans" panose="020B0604020202020204" charset="0"/>
                  </a:rPr>
                  <a:t>into</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contiguous</a:t>
                </a:r>
                <a:r>
                  <a:rPr lang="it-IT" dirty="0">
                    <a:latin typeface="Plus Jakarta Sans" panose="020B0604020202020204" charset="0"/>
                    <a:cs typeface="Plus Jakarta Sans" panose="020B0604020202020204" charset="0"/>
                  </a:rPr>
                  <a:t> C Float32 buffers </a:t>
                </a:r>
                <a:r>
                  <a:rPr lang="it-IT" dirty="0" err="1">
                    <a:latin typeface="Plus Jakarta Sans" panose="020B0604020202020204" charset="0"/>
                    <a:cs typeface="Plus Jakarta Sans" panose="020B0604020202020204" charset="0"/>
                  </a:rPr>
                  <a:t>prefixed</a:t>
                </a:r>
                <a:r>
                  <a:rPr lang="it-IT" dirty="0">
                    <a:latin typeface="Plus Jakarta Sans" panose="020B0604020202020204" charset="0"/>
                    <a:cs typeface="Plus Jakarta Sans" panose="020B0604020202020204" charset="0"/>
                  </a:rPr>
                  <a:t> by a 2-element </a:t>
                </a:r>
                <a:r>
                  <a:rPr lang="it-IT" dirty="0" err="1">
                    <a:latin typeface="Plus Jakarta Sans" panose="020B0604020202020204" charset="0"/>
                    <a:cs typeface="Plus Jakarta Sans" panose="020B0604020202020204" charset="0"/>
                  </a:rPr>
                  <a:t>header</a:t>
                </a:r>
                <a:r>
                  <a:rPr lang="it-IT" dirty="0">
                    <a:latin typeface="Plus Jakarta Sans" panose="020B0604020202020204" charset="0"/>
                    <a:cs typeface="Plus Jakarta Sans" panose="020B0604020202020204" charset="0"/>
                  </a:rPr>
                  <a:t> </a:t>
                </a:r>
                <a14:m>
                  <m:oMath xmlns:m="http://schemas.openxmlformats.org/officeDocument/2006/math">
                    <m:d>
                      <m:dPr>
                        <m:begChr m:val="["/>
                        <m:endChr m:val="]"/>
                        <m:sepChr m:val=","/>
                        <m:ctrlPr>
                          <a:rPr lang="it-IT" i="1">
                            <a:latin typeface="Cambria Math" panose="02040503050406030204" pitchFamily="18" charset="0"/>
                          </a:rPr>
                        </m:ctrlPr>
                      </m:dPr>
                      <m:e>
                        <m:r>
                          <a:rPr lang="it-IT" i="1">
                            <a:latin typeface="Cambria Math" panose="02040503050406030204" pitchFamily="18" charset="0"/>
                          </a:rPr>
                          <m:t>𝑁</m:t>
                        </m:r>
                      </m:e>
                      <m:e>
                        <m:sSub>
                          <m:sSubPr>
                            <m:ctrlPr>
                              <a:rPr lang="it-IT" i="1">
                                <a:latin typeface="Cambria Math" panose="02040503050406030204" pitchFamily="18" charset="0"/>
                              </a:rPr>
                            </m:ctrlPr>
                          </m:sSubPr>
                          <m:e>
                            <m:r>
                              <a:rPr lang="it-IT" i="1">
                                <a:latin typeface="Cambria Math" panose="02040503050406030204" pitchFamily="18" charset="0"/>
                              </a:rPr>
                              <m:t>𝐿</m:t>
                            </m:r>
                          </m:e>
                          <m:sub>
                            <m:r>
                              <a:rPr lang="it-IT" i="1">
                                <a:latin typeface="Cambria Math" panose="02040503050406030204" pitchFamily="18" charset="0"/>
                              </a:rPr>
                              <m:t>𝑐</m:t>
                            </m:r>
                          </m:sub>
                        </m:sSub>
                      </m:e>
                    </m:d>
                  </m:oMath>
                </a14:m>
                <a:r>
                  <a:rPr lang="it-IT" dirty="0">
                    <a:effectLst/>
                    <a:latin typeface="Plus Jakarta Sans" panose="020B0604020202020204" charset="0"/>
                    <a:cs typeface="Plus Jakarta Sans" panose="020B0604020202020204" charset="0"/>
                  </a:rPr>
                  <a:t> (event </a:t>
                </a:r>
                <a:r>
                  <a:rPr lang="it-IT" dirty="0" err="1">
                    <a:effectLst/>
                    <a:latin typeface="Plus Jakarta Sans" panose="020B0604020202020204" charset="0"/>
                    <a:cs typeface="Plus Jakarta Sans" panose="020B0604020202020204" charset="0"/>
                  </a:rPr>
                  <a:t>count</a:t>
                </a:r>
                <a:r>
                  <a:rPr lang="it-IT" dirty="0">
                    <a:effectLst/>
                    <a:latin typeface="Plus Jakarta Sans" panose="020B0604020202020204" charset="0"/>
                    <a:cs typeface="Plus Jakarta Sans" panose="020B0604020202020204" charset="0"/>
                  </a:rPr>
                  <a:t> and cluster label flag), </a:t>
                </a:r>
                <a:r>
                  <a:rPr lang="it-IT" dirty="0" err="1">
                    <a:effectLst/>
                    <a:latin typeface="Plus Jakarta Sans" panose="020B0604020202020204" charset="0"/>
                    <a:cs typeface="Plus Jakarta Sans" panose="020B0604020202020204" charset="0"/>
                  </a:rPr>
                  <a:t>followed</a:t>
                </a:r>
                <a:r>
                  <a:rPr lang="it-IT" dirty="0">
                    <a:effectLst/>
                    <a:latin typeface="Plus Jakarta Sans" panose="020B0604020202020204" charset="0"/>
                    <a:cs typeface="Plus Jakarta Sans" panose="020B0604020202020204" charset="0"/>
                  </a:rPr>
                  <a:t> by </a:t>
                </a:r>
                <a:r>
                  <a:rPr lang="it-IT" dirty="0" err="1">
                    <a:effectLst/>
                    <a:latin typeface="Plus Jakarta Sans" panose="020B0604020202020204" charset="0"/>
                    <a:cs typeface="Plus Jakarta Sans" panose="020B0604020202020204" charset="0"/>
                  </a:rPr>
                  <a:t>sequential</a:t>
                </a:r>
                <a:r>
                  <a:rPr lang="it-IT" dirty="0">
                    <a:effectLst/>
                    <a:latin typeface="Plus Jakarta Sans" panose="020B0604020202020204" charset="0"/>
                    <a:cs typeface="Plus Jakarta Sans" panose="020B0604020202020204" charset="0"/>
                  </a:rPr>
                  <a:t> </a:t>
                </a:r>
                <a:r>
                  <a:rPr lang="it-IT" dirty="0" err="1">
                    <a:effectLst/>
                    <a:latin typeface="Plus Jakarta Sans" panose="020B0604020202020204" charset="0"/>
                    <a:cs typeface="Plus Jakarta Sans" panose="020B0604020202020204" charset="0"/>
                  </a:rPr>
                  <a:t>blocks</a:t>
                </a:r>
                <a:r>
                  <a:rPr lang="it-IT" dirty="0">
                    <a:effectLst/>
                    <a:latin typeface="Plus Jakarta Sans" panose="020B0604020202020204" charset="0"/>
                    <a:cs typeface="Plus Jakarta Sans" panose="020B0604020202020204" charset="0"/>
                  </a:rPr>
                  <a:t> for </a:t>
                </a:r>
                <a14:m>
                  <m:oMath xmlns:m="http://schemas.openxmlformats.org/officeDocument/2006/math">
                    <m:d>
                      <m:dPr>
                        <m:sepChr m:val=","/>
                        <m:ctrlPr>
                          <a:rPr lang="it-IT" i="1">
                            <a:latin typeface="Cambria Math" panose="02040503050406030204" pitchFamily="18" charset="0"/>
                          </a:rPr>
                        </m:ctrlPr>
                      </m:dPr>
                      <m:e>
                        <m:r>
                          <a:rPr lang="it-IT" i="1">
                            <a:latin typeface="Cambria Math" panose="02040503050406030204" pitchFamily="18" charset="0"/>
                          </a:rPr>
                          <m:t>𝜆</m:t>
                        </m:r>
                      </m:e>
                      <m:e>
                        <m:r>
                          <a:rPr lang="it-IT" i="1">
                            <a:latin typeface="Cambria Math" panose="02040503050406030204" pitchFamily="18" charset="0"/>
                          </a:rPr>
                          <m:t>𝜙</m:t>
                        </m:r>
                      </m:e>
                      <m:e>
                        <m:r>
                          <a:rPr lang="it-IT" i="1">
                            <a:latin typeface="Cambria Math" panose="02040503050406030204" pitchFamily="18" charset="0"/>
                          </a:rPr>
                          <m:t>𝑀</m:t>
                        </m:r>
                      </m:e>
                      <m:e>
                        <m:r>
                          <a:rPr lang="it-IT" i="1">
                            <a:latin typeface="Cambria Math" panose="02040503050406030204" pitchFamily="18" charset="0"/>
                          </a:rPr>
                          <m:t>𝑧</m:t>
                        </m:r>
                      </m:e>
                      <m:e>
                        <m:r>
                          <a:rPr lang="it-IT" i="1">
                            <a:latin typeface="Cambria Math" panose="02040503050406030204" pitchFamily="18" charset="0"/>
                          </a:rPr>
                          <m:t>𝑡</m:t>
                        </m:r>
                      </m:e>
                    </m:d>
                  </m:oMath>
                </a14:m>
                <a:r>
                  <a:rPr lang="it-IT" dirty="0">
                    <a:latin typeface="Plus Jakarta Sans" panose="020B0604020202020204" charset="0"/>
                    <a:cs typeface="Plus Jakarta Sans" panose="020B0604020202020204" charset="0"/>
                  </a:rPr>
                  <a:t>.</a:t>
                </a:r>
              </a:p>
              <a:p>
                <a:pPr lvl="0">
                  <a:lnSpc>
                    <a:spcPct val="150000"/>
                  </a:lnSpc>
                </a:pPr>
                <a:endParaRPr lang="it-IT" sz="1100" dirty="0">
                  <a:latin typeface="Plus Jakarta Sans" panose="020B0604020202020204" charset="0"/>
                  <a:cs typeface="Plus Jakarta Sans" panose="020B0604020202020204" charset="0"/>
                </a:endParaRPr>
              </a:p>
            </p:txBody>
          </p:sp>
        </mc:Choice>
        <mc:Fallback xmlns="">
          <p:sp>
            <p:nvSpPr>
              <p:cNvPr id="317" name="Google Shape;317;p24"/>
              <p:cNvSpPr txBox="1">
                <a:spLocks noRot="1" noChangeAspect="1" noMove="1" noResize="1" noEditPoints="1" noAdjustHandles="1" noChangeArrowheads="1" noChangeShapeType="1" noTextEdit="1"/>
              </p:cNvSpPr>
              <p:nvPr/>
            </p:nvSpPr>
            <p:spPr>
              <a:xfrm>
                <a:off x="8796529" y="2626150"/>
                <a:ext cx="2853472" cy="2839239"/>
              </a:xfrm>
              <a:prstGeom prst="rect">
                <a:avLst/>
              </a:prstGeom>
              <a:blipFill>
                <a:blip r:embed="rId3"/>
                <a:stretch>
                  <a:fillRect l="-3846" r="-2778"/>
                </a:stretch>
              </a:blipFill>
              <a:ln>
                <a:noFill/>
              </a:ln>
            </p:spPr>
            <p:txBody>
              <a:bodyPr/>
              <a:lstStyle/>
              <a:p>
                <a:r>
                  <a:rPr lang="it-IT">
                    <a:noFill/>
                  </a:rPr>
                  <a:t> </a:t>
                </a:r>
              </a:p>
            </p:txBody>
          </p:sp>
        </mc:Fallback>
      </mc:AlternateContent>
      <p:pic>
        <p:nvPicPr>
          <p:cNvPr id="323" name="Picture 322" descr="sapienza_logo.png"/>
          <p:cNvPicPr>
            <a:picLocks noChangeAspect="1"/>
          </p:cNvPicPr>
          <p:nvPr/>
        </p:nvPicPr>
        <p:blipFill>
          <a:blip r:embed="rId4"/>
          <a:stretch>
            <a:fillRect/>
          </a:stretch>
        </p:blipFill>
        <p:spPr>
          <a:xfrm>
            <a:off x="9750000" y="400000"/>
            <a:ext cx="1900000" cy="570000"/>
          </a:xfrm>
          <a:prstGeom prst="rect">
            <a:avLst/>
          </a:prstGeom>
        </p:spPr>
      </p:pic>
      <p:sp>
        <p:nvSpPr>
          <p:cNvPr id="324"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 name="CasellaDiTesto 1">
                <a:extLst>
                  <a:ext uri="{FF2B5EF4-FFF2-40B4-BE49-F238E27FC236}">
                    <a16:creationId xmlns:a16="http://schemas.microsoft.com/office/drawing/2014/main" id="{7F1CBB75-106E-02F7-2FA3-5B26466B2BFD}"/>
                  </a:ext>
                </a:extLst>
              </p:cNvPr>
              <p:cNvSpPr txBox="1"/>
              <p:nvPr/>
            </p:nvSpPr>
            <p:spPr>
              <a:xfrm>
                <a:off x="4326567" y="2570536"/>
                <a:ext cx="3724636" cy="3281155"/>
              </a:xfrm>
              <a:prstGeom prst="rect">
                <a:avLst/>
              </a:prstGeom>
              <a:noFill/>
            </p:spPr>
            <p:txBody>
              <a:bodyPr wrap="square" rtlCol="0">
                <a:spAutoFit/>
              </a:bodyPr>
              <a:lstStyle/>
              <a:p>
                <a:pPr lvl="0">
                  <a:lnSpc>
                    <a:spcPct val="150000"/>
                  </a:lnSpc>
                </a:pPr>
                <a:r>
                  <a:rPr lang="it-IT" dirty="0">
                    <a:latin typeface="Plus Jakarta Sans" panose="020B0604020202020204" charset="0"/>
                    <a:cs typeface="Plus Jakarta Sans" panose="020B0604020202020204" charset="0"/>
                  </a:rPr>
                  <a:t>Enforces </a:t>
                </a:r>
                <a:r>
                  <a:rPr lang="it-IT" dirty="0" err="1">
                    <a:latin typeface="Plus Jakarta Sans" panose="020B0604020202020204" charset="0"/>
                    <a:cs typeface="Plus Jakarta Sans" panose="020B0604020202020204" charset="0"/>
                  </a:rPr>
                  <a:t>depth</a:t>
                </a:r>
                <a:r>
                  <a:rPr lang="it-IT" dirty="0">
                    <a:latin typeface="Plus Jakarta Sans" panose="020B0604020202020204" charset="0"/>
                    <a:cs typeface="Plus Jakarta Sans" panose="020B0604020202020204" charset="0"/>
                  </a:rPr>
                  <a:t> range </a:t>
                </a:r>
                <a14:m>
                  <m:oMath xmlns:m="http://schemas.openxmlformats.org/officeDocument/2006/math">
                    <m:d>
                      <m:dPr>
                        <m:begChr m:val="["/>
                        <m:endChr m:val="]"/>
                        <m:sepChr m:val=","/>
                        <m:ctrlPr>
                          <a:rPr lang="it-IT">
                            <a:latin typeface="Cambria Math" panose="02040503050406030204" pitchFamily="18" charset="0"/>
                          </a:rPr>
                        </m:ctrlPr>
                      </m:dPr>
                      <m:e>
                        <m:r>
                          <a:rPr lang="it-IT">
                            <a:latin typeface="Cambria Math" panose="02040503050406030204" pitchFamily="18" charset="0"/>
                          </a:rPr>
                          <m:t>−</m:t>
                        </m:r>
                      </m:e>
                      <m:e>
                        <m:r>
                          <a:rPr lang="it-IT">
                            <a:latin typeface="Cambria Math" panose="02040503050406030204" pitchFamily="18" charset="0"/>
                          </a:rPr>
                          <m:t>10+800</m:t>
                        </m:r>
                        <m:r>
                          <m:rPr>
                            <m:nor/>
                          </m:rPr>
                          <a:rPr lang="it-IT" i="0">
                            <a:latin typeface="Plus Jakarta Sans" panose="020B0604020202020204" charset="0"/>
                            <a:cs typeface="Plus Jakarta Sans" panose="020B0604020202020204" charset="0"/>
                          </a:rPr>
                          <m:t> km</m:t>
                        </m:r>
                      </m:e>
                    </m:d>
                  </m:oMath>
                </a14:m>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preserving</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volcanic</a:t>
                </a:r>
                <a:r>
                  <a:rPr lang="it-IT" dirty="0">
                    <a:latin typeface="Plus Jakarta Sans" panose="020B0604020202020204" charset="0"/>
                    <a:cs typeface="Plus Jakarta Sans" panose="020B0604020202020204" charset="0"/>
                  </a:rPr>
                  <a:t> events </a:t>
                </a:r>
                <a:r>
                  <a:rPr lang="it-IT" dirty="0" err="1">
                    <a:latin typeface="Plus Jakarta Sans" panose="020B0604020202020204" charset="0"/>
                    <a:cs typeface="Plus Jakarta Sans" panose="020B0604020202020204" charset="0"/>
                  </a:rPr>
                  <a:t>above</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sea</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level</a:t>
                </a:r>
                <a:r>
                  <a:rPr lang="it-IT" dirty="0">
                    <a:latin typeface="Plus Jakarta Sans" panose="020B0604020202020204" charset="0"/>
                    <a:cs typeface="Plus Jakarta Sans" panose="020B0604020202020204" charset="0"/>
                  </a:rPr>
                  <a:t>) and </a:t>
                </a:r>
                <a:r>
                  <a:rPr lang="it-IT" dirty="0" err="1">
                    <a:latin typeface="Plus Jakarta Sans" panose="020B0604020202020204" charset="0"/>
                    <a:cs typeface="Plus Jakarta Sans" panose="020B0604020202020204" charset="0"/>
                  </a:rPr>
                  <a:t>discards</a:t>
                </a:r>
                <a:r>
                  <a:rPr lang="it-IT" dirty="0">
                    <a:latin typeface="Plus Jakarta Sans" panose="020B0604020202020204" charset="0"/>
                    <a:cs typeface="Plus Jakarta Sans" panose="020B0604020202020204" charset="0"/>
                  </a:rPr>
                  <a:t> future/</a:t>
                </a:r>
                <a:r>
                  <a:rPr lang="it-IT" dirty="0" err="1">
                    <a:latin typeface="Plus Jakarta Sans" panose="020B0604020202020204" charset="0"/>
                    <a:cs typeface="Plus Jakarta Sans" panose="020B0604020202020204" charset="0"/>
                  </a:rPr>
                  <a:t>corrupted</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timestamps</a:t>
                </a:r>
                <a:r>
                  <a:rPr lang="it-IT" dirty="0">
                    <a:latin typeface="Plus Jakarta Sans" panose="020B0604020202020204" charset="0"/>
                    <a:cs typeface="Plus Jakarta Sans" panose="020B0604020202020204" charset="0"/>
                  </a:rPr>
                  <a:t>.</a:t>
                </a:r>
              </a:p>
              <a:p>
                <a:pPr lvl="1">
                  <a:lnSpc>
                    <a:spcPct val="150000"/>
                  </a:lnSpc>
                </a:pPr>
                <a:r>
                  <a:rPr lang="it-IT" dirty="0" err="1">
                    <a:latin typeface="Plus Jakarta Sans" panose="020B0604020202020204" charset="0"/>
                    <a:cs typeface="Plus Jakarta Sans" panose="020B0604020202020204" charset="0"/>
                  </a:rPr>
                  <a:t>Hypocentres</a:t>
                </a:r>
                <a:r>
                  <a:rPr lang="it-IT" dirty="0">
                    <a:latin typeface="Plus Jakarta Sans" panose="020B0604020202020204" charset="0"/>
                    <a:cs typeface="Plus Jakarta Sans" panose="020B0604020202020204" charset="0"/>
                  </a:rPr>
                  <a:t> with </a:t>
                </a:r>
                <a:r>
                  <a:rPr lang="it-IT" dirty="0" err="1">
                    <a:latin typeface="Plus Jakarta Sans" panose="020B0604020202020204" charset="0"/>
                    <a:cs typeface="Plus Jakarta Sans" panose="020B0604020202020204" charset="0"/>
                  </a:rPr>
                  <a:t>missing</a:t>
                </a:r>
                <a:r>
                  <a:rPr lang="it-IT" dirty="0">
                    <a:latin typeface="Plus Jakarta Sans" panose="020B0604020202020204" charset="0"/>
                    <a:cs typeface="Plus Jakarta Sans" panose="020B0604020202020204" charset="0"/>
                  </a:rPr>
                  <a:t>/</a:t>
                </a:r>
                <a:r>
                  <a:rPr lang="it-IT" dirty="0" err="1">
                    <a:latin typeface="Plus Jakarta Sans" panose="020B0604020202020204" charset="0"/>
                    <a:cs typeface="Plus Jakarta Sans" panose="020B0604020202020204" charset="0"/>
                  </a:rPr>
                  <a:t>null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depth</a:t>
                </a:r>
                <a:r>
                  <a:rPr lang="it-IT" dirty="0">
                    <a:latin typeface="Plus Jakarta Sans" panose="020B0604020202020204" charset="0"/>
                    <a:cs typeface="Plus Jakarta Sans" panose="020B0604020202020204" charset="0"/>
                  </a:rPr>
                  <a:t> are </a:t>
                </a:r>
                <a:r>
                  <a:rPr lang="it-IT" dirty="0" err="1">
                    <a:latin typeface="Plus Jakarta Sans" panose="020B0604020202020204" charset="0"/>
                    <a:cs typeface="Plus Jakarta Sans" panose="020B0604020202020204" charset="0"/>
                  </a:rPr>
                  <a:t>strictly</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preserved</a:t>
                </a:r>
                <a:r>
                  <a:rPr lang="it-IT" dirty="0">
                    <a:latin typeface="Plus Jakarta Sans" panose="020B0604020202020204" charset="0"/>
                    <a:cs typeface="Plus Jakarta Sans" panose="020B0604020202020204" charset="0"/>
                  </a:rPr>
                  <a:t> in 2D </a:t>
                </a:r>
                <a:r>
                  <a:rPr lang="it-IT" dirty="0" err="1">
                    <a:latin typeface="Plus Jakarta Sans" panose="020B0604020202020204" charset="0"/>
                    <a:cs typeface="Plus Jakarta Sans" panose="020B0604020202020204" charset="0"/>
                  </a:rPr>
                  <a:t>views</a:t>
                </a:r>
                <a:r>
                  <a:rPr lang="it-IT" dirty="0">
                    <a:latin typeface="Plus Jakarta Sans" panose="020B0604020202020204" charset="0"/>
                    <a:cs typeface="Plus Jakarta Sans" panose="020B0604020202020204" charset="0"/>
                  </a:rPr>
                  <a:t> for complete </a:t>
                </a:r>
                <a:r>
                  <a:rPr lang="it-IT" dirty="0" err="1">
                    <a:latin typeface="Plus Jakarta Sans" panose="020B0604020202020204" charset="0"/>
                    <a:cs typeface="Plus Jakarta Sans" panose="020B0604020202020204" charset="0"/>
                  </a:rPr>
                  <a:t>statistical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completeness</a:t>
                </a:r>
                <a:r>
                  <a:rPr lang="it-IT" dirty="0">
                    <a:latin typeface="Plus Jakarta Sans" panose="020B0604020202020204" charset="0"/>
                    <a:cs typeface="Plus Jakarta Sans" panose="020B0604020202020204" charset="0"/>
                  </a:rPr>
                  <a:t>.</a:t>
                </a:r>
              </a:p>
              <a:p>
                <a:pPr lvl="1">
                  <a:lnSpc>
                    <a:spcPct val="150000"/>
                  </a:lnSpc>
                </a:pPr>
                <a:r>
                  <a:rPr lang="it-IT" dirty="0" err="1">
                    <a:latin typeface="Plus Jakarta Sans" panose="020B0604020202020204" charset="0"/>
                    <a:cs typeface="Plus Jakarta Sans" panose="020B0604020202020204" charset="0"/>
                  </a:rPr>
                  <a:t>Imputing</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missing</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depths</a:t>
                </a:r>
                <a:r>
                  <a:rPr lang="it-IT" dirty="0">
                    <a:latin typeface="Plus Jakarta Sans" panose="020B0604020202020204" charset="0"/>
                    <a:cs typeface="Plus Jakarta Sans" panose="020B0604020202020204" charset="0"/>
                  </a:rPr>
                  <a:t> to </a:t>
                </a:r>
                <a14:m>
                  <m:oMath xmlns:m="http://schemas.openxmlformats.org/officeDocument/2006/math">
                    <m:r>
                      <a:rPr lang="it-IT" i="1">
                        <a:latin typeface="Cambria Math" panose="02040503050406030204" pitchFamily="18" charset="0"/>
                      </a:rPr>
                      <m:t>𝑧</m:t>
                    </m:r>
                    <m:r>
                      <a:rPr lang="it-IT">
                        <a:latin typeface="Cambria Math" panose="02040503050406030204" pitchFamily="18" charset="0"/>
                      </a:rPr>
                      <m:t>=0</m:t>
                    </m:r>
                  </m:oMath>
                </a14:m>
                <a:r>
                  <a:rPr lang="it-IT" dirty="0">
                    <a:latin typeface="Plus Jakarta Sans" panose="020B0604020202020204" charset="0"/>
                    <a:cs typeface="Plus Jakarta Sans" panose="020B0604020202020204" charset="0"/>
                  </a:rPr>
                  <a:t> would create false planar </a:t>
                </a:r>
                <a:r>
                  <a:rPr lang="it-IT" dirty="0" err="1">
                    <a:latin typeface="Plus Jakarta Sans" panose="020B0604020202020204" charset="0"/>
                    <a:cs typeface="Plus Jakarta Sans" panose="020B0604020202020204" charset="0"/>
                  </a:rPr>
                  <a:t>accumulations</a:t>
                </a:r>
                <a:r>
                  <a:rPr lang="it-IT" dirty="0">
                    <a:latin typeface="Plus Jakarta Sans" panose="020B0604020202020204" charset="0"/>
                    <a:cs typeface="Plus Jakarta Sans" panose="020B0604020202020204" charset="0"/>
                  </a:rPr>
                  <a:t> on </a:t>
                </a:r>
                <a:r>
                  <a:rPr lang="it-IT" dirty="0" err="1">
                    <a:latin typeface="Plus Jakarta Sans" panose="020B0604020202020204" charset="0"/>
                    <a:cs typeface="Plus Jakarta Sans" panose="020B0604020202020204" charset="0"/>
                  </a:rPr>
                  <a:t>sea</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level</a:t>
                </a:r>
                <a:r>
                  <a:rPr lang="it-IT" dirty="0">
                    <a:latin typeface="Plus Jakarta Sans" panose="020B0604020202020204" charset="0"/>
                    <a:cs typeface="Plus Jakarta Sans" panose="020B0604020202020204" charset="0"/>
                  </a:rPr>
                  <a:t>.</a:t>
                </a:r>
                <a:endParaRPr lang="it-IT" sz="1300" dirty="0">
                  <a:latin typeface="Plus Jakarta Sans" panose="020B0604020202020204" charset="0"/>
                  <a:cs typeface="Plus Jakarta Sans" panose="020B0604020202020204" charset="0"/>
                </a:endParaRPr>
              </a:p>
            </p:txBody>
          </p:sp>
        </mc:Choice>
        <mc:Fallback xmlns="">
          <p:sp>
            <p:nvSpPr>
              <p:cNvPr id="2" name="CasellaDiTesto 1">
                <a:extLst>
                  <a:ext uri="{FF2B5EF4-FFF2-40B4-BE49-F238E27FC236}">
                    <a16:creationId xmlns:a16="http://schemas.microsoft.com/office/drawing/2014/main" id="{7F1CBB75-106E-02F7-2FA3-5B26466B2BFD}"/>
                  </a:ext>
                </a:extLst>
              </p:cNvPr>
              <p:cNvSpPr txBox="1">
                <a:spLocks noRot="1" noChangeAspect="1" noMove="1" noResize="1" noEditPoints="1" noAdjustHandles="1" noChangeArrowheads="1" noChangeShapeType="1" noTextEdit="1"/>
              </p:cNvSpPr>
              <p:nvPr/>
            </p:nvSpPr>
            <p:spPr>
              <a:xfrm>
                <a:off x="4326567" y="2570536"/>
                <a:ext cx="3724636" cy="3281155"/>
              </a:xfrm>
              <a:prstGeom prst="rect">
                <a:avLst/>
              </a:prstGeom>
              <a:blipFill>
                <a:blip r:embed="rId5"/>
                <a:stretch>
                  <a:fillRect l="-491" b="-929"/>
                </a:stretch>
              </a:blipFill>
            </p:spPr>
            <p:txBody>
              <a:bodyPr/>
              <a:lstStyle/>
              <a:p>
                <a:r>
                  <a:rPr lang="it-IT">
                    <a:noFill/>
                  </a:rPr>
                  <a:t> </a:t>
                </a:r>
              </a:p>
            </p:txBody>
          </p:sp>
        </mc:Fallback>
      </mc:AlternateContent>
      <p:sp>
        <p:nvSpPr>
          <p:cNvPr id="4" name="SapienzaTopStripe">
            <a:extLst>
              <a:ext uri="{FF2B5EF4-FFF2-40B4-BE49-F238E27FC236}">
                <a16:creationId xmlns:a16="http://schemas.microsoft.com/office/drawing/2014/main" id="{B27A1EF5-7EC1-8096-97F3-E6C11EFD9AC0}"/>
              </a:ext>
            </a:extLst>
          </p:cNvPr>
          <p:cNvSpPr/>
          <p:nvPr/>
        </p:nvSpPr>
        <p:spPr>
          <a:xfrm>
            <a:off x="0" y="68199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26"/>
        <p:cNvGrpSpPr/>
        <p:nvPr/>
      </p:nvGrpSpPr>
      <p:grpSpPr>
        <a:xfrm>
          <a:off x="0" y="0"/>
          <a:ext cx="0" cy="0"/>
          <a:chOff x="0" y="0"/>
          <a:chExt cx="0" cy="0"/>
        </a:xfrm>
      </p:grpSpPr>
      <p:sp>
        <p:nvSpPr>
          <p:cNvPr id="327" name="Google Shape;327;p25"/>
          <p:cNvSpPr/>
          <p:nvPr/>
        </p:nvSpPr>
        <p:spPr>
          <a:xfrm>
            <a:off x="512064" y="1949999"/>
            <a:ext cx="5450586" cy="2269575"/>
          </a:xfrm>
          <a:prstGeom prst="roundRect">
            <a:avLst>
              <a:gd name="adj" fmla="val 7909"/>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dirty="0">
              <a:solidFill>
                <a:schemeClr val="dk1"/>
              </a:solidFill>
              <a:latin typeface="Calibri"/>
              <a:ea typeface="Calibri"/>
              <a:cs typeface="Calibri"/>
              <a:sym typeface="Calibri"/>
            </a:endParaRPr>
          </a:p>
        </p:txBody>
      </p:sp>
      <p:sp>
        <p:nvSpPr>
          <p:cNvPr id="328" name="Google Shape;328;p25"/>
          <p:cNvSpPr/>
          <p:nvPr/>
        </p:nvSpPr>
        <p:spPr>
          <a:xfrm>
            <a:off x="6207308" y="2647813"/>
            <a:ext cx="5353050" cy="2975772"/>
          </a:xfrm>
          <a:prstGeom prst="roundRect">
            <a:avLst>
              <a:gd name="adj" fmla="val 11475"/>
            </a:avLst>
          </a:prstGeom>
          <a:solidFill>
            <a:srgbClr val="FBF4F3"/>
          </a:solidFill>
          <a:ln w="12700" cap="flat" cmpd="sng">
            <a:solidFill>
              <a:srgbClr val="E8D5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29" name="Google Shape;329;p25"/>
          <p:cNvSpPr/>
          <p:nvPr/>
        </p:nvSpPr>
        <p:spPr>
          <a:xfrm>
            <a:off x="512064" y="4486416"/>
            <a:ext cx="5450586" cy="1900000"/>
          </a:xfrm>
          <a:prstGeom prst="roundRect">
            <a:avLst>
              <a:gd name="adj" fmla="val 9333"/>
            </a:avLst>
          </a:prstGeom>
          <a:solidFill>
            <a:srgbClr val="FDF8F2"/>
          </a:solidFill>
          <a:ln w="12700" cap="flat" cmpd="sng">
            <a:solidFill>
              <a:srgbClr val="EBD7C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1" name="Google Shape;331;p25"/>
          <p:cNvSpPr txBox="1"/>
          <p:nvPr/>
        </p:nvSpPr>
        <p:spPr>
          <a:xfrm>
            <a:off x="609600" y="580000"/>
            <a:ext cx="11582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Plus Jakarta Sans"/>
                <a:ea typeface="Plus Jakarta Sans"/>
                <a:cs typeface="Plus Jakarta Sans"/>
                <a:sym typeface="Plus Jakarta Sans"/>
              </a:rPr>
              <a:t>RESULTS &amp; QUANTITATIVE VALIDATION</a:t>
            </a:r>
            <a:endParaRPr/>
          </a:p>
        </p:txBody>
      </p:sp>
      <p:sp>
        <p:nvSpPr>
          <p:cNvPr id="332" name="Google Shape;332;p25"/>
          <p:cNvSpPr txBox="1"/>
          <p:nvPr/>
        </p:nvSpPr>
        <p:spPr>
          <a:xfrm>
            <a:off x="609600" y="840000"/>
            <a:ext cx="8982456" cy="800219"/>
          </a:xfrm>
          <a:prstGeom prst="rect">
            <a:avLst/>
          </a:prstGeom>
          <a:noFill/>
          <a:ln>
            <a:noFill/>
          </a:ln>
        </p:spPr>
        <p:txBody>
          <a:bodyPr spcFirstLastPara="1" wrap="square" lIns="0" tIns="0" rIns="0" bIns="0" anchor="t" anchorCtr="0">
            <a:spAutoFit/>
          </a:bodyPr>
          <a:lstStyle/>
          <a:p>
            <a:pPr lvl="0">
              <a:defRPr sz="2600" b="1">
                <a:solidFill>
                  <a:srgbClr val="822433"/>
                </a:solidFill>
              </a:defRPr>
            </a:pPr>
            <a:r>
              <a:rPr lang="en-US" sz="2600" b="1" i="0" u="none" strike="noStrike" cap="none" dirty="0">
                <a:solidFill>
                  <a:srgbClr val="822433"/>
                </a:solidFill>
                <a:latin typeface="Cinzel"/>
                <a:ea typeface="Cinzel"/>
                <a:cs typeface="Cinzel"/>
                <a:sym typeface="Cinzel"/>
              </a:rPr>
              <a:t>Benchmarks</a:t>
            </a:r>
            <a:r>
              <a:rPr lang="en-US" sz="2600" b="1" i="0" u="none" strike="noStrike" cap="none" dirty="0">
                <a:solidFill>
                  <a:srgbClr val="822433"/>
                </a:solidFill>
                <a:latin typeface="Cinzel" panose="020B0604020202020204" charset="0"/>
                <a:ea typeface="Cinzel"/>
                <a:cs typeface="Cinzel"/>
                <a:sym typeface="Cinzel"/>
              </a:rPr>
              <a:t>: </a:t>
            </a:r>
            <a:r>
              <a:rPr lang="it-IT" sz="2600" b="1" dirty="0" err="1">
                <a:solidFill>
                  <a:srgbClr val="822433"/>
                </a:solidFill>
                <a:latin typeface="Cinzel" panose="020B0604020202020204" charset="0"/>
              </a:rPr>
              <a:t>Algorithmic</a:t>
            </a:r>
            <a:r>
              <a:rPr lang="it-IT" sz="2600" b="1" dirty="0">
                <a:solidFill>
                  <a:srgbClr val="822433"/>
                </a:solidFill>
                <a:latin typeface="Cinzel" panose="020B0604020202020204" charset="0"/>
              </a:rPr>
              <a:t> Precision, Data Streaming &amp; System </a:t>
            </a:r>
            <a:r>
              <a:rPr lang="it-IT" sz="2600" b="1" dirty="0" err="1">
                <a:solidFill>
                  <a:srgbClr val="822433"/>
                </a:solidFill>
                <a:latin typeface="Cinzel" panose="020B0604020202020204" charset="0"/>
              </a:rPr>
              <a:t>Scalability</a:t>
            </a:r>
            <a:endParaRPr dirty="0">
              <a:latin typeface="Cinzel" panose="020B0604020202020204" charset="0"/>
            </a:endParaRPr>
          </a:p>
        </p:txBody>
      </p:sp>
      <p:sp>
        <p:nvSpPr>
          <p:cNvPr id="333" name="Google Shape;333;p25"/>
          <p:cNvSpPr txBox="1"/>
          <p:nvPr/>
        </p:nvSpPr>
        <p:spPr>
          <a:xfrm>
            <a:off x="742950" y="2048484"/>
            <a:ext cx="4972050"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236B5E"/>
                </a:solidFill>
              </a:defRPr>
            </a:pPr>
            <a:r>
              <a:rPr lang="en-US" sz="1650" b="1" i="0" u="none" strike="noStrike" cap="none" dirty="0">
                <a:solidFill>
                  <a:srgbClr val="236B5E"/>
                </a:solidFill>
                <a:latin typeface="Plus Jakarta Sans"/>
                <a:ea typeface="Plus Jakarta Sans"/>
                <a:cs typeface="Plus Jakarta Sans"/>
                <a:sym typeface="Plus Jakarta Sans"/>
              </a:rPr>
              <a:t>Structural Accuracy (500 runs)</a:t>
            </a:r>
            <a:endParaRPr dirty="0"/>
          </a:p>
        </p:txBody>
      </p:sp>
      <mc:AlternateContent xmlns:mc="http://schemas.openxmlformats.org/markup-compatibility/2006" xmlns:a14="http://schemas.microsoft.com/office/drawing/2010/main">
        <mc:Choice Requires="a14">
          <p:sp>
            <p:nvSpPr>
              <p:cNvPr id="334" name="Google Shape;334;p25"/>
              <p:cNvSpPr txBox="1"/>
              <p:nvPr/>
            </p:nvSpPr>
            <p:spPr>
              <a:xfrm>
                <a:off x="723899" y="2411256"/>
                <a:ext cx="5114925" cy="600164"/>
              </a:xfrm>
              <a:prstGeom prst="rect">
                <a:avLst/>
              </a:prstGeom>
              <a:noFill/>
              <a:ln>
                <a:noFill/>
              </a:ln>
            </p:spPr>
            <p:txBody>
              <a:bodyPr spcFirstLastPara="1" wrap="square" lIns="0" tIns="0" rIns="0" bIns="0" anchor="t" anchorCtr="0">
                <a:spAutoFit/>
              </a:bodyPr>
              <a:lstStyle/>
              <a:p>
                <a:pPr lvl="0">
                  <a:lnSpc>
                    <a:spcPct val="150000"/>
                  </a:lnSpc>
                  <a:defRPr sz="1300" b="0">
                    <a:solidFill>
                      <a:srgbClr val="1C1819"/>
                    </a:solidFill>
                  </a:defRPr>
                </a:pPr>
                <a:r>
                  <a:rPr lang="it-IT" sz="1300" dirty="0">
                    <a:solidFill>
                      <a:srgbClr val="1C1819"/>
                    </a:solidFill>
                    <a:latin typeface="Plus Jakarta Sans" panose="020B0604020202020204" charset="0"/>
                    <a:cs typeface="Plus Jakarta Sans" panose="020B0604020202020204" charset="0"/>
                  </a:rPr>
                  <a:t>Synthetic planar faults </a:t>
                </a:r>
                <a:r>
                  <a:rPr lang="it-IT" sz="1300" dirty="0" err="1">
                    <a:solidFill>
                      <a:srgbClr val="1C1819"/>
                    </a:solidFill>
                    <a:latin typeface="Plus Jakarta Sans" panose="020B0604020202020204" charset="0"/>
                    <a:cs typeface="Plus Jakarta Sans" panose="020B0604020202020204" charset="0"/>
                  </a:rPr>
                  <a:t>perturbed</a:t>
                </a:r>
                <a:r>
                  <a:rPr lang="it-IT" sz="1300" dirty="0">
                    <a:solidFill>
                      <a:srgbClr val="1C1819"/>
                    </a:solidFill>
                    <a:latin typeface="Plus Jakarta Sans" panose="020B0604020202020204" charset="0"/>
                    <a:cs typeface="Plus Jakarta Sans" panose="020B0604020202020204" charset="0"/>
                  </a:rPr>
                  <a:t> with </a:t>
                </a:r>
                <a:r>
                  <a:rPr lang="it-IT" sz="1300" dirty="0" err="1">
                    <a:solidFill>
                      <a:srgbClr val="1C1819"/>
                    </a:solidFill>
                    <a:latin typeface="Plus Jakarta Sans" panose="020B0604020202020204" charset="0"/>
                    <a:cs typeface="Plus Jakarta Sans" panose="020B0604020202020204" charset="0"/>
                  </a:rPr>
                  <a:t>Gaussian</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noise</a:t>
                </a:r>
                <a:r>
                  <a:rPr lang="it-IT" sz="1300" dirty="0">
                    <a:solidFill>
                      <a:srgbClr val="1C1819"/>
                    </a:solidFill>
                    <a:latin typeface="Plus Jakarta Sans" panose="020B0604020202020204" charset="0"/>
                    <a:cs typeface="Plus Jakarta Sans" panose="020B0604020202020204" charset="0"/>
                  </a:rPr>
                  <a:t> </a:t>
                </a:r>
              </a:p>
              <a:p>
                <a:pPr lvl="0">
                  <a:lnSpc>
                    <a:spcPct val="150000"/>
                  </a:lnSpc>
                  <a:defRPr sz="1300" b="0">
                    <a:solidFill>
                      <a:srgbClr val="1C1819"/>
                    </a:solidFill>
                  </a:defRPr>
                </a:pPr>
                <a14:m>
                  <m:oMath xmlns:m="http://schemas.openxmlformats.org/officeDocument/2006/math">
                    <m:r>
                      <a:rPr lang="it-IT" sz="1300" i="1">
                        <a:solidFill>
                          <a:srgbClr val="1C1819"/>
                        </a:solidFill>
                        <a:latin typeface="Cambria Math" panose="02040503050406030204" pitchFamily="18" charset="0"/>
                      </a:rPr>
                      <m:t>𝜎</m:t>
                    </m:r>
                    <m:r>
                      <a:rPr lang="it-IT" sz="1300">
                        <a:solidFill>
                          <a:srgbClr val="1C1819"/>
                        </a:solidFill>
                        <a:latin typeface="Cambria Math" panose="02040503050406030204" pitchFamily="18" charset="0"/>
                      </a:rPr>
                      <m:t>∈</m:t>
                    </m:r>
                    <m:d>
                      <m:dPr>
                        <m:begChr m:val="["/>
                        <m:endChr m:val="]"/>
                        <m:sepChr m:val=","/>
                        <m:ctrlPr>
                          <a:rPr lang="it-IT" sz="1300">
                            <a:solidFill>
                              <a:srgbClr val="1C1819"/>
                            </a:solidFill>
                            <a:latin typeface="Cambria Math" panose="02040503050406030204" pitchFamily="18" charset="0"/>
                          </a:rPr>
                        </m:ctrlPr>
                      </m:dPr>
                      <m:e>
                        <m:r>
                          <a:rPr lang="it-IT" sz="1300">
                            <a:solidFill>
                              <a:srgbClr val="1C1819"/>
                            </a:solidFill>
                            <a:latin typeface="Cambria Math" panose="02040503050406030204" pitchFamily="18" charset="0"/>
                          </a:rPr>
                          <m:t>10</m:t>
                        </m:r>
                      </m:e>
                      <m:e>
                        <m:r>
                          <a:rPr lang="it-IT" sz="1300">
                            <a:solidFill>
                              <a:srgbClr val="1C1819"/>
                            </a:solidFill>
                            <a:latin typeface="Cambria Math" panose="02040503050406030204" pitchFamily="18" charset="0"/>
                          </a:rPr>
                          <m:t>100</m:t>
                        </m:r>
                      </m:e>
                    </m:d>
                    <m:r>
                      <m:rPr>
                        <m:nor/>
                      </m:rPr>
                      <a:rPr lang="it-IT" sz="1300" i="0">
                        <a:solidFill>
                          <a:srgbClr val="1C1819"/>
                        </a:solidFill>
                        <a:latin typeface="Plus Jakarta Sans" panose="020B0604020202020204" charset="0"/>
                        <a:cs typeface="Plus Jakarta Sans" panose="020B0604020202020204" charset="0"/>
                      </a:rPr>
                      <m:t> m</m:t>
                    </m:r>
                    <m:r>
                      <m:rPr>
                        <m:nor/>
                      </m:rPr>
                      <a:rPr lang="it-IT" sz="1300" b="0" i="0" smtClean="0">
                        <a:solidFill>
                          <a:srgbClr val="1C1819"/>
                        </a:solidFill>
                        <a:latin typeface="Plus Jakarta Sans" panose="020B0604020202020204" charset="0"/>
                        <a:cs typeface="Plus Jakarta Sans" panose="020B0604020202020204" charset="0"/>
                      </a:rPr>
                      <m:t> </m:t>
                    </m:r>
                  </m:oMath>
                </a14:m>
                <a:r>
                  <a:rPr lang="it-IT" sz="1300" dirty="0">
                    <a:solidFill>
                      <a:srgbClr val="1C1819"/>
                    </a:solidFill>
                    <a:latin typeface="Plus Jakarta Sans" panose="020B0604020202020204" charset="0"/>
                    <a:cs typeface="Plus Jakarta Sans" panose="020B0604020202020204" charset="0"/>
                  </a:rPr>
                  <a:t>and up to 30% </a:t>
                </a:r>
                <a:r>
                  <a:rPr lang="it-IT" sz="1300" dirty="0" err="1">
                    <a:solidFill>
                      <a:srgbClr val="1C1819"/>
                    </a:solidFill>
                    <a:latin typeface="Plus Jakarta Sans" panose="020B0604020202020204" charset="0"/>
                    <a:cs typeface="Plus Jakarta Sans" panose="020B0604020202020204" charset="0"/>
                  </a:rPr>
                  <a:t>uniform</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outlier</a:t>
                </a:r>
                <a:r>
                  <a:rPr lang="it-IT" sz="1300" dirty="0">
                    <a:solidFill>
                      <a:srgbClr val="1C1819"/>
                    </a:solidFill>
                    <a:latin typeface="Plus Jakarta Sans" panose="020B0604020202020204" charset="0"/>
                    <a:cs typeface="Plus Jakarta Sans" panose="020B0604020202020204" charset="0"/>
                  </a:rPr>
                  <a:t> </a:t>
                </a:r>
                <a:r>
                  <a:rPr lang="it-IT" sz="1300" dirty="0" err="1">
                    <a:solidFill>
                      <a:srgbClr val="1C1819"/>
                    </a:solidFill>
                    <a:latin typeface="Plus Jakarta Sans" panose="020B0604020202020204" charset="0"/>
                    <a:cs typeface="Plus Jakarta Sans" panose="020B0604020202020204" charset="0"/>
                  </a:rPr>
                  <a:t>contamination</a:t>
                </a:r>
                <a:r>
                  <a:rPr lang="it-IT" sz="1300" dirty="0">
                    <a:solidFill>
                      <a:srgbClr val="1C1819"/>
                    </a:solidFill>
                    <a:latin typeface="Plus Jakarta Sans" panose="020B0604020202020204" charset="0"/>
                    <a:cs typeface="Plus Jakarta Sans" panose="020B0604020202020204" charset="0"/>
                  </a:rPr>
                  <a:t> .</a:t>
                </a:r>
                <a:endParaRPr dirty="0">
                  <a:latin typeface="Plus Jakarta Sans" panose="020B0604020202020204" charset="0"/>
                  <a:cs typeface="Plus Jakarta Sans" panose="020B0604020202020204" charset="0"/>
                </a:endParaRPr>
              </a:p>
            </p:txBody>
          </p:sp>
        </mc:Choice>
        <mc:Fallback xmlns="">
          <p:sp>
            <p:nvSpPr>
              <p:cNvPr id="334" name="Google Shape;334;p25"/>
              <p:cNvSpPr txBox="1">
                <a:spLocks noRot="1" noChangeAspect="1" noMove="1" noResize="1" noEditPoints="1" noAdjustHandles="1" noChangeArrowheads="1" noChangeShapeType="1" noTextEdit="1"/>
              </p:cNvSpPr>
              <p:nvPr/>
            </p:nvSpPr>
            <p:spPr>
              <a:xfrm>
                <a:off x="723899" y="2411256"/>
                <a:ext cx="5114925" cy="600164"/>
              </a:xfrm>
              <a:prstGeom prst="rect">
                <a:avLst/>
              </a:prstGeom>
              <a:blipFill>
                <a:blip r:embed="rId3"/>
                <a:stretch>
                  <a:fillRect l="-2026" b="-9184"/>
                </a:stretch>
              </a:blipFill>
              <a:ln>
                <a:noFill/>
              </a:ln>
            </p:spPr>
            <p:txBody>
              <a:bodyPr/>
              <a:lstStyle/>
              <a:p>
                <a:r>
                  <a:rPr lang="it-IT">
                    <a:noFill/>
                  </a:rPr>
                  <a:t> </a:t>
                </a:r>
              </a:p>
            </p:txBody>
          </p:sp>
        </mc:Fallback>
      </mc:AlternateContent>
      <p:sp>
        <p:nvSpPr>
          <p:cNvPr id="335" name="Google Shape;335;p25"/>
          <p:cNvSpPr txBox="1"/>
          <p:nvPr/>
        </p:nvSpPr>
        <p:spPr>
          <a:xfrm>
            <a:off x="6445433" y="2777813"/>
            <a:ext cx="4972050" cy="276999"/>
          </a:xfrm>
          <a:prstGeom prst="rect">
            <a:avLst/>
          </a:prstGeom>
          <a:noFill/>
          <a:ln>
            <a:noFill/>
          </a:ln>
        </p:spPr>
        <p:txBody>
          <a:bodyPr spcFirstLastPara="1" wrap="square" lIns="0" tIns="0" rIns="0" bIns="0" anchor="t" anchorCtr="0">
            <a:spAutoFit/>
          </a:bodyPr>
          <a:lstStyle/>
          <a:p>
            <a:pPr>
              <a:defRPr sz="1650" b="1">
                <a:solidFill>
                  <a:srgbClr val="822433"/>
                </a:solidFill>
              </a:defRPr>
            </a:pPr>
            <a:r>
              <a:rPr lang="it-IT" sz="1650" b="1" dirty="0">
                <a:solidFill>
                  <a:srgbClr val="822433"/>
                </a:solidFill>
                <a:latin typeface="Plus Jakarta Sans" panose="020B0604020202020204" charset="0"/>
                <a:cs typeface="Plus Jakarta Sans" panose="020B0604020202020204" charset="0"/>
              </a:rPr>
              <a:t>T</a:t>
            </a:r>
            <a:r>
              <a:rPr lang="it-IT" sz="1800" b="1" dirty="0">
                <a:solidFill>
                  <a:srgbClr val="822433"/>
                </a:solidFill>
                <a:latin typeface="Plus Jakarta Sans" panose="020B0604020202020204" charset="0"/>
                <a:cs typeface="Plus Jakarta Sans" panose="020B0604020202020204" charset="0"/>
              </a:rPr>
              <a:t>hroughput</a:t>
            </a:r>
            <a:r>
              <a:rPr lang="it-IT" sz="1650" b="1" dirty="0">
                <a:solidFill>
                  <a:srgbClr val="822433"/>
                </a:solidFill>
                <a:latin typeface="Plus Jakarta Sans" panose="020B0604020202020204" charset="0"/>
                <a:cs typeface="Plus Jakarta Sans" panose="020B0604020202020204" charset="0"/>
              </a:rPr>
              <a:t> &amp; Scaling</a:t>
            </a:r>
            <a:endParaRPr dirty="0">
              <a:latin typeface="Plus Jakarta Sans" panose="020B0604020202020204" charset="0"/>
              <a:cs typeface="Plus Jakarta Sans" panose="020B0604020202020204" charset="0"/>
            </a:endParaRPr>
          </a:p>
        </p:txBody>
      </p:sp>
      <p:sp>
        <p:nvSpPr>
          <p:cNvPr id="336" name="Google Shape;336;p25"/>
          <p:cNvSpPr txBox="1"/>
          <p:nvPr/>
        </p:nvSpPr>
        <p:spPr>
          <a:xfrm>
            <a:off x="6445433" y="3097813"/>
            <a:ext cx="4972050" cy="2400657"/>
          </a:xfrm>
          <a:prstGeom prst="rect">
            <a:avLst/>
          </a:prstGeom>
          <a:noFill/>
          <a:ln>
            <a:noFill/>
          </a:ln>
        </p:spPr>
        <p:txBody>
          <a:bodyPr spcFirstLastPara="1" wrap="square" lIns="0" tIns="0" rIns="0" bIns="0" anchor="t" anchorCtr="0">
            <a:spAutoFit/>
          </a:bodyPr>
          <a:lstStyle/>
          <a:p>
            <a:pPr lvl="0">
              <a:lnSpc>
                <a:spcPct val="150000"/>
              </a:lnSpc>
              <a:spcAft>
                <a:spcPts val="1200"/>
              </a:spcAft>
            </a:pPr>
            <a:r>
              <a:rPr lang="it-IT" b="1" dirty="0">
                <a:solidFill>
                  <a:schemeClr val="tx1"/>
                </a:solidFill>
                <a:latin typeface="Plus Jakarta Sans" panose="020B0604020202020204" charset="0"/>
                <a:cs typeface="Plus Jakarta Sans" panose="020B0604020202020204" charset="0"/>
              </a:rPr>
              <a:t>• </a:t>
            </a:r>
            <a:r>
              <a:rPr lang="it-IT" b="1" dirty="0">
                <a:latin typeface="Plus Jakarta Sans" panose="020B0604020202020204" charset="0"/>
                <a:cs typeface="Plus Jakarta Sans" panose="020B0604020202020204" charset="0"/>
              </a:rPr>
              <a:t>Real INGV </a:t>
            </a:r>
            <a:r>
              <a:rPr lang="it-IT" b="1" dirty="0" err="1">
                <a:latin typeface="Plus Jakarta Sans" panose="020B0604020202020204" charset="0"/>
                <a:cs typeface="Plus Jakarta Sans" panose="020B0604020202020204" charset="0"/>
              </a:rPr>
              <a:t>Catalogue</a:t>
            </a:r>
            <a:r>
              <a:rPr lang="it-IT" b="1" dirty="0">
                <a:latin typeface="Plus Jakarta Sans" panose="020B0604020202020204" charset="0"/>
                <a:cs typeface="Plus Jakarta Sans" panose="020B0604020202020204" charset="0"/>
              </a:rPr>
              <a:t> </a:t>
            </a:r>
            <a:r>
              <a:rPr lang="it-IT" dirty="0">
                <a:latin typeface="Plus Jakarta Sans" panose="020B0604020202020204" charset="0"/>
                <a:cs typeface="Plus Jakarta Sans" panose="020B0604020202020204" charset="0"/>
              </a:rPr>
              <a:t>(3.225 events): Full clustering + RANSAC-SVD </a:t>
            </a:r>
            <a:r>
              <a:rPr lang="it-IT" dirty="0" err="1">
                <a:latin typeface="Plus Jakarta Sans" panose="020B0604020202020204" charset="0"/>
                <a:cs typeface="Plus Jakarta Sans" panose="020B0604020202020204" charset="0"/>
              </a:rPr>
              <a:t>plane</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extraction</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completes</a:t>
            </a:r>
            <a:r>
              <a:rPr lang="it-IT" dirty="0">
                <a:latin typeface="Plus Jakarta Sans" panose="020B0604020202020204" charset="0"/>
                <a:cs typeface="Plus Jakarta Sans" panose="020B0604020202020204" charset="0"/>
              </a:rPr>
              <a:t> in &lt; 42 ms.</a:t>
            </a:r>
          </a:p>
          <a:p>
            <a:pPr lvl="0">
              <a:lnSpc>
                <a:spcPct val="150000"/>
              </a:lnSpc>
              <a:spcAft>
                <a:spcPts val="1200"/>
              </a:spcAft>
            </a:pPr>
            <a:r>
              <a:rPr lang="it-IT" b="1" dirty="0">
                <a:solidFill>
                  <a:schemeClr val="tx1"/>
                </a:solidFill>
                <a:latin typeface="Plus Jakarta Sans" panose="020B0604020202020204" charset="0"/>
                <a:cs typeface="Plus Jakarta Sans" panose="020B0604020202020204" charset="0"/>
              </a:rPr>
              <a:t>• </a:t>
            </a:r>
            <a:r>
              <a:rPr lang="it-IT" b="1" dirty="0">
                <a:latin typeface="Plus Jakarta Sans" panose="020B0604020202020204" charset="0"/>
                <a:cs typeface="Plus Jakarta Sans" panose="020B0604020202020204" charset="0"/>
              </a:rPr>
              <a:t>Stress Test </a:t>
            </a:r>
            <a:r>
              <a:rPr lang="it-IT" dirty="0">
                <a:latin typeface="Plus Jakarta Sans" panose="020B0604020202020204" charset="0"/>
                <a:cs typeface="Plus Jakarta Sans" panose="020B0604020202020204" charset="0"/>
              </a:rPr>
              <a:t>(50.000 </a:t>
            </a:r>
            <a:r>
              <a:rPr lang="it-IT" dirty="0" err="1">
                <a:latin typeface="Plus Jakarta Sans" panose="020B0604020202020204" charset="0"/>
                <a:cs typeface="Plus Jakarta Sans" panose="020B0604020202020204" charset="0"/>
              </a:rPr>
              <a:t>hypocentres</a:t>
            </a:r>
            <a:r>
              <a:rPr lang="it-IT" dirty="0">
                <a:latin typeface="Plus Jakarta Sans" panose="020B0604020202020204" charset="0"/>
                <a:cs typeface="Plus Jakarta Sans" panose="020B0604020202020204" charset="0"/>
              </a:rPr>
              <a:t>): </a:t>
            </a:r>
            <a:r>
              <a:rPr lang="it-IT" b="1" dirty="0" err="1">
                <a:latin typeface="Plus Jakarta Sans" panose="020B0604020202020204" charset="0"/>
                <a:cs typeface="Plus Jakarta Sans" panose="020B0604020202020204" charset="0"/>
              </a:rPr>
              <a:t>Cylinder</a:t>
            </a:r>
            <a:r>
              <a:rPr lang="it-IT" b="1" dirty="0">
                <a:latin typeface="Plus Jakarta Sans" panose="020B0604020202020204" charset="0"/>
                <a:cs typeface="Plus Jakarta Sans" panose="020B0604020202020204" charset="0"/>
              </a:rPr>
              <a:t> Grid</a:t>
            </a:r>
            <a:r>
              <a:rPr lang="it-IT" dirty="0">
                <a:latin typeface="Plus Jakarta Sans" panose="020B0604020202020204" charset="0"/>
                <a:cs typeface="Plus Jakarta Sans" panose="020B0604020202020204" charset="0"/>
              </a:rPr>
              <a:t>: 36.5 </a:t>
            </a:r>
            <a:r>
              <a:rPr lang="it-IT" dirty="0" err="1">
                <a:latin typeface="Plus Jakarta Sans" panose="020B0604020202020204" charset="0"/>
                <a:cs typeface="Plus Jakarta Sans" panose="020B0604020202020204" charset="0"/>
              </a:rPr>
              <a:t>ms</a:t>
            </a:r>
            <a:r>
              <a:rPr lang="it-IT" dirty="0">
                <a:latin typeface="Plus Jakarta Sans" panose="020B0604020202020204" charset="0"/>
                <a:cs typeface="Plus Jakarta Sans" panose="020B0604020202020204" charset="0"/>
              </a:rPr>
              <a:t>| </a:t>
            </a:r>
            <a:r>
              <a:rPr lang="it-IT" b="1" dirty="0" err="1">
                <a:latin typeface="Plus Jakarta Sans" panose="020B0604020202020204" charset="0"/>
                <a:cs typeface="Plus Jakarta Sans" panose="020B0604020202020204" charset="0"/>
              </a:rPr>
              <a:t>MiniBatchKMeans</a:t>
            </a:r>
            <a:r>
              <a:rPr lang="it-IT" dirty="0">
                <a:latin typeface="Plus Jakarta Sans" panose="020B0604020202020204" charset="0"/>
                <a:cs typeface="Plus Jakarta Sans" panose="020B0604020202020204" charset="0"/>
              </a:rPr>
              <a:t>: 301.0 </a:t>
            </a:r>
            <a:r>
              <a:rPr lang="it-IT" dirty="0" err="1">
                <a:latin typeface="Plus Jakarta Sans" panose="020B0604020202020204" charset="0"/>
                <a:cs typeface="Plus Jakarta Sans" panose="020B0604020202020204" charset="0"/>
              </a:rPr>
              <a:t>ms</a:t>
            </a:r>
            <a:r>
              <a:rPr lang="it-IT" dirty="0">
                <a:latin typeface="Plus Jakarta Sans" panose="020B0604020202020204" charset="0"/>
                <a:cs typeface="Plus Jakarta Sans" panose="020B0604020202020204" charset="0"/>
              </a:rPr>
              <a:t>| </a:t>
            </a:r>
            <a:r>
              <a:rPr lang="it-IT" b="1" dirty="0">
                <a:latin typeface="Plus Jakarta Sans" panose="020B0604020202020204" charset="0"/>
                <a:cs typeface="Plus Jakarta Sans" panose="020B0604020202020204" charset="0"/>
              </a:rPr>
              <a:t>DBSCAN</a:t>
            </a:r>
            <a:r>
              <a:rPr lang="it-IT" dirty="0">
                <a:latin typeface="Plus Jakarta Sans" panose="020B0604020202020204" charset="0"/>
                <a:cs typeface="Plus Jakarta Sans" panose="020B0604020202020204" charset="0"/>
              </a:rPr>
              <a:t>: 404.4 ms.</a:t>
            </a:r>
          </a:p>
          <a:p>
            <a:pPr lvl="0">
              <a:lnSpc>
                <a:spcPct val="150000"/>
              </a:lnSpc>
              <a:spcAft>
                <a:spcPts val="1200"/>
              </a:spcAft>
            </a:pPr>
            <a:r>
              <a:rPr lang="it-IT" b="1" dirty="0">
                <a:solidFill>
                  <a:schemeClr val="tx1"/>
                </a:solidFill>
                <a:latin typeface="Plus Jakarta Sans" panose="020B0604020202020204" charset="0"/>
                <a:cs typeface="Plus Jakarta Sans" panose="020B0604020202020204" charset="0"/>
              </a:rPr>
              <a:t>• </a:t>
            </a:r>
            <a:r>
              <a:rPr lang="it-IT" b="1" dirty="0">
                <a:latin typeface="Plus Jakarta Sans" panose="020B0604020202020204" charset="0"/>
                <a:cs typeface="Plus Jakarta Sans" panose="020B0604020202020204" charset="0"/>
              </a:rPr>
              <a:t>GPU Rendering </a:t>
            </a:r>
            <a:r>
              <a:rPr lang="it-IT" b="1" dirty="0" err="1">
                <a:latin typeface="Plus Jakarta Sans" panose="020B0604020202020204" charset="0"/>
                <a:cs typeface="Plus Jakarta Sans" panose="020B0604020202020204" charset="0"/>
              </a:rPr>
              <a:t>Stability</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WebGL</a:t>
            </a:r>
            <a:r>
              <a:rPr lang="it-IT" dirty="0">
                <a:latin typeface="Plus Jakarta Sans" panose="020B0604020202020204" charset="0"/>
                <a:cs typeface="Plus Jakarta Sans" panose="020B0604020202020204" charset="0"/>
              </a:rPr>
              <a:t> frame rate </a:t>
            </a:r>
            <a:r>
              <a:rPr lang="it-IT" dirty="0" err="1">
                <a:latin typeface="Plus Jakarta Sans" panose="020B0604020202020204" charset="0"/>
                <a:cs typeface="Plus Jakarta Sans" panose="020B0604020202020204" charset="0"/>
              </a:rPr>
              <a:t>sustains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stable</a:t>
            </a:r>
            <a:r>
              <a:rPr lang="it-IT" dirty="0">
                <a:latin typeface="Plus Jakarta Sans" panose="020B0604020202020204" charset="0"/>
                <a:cs typeface="Plus Jakarta Sans" panose="020B0604020202020204" charset="0"/>
              </a:rPr>
              <a:t>  55-60 FPS </a:t>
            </a:r>
            <a:r>
              <a:rPr lang="it-IT" dirty="0" err="1">
                <a:latin typeface="Plus Jakarta Sans" panose="020B0604020202020204" charset="0"/>
                <a:cs typeface="Plus Jakarta Sans" panose="020B0604020202020204" charset="0"/>
              </a:rPr>
              <a:t>during</a:t>
            </a:r>
            <a:r>
              <a:rPr lang="it-IT" dirty="0">
                <a:latin typeface="Plus Jakarta Sans" panose="020B0604020202020204" charset="0"/>
                <a:cs typeface="Plus Jakarta Sans" panose="020B0604020202020204" charset="0"/>
              </a:rPr>
              <a:t> interactive 3D </a:t>
            </a:r>
            <a:r>
              <a:rPr lang="it-IT" dirty="0" err="1">
                <a:latin typeface="Plus Jakarta Sans" panose="020B0604020202020204" charset="0"/>
                <a:cs typeface="Plus Jakarta Sans" panose="020B0604020202020204" charset="0"/>
              </a:rPr>
              <a:t>orbit</a:t>
            </a:r>
            <a:r>
              <a:rPr lang="it-IT" dirty="0">
                <a:latin typeface="Plus Jakarta Sans" panose="020B0604020202020204" charset="0"/>
                <a:cs typeface="Plus Jakarta Sans" panose="020B0604020202020204" charset="0"/>
              </a:rPr>
              <a:t> and zoom.</a:t>
            </a:r>
          </a:p>
        </p:txBody>
      </p:sp>
      <p:sp>
        <p:nvSpPr>
          <p:cNvPr id="337" name="Google Shape;337;p25"/>
          <p:cNvSpPr txBox="1"/>
          <p:nvPr/>
        </p:nvSpPr>
        <p:spPr>
          <a:xfrm>
            <a:off x="751332" y="4573059"/>
            <a:ext cx="4972050" cy="25391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650" b="1">
                <a:solidFill>
                  <a:srgbClr val="B85828"/>
                </a:solidFill>
              </a:defRPr>
            </a:pPr>
            <a:r>
              <a:rPr lang="en-US" sz="1650" b="1" i="0" u="none" strike="noStrike" cap="none" dirty="0">
                <a:solidFill>
                  <a:srgbClr val="B85828"/>
                </a:solidFill>
                <a:latin typeface="Plus Jakarta Sans"/>
                <a:ea typeface="Plus Jakarta Sans"/>
                <a:cs typeface="Plus Jakarta Sans"/>
                <a:sym typeface="Plus Jakarta Sans"/>
              </a:rPr>
              <a:t>Streaming &amp; Memory</a:t>
            </a:r>
            <a:endParaRPr dirty="0"/>
          </a:p>
        </p:txBody>
      </p:sp>
      <p:sp>
        <p:nvSpPr>
          <p:cNvPr id="340" name="Google Shape;340;p25"/>
          <p:cNvSpPr txBox="1"/>
          <p:nvPr/>
        </p:nvSpPr>
        <p:spPr>
          <a:xfrm>
            <a:off x="1127216" y="3120276"/>
            <a:ext cx="1190044" cy="3077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000" dirty="0">
                <a:solidFill>
                  <a:srgbClr val="236B5E"/>
                </a:solidFill>
                <a:latin typeface="Plus Jakarta Sans"/>
                <a:ea typeface="Plus Jakarta Sans"/>
                <a:cs typeface="Plus Jakarta Sans"/>
                <a:sym typeface="Plus Jakarta Sans"/>
              </a:rPr>
              <a:t> </a:t>
            </a:r>
            <a:r>
              <a:rPr lang="en-US" sz="2000" i="0" u="none" strike="noStrike" cap="none" dirty="0">
                <a:solidFill>
                  <a:srgbClr val="236B5E"/>
                </a:solidFill>
                <a:latin typeface="Plus Jakarta Sans"/>
                <a:ea typeface="Plus Jakarta Sans"/>
                <a:cs typeface="Plus Jakarta Sans"/>
                <a:sym typeface="Plus Jakarta Sans"/>
              </a:rPr>
              <a:t>&lt; 0.51°</a:t>
            </a:r>
            <a:endParaRPr sz="2000" dirty="0"/>
          </a:p>
        </p:txBody>
      </p:sp>
      <p:sp>
        <p:nvSpPr>
          <p:cNvPr id="341" name="Google Shape;341;p25"/>
          <p:cNvSpPr txBox="1"/>
          <p:nvPr/>
        </p:nvSpPr>
        <p:spPr>
          <a:xfrm>
            <a:off x="2709453" y="3108103"/>
            <a:ext cx="992932" cy="3077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000" b="1" i="0" u="none" strike="noStrike" cap="none" dirty="0">
                <a:solidFill>
                  <a:srgbClr val="236B5E"/>
                </a:solidFill>
                <a:latin typeface="Plus Jakarta Sans"/>
                <a:ea typeface="Plus Jakarta Sans"/>
                <a:cs typeface="Plus Jakarta Sans"/>
                <a:sym typeface="Plus Jakarta Sans"/>
              </a:rPr>
              <a:t>&lt; 0.93°</a:t>
            </a:r>
            <a:endParaRPr sz="2000" dirty="0"/>
          </a:p>
        </p:txBody>
      </p:sp>
      <mc:AlternateContent xmlns:mc="http://schemas.openxmlformats.org/markup-compatibility/2006">
        <mc:Choice xmlns:a14="http://schemas.microsoft.com/office/drawing/2010/main" Requires="a14">
          <p:sp>
            <p:nvSpPr>
              <p:cNvPr id="342" name="Google Shape;342;p25"/>
              <p:cNvSpPr txBox="1"/>
              <p:nvPr/>
            </p:nvSpPr>
            <p:spPr>
              <a:xfrm>
                <a:off x="742950" y="4920835"/>
                <a:ext cx="5076825" cy="1431161"/>
              </a:xfrm>
              <a:prstGeom prst="rect">
                <a:avLst/>
              </a:prstGeom>
              <a:noFill/>
              <a:ln>
                <a:noFill/>
              </a:ln>
            </p:spPr>
            <p:txBody>
              <a:bodyPr spcFirstLastPara="1" wrap="square" lIns="0" tIns="0" rIns="0" bIns="0" anchor="t" anchorCtr="0">
                <a:spAutoFit/>
              </a:bodyPr>
              <a:lstStyle/>
              <a:p>
                <a:pPr lvl="1">
                  <a:lnSpc>
                    <a:spcPct val="150000"/>
                  </a:lnSpc>
                  <a:spcAft>
                    <a:spcPts val="600"/>
                  </a:spcAft>
                </a:pPr>
                <a:r>
                  <a:rPr lang="it-IT" sz="1300" b="1" dirty="0">
                    <a:solidFill>
                      <a:schemeClr val="tx1"/>
                    </a:solidFill>
                    <a:latin typeface="Plus Jakarta Sans" panose="020B0604020202020204" charset="0"/>
                    <a:cs typeface="Plus Jakarta Sans" panose="020B0604020202020204" charset="0"/>
                  </a:rPr>
                  <a:t>• </a:t>
                </a:r>
                <a:r>
                  <a:rPr lang="it-IT" sz="1300" dirty="0">
                    <a:latin typeface="Plus Jakarta Sans" panose="020B0604020202020204" charset="0"/>
                    <a:cs typeface="Plus Jakarta Sans" panose="020B0604020202020204" charset="0"/>
                  </a:rPr>
                  <a:t>JSON Payload: 4.75 MB</a:t>
                </a:r>
                <a14:m>
                  <m:oMath xmlns:m="http://schemas.openxmlformats.org/officeDocument/2006/math">
                    <m:r>
                      <a:rPr lang="it-IT" sz="1300" b="0" i="0" smtClean="0">
                        <a:latin typeface="Cambria Math" panose="02040503050406030204" pitchFamily="18" charset="0"/>
                      </a:rPr>
                      <m:t> </m:t>
                    </m:r>
                    <m:r>
                      <a:rPr lang="it-IT" sz="1300">
                        <a:latin typeface="Cambria Math" panose="02040503050406030204" pitchFamily="18" charset="0"/>
                      </a:rPr>
                      <m:t>⟶</m:t>
                    </m:r>
                    <m:r>
                      <a:rPr lang="it-IT" sz="1300" b="0" i="0" smtClean="0">
                        <a:latin typeface="Cambria Math" panose="02040503050406030204" pitchFamily="18" charset="0"/>
                      </a:rPr>
                      <m:t> </m:t>
                    </m:r>
                  </m:oMath>
                </a14:m>
                <a:r>
                  <a:rPr lang="it-IT" sz="1300" b="1" dirty="0">
                    <a:latin typeface="Plus Jakarta Sans" panose="020B0604020202020204" charset="0"/>
                    <a:cs typeface="Plus Jakarta Sans" panose="020B0604020202020204" charset="0"/>
                  </a:rPr>
                  <a:t>Float32 Buffer: </a:t>
                </a:r>
                <a:r>
                  <a:rPr lang="it-IT" sz="1300" dirty="0">
                    <a:latin typeface="Plus Jakarta Sans" panose="020B0604020202020204" charset="0"/>
                    <a:cs typeface="Plus Jakarta Sans" panose="020B0604020202020204" charset="0"/>
                  </a:rPr>
                  <a:t>976.6 KB (-79.4% </a:t>
                </a:r>
                <a:r>
                  <a:rPr lang="it-IT" sz="1300" dirty="0" err="1">
                    <a:latin typeface="Plus Jakarta Sans" panose="020B0604020202020204" charset="0"/>
                    <a:cs typeface="Plus Jakarta Sans" panose="020B0604020202020204" charset="0"/>
                  </a:rPr>
                  <a:t>compression</a:t>
                </a:r>
                <a:r>
                  <a:rPr lang="it-IT" sz="1300" dirty="0">
                    <a:latin typeface="Plus Jakarta Sans" panose="020B0604020202020204" charset="0"/>
                    <a:cs typeface="Plus Jakarta Sans" panose="020B0604020202020204" charset="0"/>
                  </a:rPr>
                  <a:t> </a:t>
                </a:r>
                <a:r>
                  <a:rPr lang="it-IT" sz="1300" dirty="0" err="1">
                    <a:latin typeface="Plus Jakarta Sans" panose="020B0604020202020204" charset="0"/>
                    <a:cs typeface="Plus Jakarta Sans" panose="020B0604020202020204" charset="0"/>
                  </a:rPr>
                  <a:t>at</a:t>
                </a:r>
                <a:r>
                  <a:rPr lang="it-IT" sz="1300" dirty="0">
                    <a:latin typeface="Plus Jakarta Sans" panose="020B0604020202020204" charset="0"/>
                    <a:cs typeface="Plus Jakarta Sans" panose="020B0604020202020204" charset="0"/>
                  </a:rPr>
                  <a:t> 50k events).</a:t>
                </a:r>
              </a:p>
              <a:p>
                <a:pPr lvl="1">
                  <a:lnSpc>
                    <a:spcPct val="150000"/>
                  </a:lnSpc>
                  <a:spcAft>
                    <a:spcPts val="600"/>
                  </a:spcAft>
                </a:pPr>
                <a:r>
                  <a:rPr lang="it-IT" sz="1300" b="1" dirty="0">
                    <a:solidFill>
                      <a:schemeClr val="tx1"/>
                    </a:solidFill>
                    <a:latin typeface="Plus Jakarta Sans" panose="020B0604020202020204" charset="0"/>
                    <a:cs typeface="Plus Jakarta Sans" panose="020B0604020202020204" charset="0"/>
                  </a:rPr>
                  <a:t>• </a:t>
                </a:r>
                <a:r>
                  <a:rPr lang="it-IT" sz="1300" dirty="0">
                    <a:latin typeface="Plus Jakarta Sans" panose="020B0604020202020204" charset="0"/>
                    <a:cs typeface="Plus Jakarta Sans" panose="020B0604020202020204" charset="0"/>
                  </a:rPr>
                  <a:t>JSON </a:t>
                </a:r>
                <a:r>
                  <a:rPr lang="it-IT" sz="1300" dirty="0" err="1">
                    <a:latin typeface="Plus Jakarta Sans" panose="020B0604020202020204" charset="0"/>
                    <a:cs typeface="Plus Jakarta Sans" panose="020B0604020202020204" charset="0"/>
                  </a:rPr>
                  <a:t>string</a:t>
                </a:r>
                <a:r>
                  <a:rPr lang="it-IT" sz="1300" dirty="0">
                    <a:latin typeface="Plus Jakarta Sans" panose="020B0604020202020204" charset="0"/>
                    <a:cs typeface="Plus Jakarta Sans" panose="020B0604020202020204" charset="0"/>
                  </a:rPr>
                  <a:t> </a:t>
                </a:r>
                <a:r>
                  <a:rPr lang="it-IT" sz="1300" dirty="0" err="1">
                    <a:latin typeface="Plus Jakarta Sans" panose="020B0604020202020204" charset="0"/>
                    <a:cs typeface="Plus Jakarta Sans" panose="020B0604020202020204" charset="0"/>
                  </a:rPr>
                  <a:t>parsing</a:t>
                </a:r>
                <a:r>
                  <a:rPr lang="it-IT" sz="1300" dirty="0">
                    <a:latin typeface="Plus Jakarta Sans" panose="020B0604020202020204" charset="0"/>
                    <a:cs typeface="Plus Jakarta Sans" panose="020B0604020202020204" charset="0"/>
                  </a:rPr>
                  <a:t>: 39.7 </a:t>
                </a:r>
                <a:r>
                  <a:rPr lang="it-IT" sz="1300" dirty="0" err="1">
                    <a:latin typeface="Plus Jakarta Sans" panose="020B0604020202020204" charset="0"/>
                    <a:cs typeface="Plus Jakarta Sans" panose="020B0604020202020204" charset="0"/>
                  </a:rPr>
                  <a:t>ms</a:t>
                </a:r>
                <a14:m>
                  <m:oMath xmlns:m="http://schemas.openxmlformats.org/officeDocument/2006/math">
                    <m:r>
                      <a:rPr lang="it-IT" sz="1300" b="0" i="0" smtClean="0">
                        <a:latin typeface="Cambria Math" panose="02040503050406030204" pitchFamily="18" charset="0"/>
                      </a:rPr>
                      <m:t> </m:t>
                    </m:r>
                    <m:r>
                      <a:rPr lang="it-IT" sz="1300" smtClean="0">
                        <a:latin typeface="Cambria Math" panose="02040503050406030204" pitchFamily="18" charset="0"/>
                      </a:rPr>
                      <m:t>⟶</m:t>
                    </m:r>
                  </m:oMath>
                </a14:m>
                <a:r>
                  <a:rPr lang="it-IT" sz="1300" b="1" dirty="0">
                    <a:latin typeface="Plus Jakarta Sans" panose="020B0604020202020204" charset="0"/>
                    <a:cs typeface="Plus Jakarta Sans" panose="020B0604020202020204" charset="0"/>
                  </a:rPr>
                  <a:t> Float32 </a:t>
                </a:r>
                <a:r>
                  <a:rPr lang="it-IT" sz="1300" b="1" dirty="0" err="1">
                    <a:latin typeface="Plus Jakarta Sans" panose="020B0604020202020204" charset="0"/>
                    <a:cs typeface="Plus Jakarta Sans" panose="020B0604020202020204" charset="0"/>
                  </a:rPr>
                  <a:t>ArrayBuffer</a:t>
                </a:r>
                <a:r>
                  <a:rPr lang="it-IT" sz="1300" b="1" dirty="0">
                    <a:latin typeface="Plus Jakarta Sans" panose="020B0604020202020204" charset="0"/>
                    <a:cs typeface="Plus Jakarta Sans" panose="020B0604020202020204" charset="0"/>
                  </a:rPr>
                  <a:t>: </a:t>
                </a:r>
                <a:r>
                  <a:rPr lang="it-IT" sz="1300" dirty="0">
                    <a:latin typeface="Plus Jakarta Sans" panose="020B0604020202020204" charset="0"/>
                    <a:cs typeface="Plus Jakarta Sans" panose="020B0604020202020204" charset="0"/>
                  </a:rPr>
                  <a:t>&lt; 0.01ms</a:t>
                </a:r>
                <a14:m>
                  <m:oMath xmlns:m="http://schemas.openxmlformats.org/officeDocument/2006/math">
                    <m:r>
                      <m:rPr>
                        <m:nor/>
                      </m:rPr>
                      <a:rPr lang="it-IT" sz="1300" b="0" i="0" smtClean="0">
                        <a:latin typeface="Plus Jakarta Sans" panose="020B0604020202020204" charset="0"/>
                        <a:cs typeface="Plus Jakarta Sans" panose="020B0604020202020204" charset="0"/>
                      </a:rPr>
                      <m:t>.</m:t>
                    </m:r>
                  </m:oMath>
                </a14:m>
                <a:endParaRPr lang="it-IT" sz="1300" dirty="0">
                  <a:latin typeface="Plus Jakarta Sans" panose="020B0604020202020204" charset="0"/>
                  <a:cs typeface="Plus Jakarta Sans" panose="020B0604020202020204" charset="0"/>
                </a:endParaRPr>
              </a:p>
              <a:p>
                <a:pPr lvl="1">
                  <a:lnSpc>
                    <a:spcPct val="150000"/>
                  </a:lnSpc>
                  <a:spcAft>
                    <a:spcPts val="600"/>
                  </a:spcAft>
                </a:pPr>
                <a:r>
                  <a:rPr lang="it-IT" sz="1300" b="1" dirty="0">
                    <a:solidFill>
                      <a:schemeClr val="tx1"/>
                    </a:solidFill>
                    <a:latin typeface="Plus Jakarta Sans" panose="020B0604020202020204" charset="0"/>
                    <a:cs typeface="Plus Jakarta Sans" panose="020B0604020202020204" charset="0"/>
                  </a:rPr>
                  <a:t>• </a:t>
                </a:r>
                <a:r>
                  <a:rPr lang="it-IT" sz="1300" dirty="0" err="1">
                    <a:latin typeface="Plus Jakarta Sans" panose="020B0604020202020204" charset="0"/>
                    <a:cs typeface="Plus Jakarta Sans" panose="020B0604020202020204" charset="0"/>
                  </a:rPr>
                  <a:t>Strict</a:t>
                </a:r>
                <a:r>
                  <a:rPr lang="it-IT" sz="1300" dirty="0">
                    <a:latin typeface="Plus Jakarta Sans" panose="020B0604020202020204" charset="0"/>
                    <a:cs typeface="Plus Jakarta Sans" panose="020B0604020202020204" charset="0"/>
                  </a:rPr>
                  <a:t> FIFO cache </a:t>
                </a:r>
                <a:r>
                  <a:rPr lang="it-IT" sz="1300" dirty="0" err="1">
                    <a:latin typeface="Plus Jakarta Sans" panose="020B0604020202020204" charset="0"/>
                    <a:cs typeface="Plus Jakarta Sans" panose="020B0604020202020204" charset="0"/>
                  </a:rPr>
                  <a:t>eviction</a:t>
                </a:r>
                <a:r>
                  <a:rPr lang="it-IT" sz="1300" dirty="0">
                    <a:latin typeface="Plus Jakarta Sans" panose="020B0604020202020204" charset="0"/>
                    <a:cs typeface="Plus Jakarta Sans" panose="020B0604020202020204" charset="0"/>
                  </a:rPr>
                  <a:t> (</a:t>
                </a:r>
                <a14:m>
                  <m:oMath xmlns:m="http://schemas.openxmlformats.org/officeDocument/2006/math">
                    <m:r>
                      <a:rPr lang="it-IT" sz="1300" smtClean="0">
                        <a:latin typeface="Cambria Math" panose="02040503050406030204" pitchFamily="18" charset="0"/>
                      </a:rPr>
                      <m:t>≤</m:t>
                    </m:r>
                  </m:oMath>
                </a14:m>
                <a:r>
                  <a:rPr lang="it-IT" sz="1300" dirty="0">
                    <a:latin typeface="Plus Jakarta Sans" panose="020B0604020202020204" charset="0"/>
                    <a:cs typeface="Plus Jakarta Sans" panose="020B0604020202020204" charset="0"/>
                  </a:rPr>
                  <a:t> 5 session stores, </a:t>
                </a:r>
                <a14:m>
                  <m:oMath xmlns:m="http://schemas.openxmlformats.org/officeDocument/2006/math">
                    <m:r>
                      <a:rPr lang="it-IT" sz="1300">
                        <a:latin typeface="Cambria Math" panose="02040503050406030204" pitchFamily="18" charset="0"/>
                      </a:rPr>
                      <m:t>≤</m:t>
                    </m:r>
                    <m:r>
                      <a:rPr lang="it-IT" sz="1300" b="0" i="0" smtClean="0">
                        <a:latin typeface="Cambria Math" panose="02040503050406030204" pitchFamily="18" charset="0"/>
                      </a:rPr>
                      <m:t> </m:t>
                    </m:r>
                  </m:oMath>
                </a14:m>
                <a:r>
                  <a:rPr lang="it-IT" sz="1300" dirty="0">
                    <a:latin typeface="Plus Jakarta Sans" panose="020B0604020202020204" charset="0"/>
                    <a:cs typeface="Plus Jakarta Sans" panose="020B0604020202020204" charset="0"/>
                  </a:rPr>
                  <a:t>4 HTML </a:t>
                </a:r>
                <a:r>
                  <a:rPr lang="it-IT" sz="1300" dirty="0" err="1">
                    <a:latin typeface="Plus Jakarta Sans" panose="020B0604020202020204" charset="0"/>
                    <a:cs typeface="Plus Jakarta Sans" panose="020B0604020202020204" charset="0"/>
                  </a:rPr>
                  <a:t>views</a:t>
                </a:r>
                <a:r>
                  <a:rPr lang="it-IT" sz="1300" dirty="0">
                    <a:latin typeface="Plus Jakarta Sans" panose="020B0604020202020204" charset="0"/>
                    <a:cs typeface="Plus Jakarta Sans" panose="020B0604020202020204" charset="0"/>
                  </a:rPr>
                  <a:t>).</a:t>
                </a:r>
              </a:p>
            </p:txBody>
          </p:sp>
        </mc:Choice>
        <mc:Fallback>
          <p:sp>
            <p:nvSpPr>
              <p:cNvPr id="342" name="Google Shape;342;p25"/>
              <p:cNvSpPr txBox="1">
                <a:spLocks noRot="1" noChangeAspect="1" noMove="1" noResize="1" noEditPoints="1" noAdjustHandles="1" noChangeArrowheads="1" noChangeShapeType="1" noTextEdit="1"/>
              </p:cNvSpPr>
              <p:nvPr/>
            </p:nvSpPr>
            <p:spPr>
              <a:xfrm>
                <a:off x="742950" y="4920835"/>
                <a:ext cx="5076825" cy="1431161"/>
              </a:xfrm>
              <a:prstGeom prst="rect">
                <a:avLst/>
              </a:prstGeom>
              <a:blipFill>
                <a:blip r:embed="rId4"/>
                <a:stretch>
                  <a:fillRect l="-2041" r="-960"/>
                </a:stretch>
              </a:blipFill>
              <a:ln>
                <a:noFill/>
              </a:ln>
            </p:spPr>
            <p:txBody>
              <a:bodyPr/>
              <a:lstStyle/>
              <a:p>
                <a:r>
                  <a:rPr lang="it-IT">
                    <a:noFill/>
                  </a:rPr>
                  <a:t> </a:t>
                </a:r>
              </a:p>
            </p:txBody>
          </p:sp>
        </mc:Fallback>
      </mc:AlternateContent>
      <p:sp>
        <p:nvSpPr>
          <p:cNvPr id="345" name="Google Shape;345;p25"/>
          <p:cNvSpPr txBox="1"/>
          <p:nvPr/>
        </p:nvSpPr>
        <p:spPr>
          <a:xfrm>
            <a:off x="1088907" y="3485192"/>
            <a:ext cx="758724" cy="169277"/>
          </a:xfrm>
          <a:prstGeom prst="rect">
            <a:avLst/>
          </a:prstGeom>
          <a:noFill/>
          <a:ln>
            <a:noFill/>
          </a:ln>
        </p:spPr>
        <p:txBody>
          <a:bodyPr spcFirstLastPara="1" wrap="square" lIns="0" tIns="0" rIns="0" bIns="0" anchor="t" anchorCtr="0">
            <a:spAutoFit/>
          </a:bodyPr>
          <a:lstStyle/>
          <a:p>
            <a:pPr lvl="0">
              <a:defRPr sz="1100" b="1">
                <a:solidFill>
                  <a:srgbClr val="5A5052"/>
                </a:solidFill>
              </a:defRPr>
            </a:pPr>
            <a:r>
              <a:rPr lang="en-US" sz="1100" b="1" i="0" u="none" strike="noStrike" cap="none" dirty="0">
                <a:solidFill>
                  <a:srgbClr val="5A5052"/>
                </a:solidFill>
                <a:latin typeface="Plus Jakarta Sans"/>
                <a:ea typeface="Plus Jakarta Sans"/>
                <a:cs typeface="Plus Jakarta Sans"/>
                <a:sym typeface="Plus Jakarta Sans"/>
              </a:rPr>
              <a:t>Dip MAE</a:t>
            </a:r>
            <a:endParaRPr dirty="0"/>
          </a:p>
        </p:txBody>
      </p:sp>
      <p:sp>
        <p:nvSpPr>
          <p:cNvPr id="346" name="Google Shape;346;p25"/>
          <p:cNvSpPr txBox="1"/>
          <p:nvPr/>
        </p:nvSpPr>
        <p:spPr>
          <a:xfrm>
            <a:off x="2709453" y="3489771"/>
            <a:ext cx="758723" cy="1692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i="0" u="none" strike="noStrike" cap="none" dirty="0">
                <a:solidFill>
                  <a:srgbClr val="5A5052"/>
                </a:solidFill>
                <a:latin typeface="Plus Jakarta Sans"/>
                <a:ea typeface="Plus Jakarta Sans"/>
                <a:cs typeface="Plus Jakarta Sans"/>
                <a:sym typeface="Plus Jakarta Sans"/>
              </a:rPr>
              <a:t>Strike MAE</a:t>
            </a:r>
            <a:endParaRPr dirty="0"/>
          </a:p>
        </p:txBody>
      </p:sp>
      <p:pic>
        <p:nvPicPr>
          <p:cNvPr id="347" name="Picture 346" descr="sapienza_logo.png"/>
          <p:cNvPicPr>
            <a:picLocks noChangeAspect="1"/>
          </p:cNvPicPr>
          <p:nvPr/>
        </p:nvPicPr>
        <p:blipFill>
          <a:blip r:embed="rId5"/>
          <a:stretch>
            <a:fillRect/>
          </a:stretch>
        </p:blipFill>
        <p:spPr>
          <a:xfrm>
            <a:off x="9750000" y="400000"/>
            <a:ext cx="1900000" cy="570000"/>
          </a:xfrm>
          <a:prstGeom prst="rect">
            <a:avLst/>
          </a:prstGeom>
        </p:spPr>
      </p:pic>
      <p:sp>
        <p:nvSpPr>
          <p:cNvPr id="348"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SapienzaTopStripe">
            <a:extLst>
              <a:ext uri="{FF2B5EF4-FFF2-40B4-BE49-F238E27FC236}">
                <a16:creationId xmlns:a16="http://schemas.microsoft.com/office/drawing/2014/main" id="{3418EDEA-1B85-9068-DE31-F362E9B920DA}"/>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CasellaDiTesto 1">
            <a:extLst>
              <a:ext uri="{FF2B5EF4-FFF2-40B4-BE49-F238E27FC236}">
                <a16:creationId xmlns:a16="http://schemas.microsoft.com/office/drawing/2014/main" id="{31329808-1E60-E15E-E797-4499638F5AA5}"/>
              </a:ext>
            </a:extLst>
          </p:cNvPr>
          <p:cNvSpPr txBox="1"/>
          <p:nvPr/>
        </p:nvSpPr>
        <p:spPr>
          <a:xfrm>
            <a:off x="642186" y="3007648"/>
            <a:ext cx="535724" cy="523220"/>
          </a:xfrm>
          <a:prstGeom prst="rect">
            <a:avLst/>
          </a:prstGeom>
          <a:noFill/>
        </p:spPr>
        <p:txBody>
          <a:bodyPr wrap="none" rtlCol="0">
            <a:spAutoFit/>
          </a:bodyPr>
          <a:lstStyle/>
          <a:p>
            <a:r>
              <a:rPr lang="en-US" sz="2800" dirty="0">
                <a:solidFill>
                  <a:srgbClr val="236B5E"/>
                </a:solidFill>
                <a:latin typeface="Plus Jakarta Sans"/>
                <a:ea typeface="Plus Jakarta Sans"/>
                <a:cs typeface="Plus Jakarta Sans"/>
                <a:sym typeface="Plus Jakarta Sans"/>
              </a:rPr>
              <a:t>∆</a:t>
            </a:r>
            <a:r>
              <a:rPr lang="en-US" sz="1600" dirty="0">
                <a:solidFill>
                  <a:srgbClr val="236B5E"/>
                </a:solidFill>
                <a:latin typeface="Plus Jakarta Sans"/>
                <a:ea typeface="Plus Jakarta Sans"/>
                <a:cs typeface="Plus Jakarta Sans"/>
                <a:sym typeface="Plus Jakarta Sans"/>
              </a:rPr>
              <a:t>d</a:t>
            </a:r>
            <a:endParaRPr lang="it-IT" sz="2800" dirty="0"/>
          </a:p>
        </p:txBody>
      </p:sp>
      <p:sp>
        <p:nvSpPr>
          <p:cNvPr id="5" name="CasellaDiTesto 4">
            <a:extLst>
              <a:ext uri="{FF2B5EF4-FFF2-40B4-BE49-F238E27FC236}">
                <a16:creationId xmlns:a16="http://schemas.microsoft.com/office/drawing/2014/main" id="{D26BB5BC-30C5-DBE7-8A61-35390E54F066}"/>
              </a:ext>
            </a:extLst>
          </p:cNvPr>
          <p:cNvSpPr txBox="1"/>
          <p:nvPr/>
        </p:nvSpPr>
        <p:spPr>
          <a:xfrm>
            <a:off x="2205789" y="3020656"/>
            <a:ext cx="503664" cy="523220"/>
          </a:xfrm>
          <a:prstGeom prst="rect">
            <a:avLst/>
          </a:prstGeom>
          <a:noFill/>
        </p:spPr>
        <p:txBody>
          <a:bodyPr wrap="none" rtlCol="0">
            <a:spAutoFit/>
          </a:bodyPr>
          <a:lstStyle/>
          <a:p>
            <a:r>
              <a:rPr lang="en-US" sz="2800" dirty="0">
                <a:solidFill>
                  <a:srgbClr val="236B5E"/>
                </a:solidFill>
                <a:latin typeface="Plus Jakarta Sans"/>
                <a:ea typeface="Plus Jakarta Sans"/>
                <a:cs typeface="Plus Jakarta Sans"/>
                <a:sym typeface="Plus Jakarta Sans"/>
              </a:rPr>
              <a:t>∆</a:t>
            </a:r>
            <a:r>
              <a:rPr lang="en-US" sz="1600" dirty="0">
                <a:solidFill>
                  <a:srgbClr val="236B5E"/>
                </a:solidFill>
                <a:latin typeface="Plus Jakarta Sans"/>
                <a:ea typeface="Plus Jakarta Sans"/>
                <a:cs typeface="Plus Jakarta Sans"/>
                <a:sym typeface="Plus Jakarta Sans"/>
              </a:rPr>
              <a:t>s</a:t>
            </a:r>
            <a:endParaRPr lang="it-IT" sz="2800" dirty="0"/>
          </a:p>
        </p:txBody>
      </p:sp>
      <p:sp>
        <p:nvSpPr>
          <p:cNvPr id="6" name="CasellaDiTesto 5">
            <a:extLst>
              <a:ext uri="{FF2B5EF4-FFF2-40B4-BE49-F238E27FC236}">
                <a16:creationId xmlns:a16="http://schemas.microsoft.com/office/drawing/2014/main" id="{34C416A9-606C-352D-31A7-5A4A19855B64}"/>
              </a:ext>
            </a:extLst>
          </p:cNvPr>
          <p:cNvSpPr txBox="1"/>
          <p:nvPr/>
        </p:nvSpPr>
        <p:spPr>
          <a:xfrm>
            <a:off x="3836660" y="2989829"/>
            <a:ext cx="553211" cy="523220"/>
          </a:xfrm>
          <a:prstGeom prst="rect">
            <a:avLst/>
          </a:prstGeom>
          <a:noFill/>
        </p:spPr>
        <p:txBody>
          <a:bodyPr wrap="square">
            <a:spAutoFit/>
          </a:bodyPr>
          <a:lstStyle/>
          <a:p>
            <a:r>
              <a:rPr lang="en-US" sz="2800" dirty="0">
                <a:solidFill>
                  <a:srgbClr val="236B5E"/>
                </a:solidFill>
                <a:latin typeface="Plus Jakarta Sans"/>
                <a:ea typeface="Plus Jakarta Sans"/>
                <a:cs typeface="Plus Jakarta Sans"/>
                <a:sym typeface="Plus Jakarta Sans"/>
              </a:rPr>
              <a:t>∆</a:t>
            </a:r>
            <a:r>
              <a:rPr lang="en-US" sz="1600" dirty="0">
                <a:solidFill>
                  <a:srgbClr val="236B5E"/>
                </a:solidFill>
                <a:latin typeface="Plus Jakarta Sans"/>
                <a:ea typeface="Plus Jakarta Sans"/>
                <a:cs typeface="Plus Jakarta Sans"/>
                <a:sym typeface="Plus Jakarta Sans"/>
              </a:rPr>
              <a:t>p</a:t>
            </a:r>
            <a:endParaRPr lang="it-IT" sz="2800" dirty="0"/>
          </a:p>
        </p:txBody>
      </p:sp>
      <p:sp>
        <p:nvSpPr>
          <p:cNvPr id="9" name="Google Shape;341;p25">
            <a:extLst>
              <a:ext uri="{FF2B5EF4-FFF2-40B4-BE49-F238E27FC236}">
                <a16:creationId xmlns:a16="http://schemas.microsoft.com/office/drawing/2014/main" id="{A084B899-ABB4-6935-72DA-DE61BC55524C}"/>
              </a:ext>
            </a:extLst>
          </p:cNvPr>
          <p:cNvSpPr txBox="1"/>
          <p:nvPr/>
        </p:nvSpPr>
        <p:spPr>
          <a:xfrm>
            <a:off x="4352774" y="3107973"/>
            <a:ext cx="992932" cy="3077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400" b="1">
                <a:solidFill>
                  <a:srgbClr val="236B5E"/>
                </a:solidFill>
              </a:defRPr>
            </a:pPr>
            <a:r>
              <a:rPr lang="en-US" sz="2000" b="1" i="0" u="none" strike="noStrike" cap="none" dirty="0">
                <a:solidFill>
                  <a:srgbClr val="236B5E"/>
                </a:solidFill>
                <a:latin typeface="Plus Jakarta Sans"/>
                <a:ea typeface="Plus Jakarta Sans"/>
                <a:cs typeface="Plus Jakarta Sans"/>
                <a:sym typeface="Plus Jakarta Sans"/>
              </a:rPr>
              <a:t>&lt; 0.10</a:t>
            </a:r>
            <a:endParaRPr sz="2000" dirty="0"/>
          </a:p>
        </p:txBody>
      </p:sp>
      <p:sp>
        <p:nvSpPr>
          <p:cNvPr id="11" name="CasellaDiTesto 10">
            <a:extLst>
              <a:ext uri="{FF2B5EF4-FFF2-40B4-BE49-F238E27FC236}">
                <a16:creationId xmlns:a16="http://schemas.microsoft.com/office/drawing/2014/main" id="{DEC8FEAA-B9A9-5A57-544C-59FC4DFD869B}"/>
              </a:ext>
            </a:extLst>
          </p:cNvPr>
          <p:cNvSpPr txBox="1"/>
          <p:nvPr/>
        </p:nvSpPr>
        <p:spPr>
          <a:xfrm>
            <a:off x="1477879" y="3874089"/>
            <a:ext cx="3221870" cy="261610"/>
          </a:xfrm>
          <a:prstGeom prst="rect">
            <a:avLst/>
          </a:prstGeom>
          <a:noFill/>
        </p:spPr>
        <p:txBody>
          <a:bodyPr wrap="square">
            <a:spAutoFit/>
          </a:bodyPr>
          <a:lstStyle/>
          <a:p>
            <a:pPr algn="ctr"/>
            <a:r>
              <a:rPr lang="en-US" sz="1100" b="1" i="0" u="none" strike="noStrike" cap="none" dirty="0">
                <a:solidFill>
                  <a:srgbClr val="5A5052"/>
                </a:solidFill>
                <a:latin typeface="Plus Jakarta Sans"/>
                <a:ea typeface="Plus Jakarta Sans"/>
                <a:cs typeface="Plus Jakarta Sans"/>
                <a:sym typeface="Plus Jakarta Sans"/>
              </a:rPr>
              <a:t>100m noise</a:t>
            </a:r>
            <a:r>
              <a:rPr lang="en-US" sz="1100" b="1" dirty="0">
                <a:solidFill>
                  <a:srgbClr val="5A5052"/>
                </a:solidFill>
                <a:latin typeface="Plus Jakarta Sans"/>
                <a:ea typeface="Plus Jakarta Sans"/>
                <a:cs typeface="Plus Jakarta Sans"/>
                <a:sym typeface="Plus Jakarta Sans"/>
              </a:rPr>
              <a:t> and </a:t>
            </a:r>
            <a:r>
              <a:rPr lang="en-US" sz="1100" b="1" i="0" u="none" strike="noStrike" cap="none" dirty="0">
                <a:solidFill>
                  <a:srgbClr val="5A5052"/>
                </a:solidFill>
                <a:latin typeface="Plus Jakarta Sans"/>
                <a:ea typeface="Plus Jakarta Sans"/>
                <a:cs typeface="Plus Jakarta Sans"/>
                <a:sym typeface="Plus Jakarta Sans"/>
              </a:rPr>
              <a:t> 30% outliers benchmark</a:t>
            </a:r>
            <a:endParaRPr lang="it-IT" dirty="0"/>
          </a:p>
        </p:txBody>
      </p:sp>
      <p:sp>
        <p:nvSpPr>
          <p:cNvPr id="13" name="Google Shape;346;p25">
            <a:extLst>
              <a:ext uri="{FF2B5EF4-FFF2-40B4-BE49-F238E27FC236}">
                <a16:creationId xmlns:a16="http://schemas.microsoft.com/office/drawing/2014/main" id="{73FF4DD2-5CAC-7BB8-2B8F-29E671F2C98C}"/>
              </a:ext>
            </a:extLst>
          </p:cNvPr>
          <p:cNvSpPr txBox="1"/>
          <p:nvPr/>
        </p:nvSpPr>
        <p:spPr>
          <a:xfrm>
            <a:off x="4107896" y="3485192"/>
            <a:ext cx="992932" cy="16927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5A5052"/>
                </a:solidFill>
              </a:defRPr>
            </a:pPr>
            <a:r>
              <a:rPr lang="en-US" sz="1100" b="1" dirty="0">
                <a:solidFill>
                  <a:srgbClr val="5A5052"/>
                </a:solidFill>
                <a:latin typeface="Plus Jakarta Sans"/>
                <a:ea typeface="Plus Jakarta Sans"/>
                <a:cs typeface="Plus Jakarta Sans"/>
                <a:sym typeface="Plus Jakarta Sans"/>
              </a:rPr>
              <a:t>Planarity</a:t>
            </a:r>
            <a:r>
              <a:rPr lang="en-US" sz="1100" b="1" i="0" u="none" strike="noStrike" cap="none" dirty="0">
                <a:solidFill>
                  <a:srgbClr val="5A5052"/>
                </a:solidFill>
                <a:latin typeface="Plus Jakarta Sans"/>
                <a:ea typeface="Plus Jakarta Sans"/>
                <a:cs typeface="Plus Jakarta Sans"/>
                <a:sym typeface="Plus Jakarta Sans"/>
              </a:rPr>
              <a:t> MAE</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50"/>
        <p:cNvGrpSpPr/>
        <p:nvPr/>
      </p:nvGrpSpPr>
      <p:grpSpPr>
        <a:xfrm>
          <a:off x="0" y="0"/>
          <a:ext cx="0" cy="0"/>
          <a:chOff x="0" y="0"/>
          <a:chExt cx="0" cy="0"/>
        </a:xfrm>
      </p:grpSpPr>
      <p:sp>
        <p:nvSpPr>
          <p:cNvPr id="353" name="Google Shape;353;p26"/>
          <p:cNvSpPr/>
          <p:nvPr/>
        </p:nvSpPr>
        <p:spPr>
          <a:xfrm>
            <a:off x="762000" y="5499874"/>
            <a:ext cx="10888000" cy="45719"/>
          </a:xfrm>
          <a:prstGeom prst="rect">
            <a:avLst/>
          </a:prstGeom>
          <a:solidFill>
            <a:srgbClr val="82243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4" name="Google Shape;354;p26"/>
          <p:cNvSpPr/>
          <p:nvPr/>
        </p:nvSpPr>
        <p:spPr>
          <a:xfrm>
            <a:off x="762000" y="1632925"/>
            <a:ext cx="5162550" cy="3616950"/>
          </a:xfrm>
          <a:prstGeom prst="roundRect">
            <a:avLst>
              <a:gd name="adj" fmla="val 9427"/>
            </a:avLst>
          </a:prstGeom>
          <a:solidFill>
            <a:srgbClr val="F2F8F6"/>
          </a:solidFill>
          <a:ln w="12700" cap="flat" cmpd="sng">
            <a:solidFill>
              <a:srgbClr val="CDE0D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5" name="Google Shape;355;p26"/>
          <p:cNvSpPr/>
          <p:nvPr/>
        </p:nvSpPr>
        <p:spPr>
          <a:xfrm>
            <a:off x="6267452" y="1620524"/>
            <a:ext cx="5382550" cy="3616951"/>
          </a:xfrm>
          <a:prstGeom prst="roundRect">
            <a:avLst>
              <a:gd name="adj" fmla="val 9427"/>
            </a:avLst>
          </a:prstGeom>
          <a:solidFill>
            <a:srgbClr val="F2F6FA"/>
          </a:solidFill>
          <a:ln w="12700" cap="flat" cmpd="sng">
            <a:solidFill>
              <a:srgbClr val="D0DCE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8" name="Google Shape;358;p26"/>
          <p:cNvSpPr txBox="1"/>
          <p:nvPr/>
        </p:nvSpPr>
        <p:spPr>
          <a:xfrm>
            <a:off x="762000" y="580000"/>
            <a:ext cx="4179093" cy="2095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100" b="1">
                <a:solidFill>
                  <a:srgbClr val="204060"/>
                </a:solidFill>
              </a:defRPr>
            </a:pPr>
            <a:r>
              <a:rPr lang="en-US" sz="1100" b="1" i="0" u="none" strike="noStrike" cap="none">
                <a:solidFill>
                  <a:srgbClr val="204060"/>
                </a:solidFill>
                <a:latin typeface="Cinzel"/>
                <a:ea typeface="Cinzel"/>
                <a:cs typeface="Cinzel"/>
                <a:sym typeface="Cinzel"/>
              </a:rPr>
              <a:t>SAPIENZA UNIVERSITY OF ROME</a:t>
            </a:r>
            <a:endParaRPr/>
          </a:p>
        </p:txBody>
      </p:sp>
      <p:sp>
        <p:nvSpPr>
          <p:cNvPr id="360" name="Google Shape;360;p26"/>
          <p:cNvSpPr txBox="1"/>
          <p:nvPr/>
        </p:nvSpPr>
        <p:spPr>
          <a:xfrm>
            <a:off x="762000" y="840000"/>
            <a:ext cx="5382550" cy="40011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2600" b="1">
                <a:solidFill>
                  <a:srgbClr val="822433"/>
                </a:solidFill>
              </a:defRPr>
            </a:pPr>
            <a:r>
              <a:rPr lang="en-US" sz="2600" b="1" i="0" u="none" strike="noStrike" cap="none">
                <a:solidFill>
                  <a:srgbClr val="822433"/>
                </a:solidFill>
                <a:latin typeface="Cinzel"/>
                <a:ea typeface="Cinzel"/>
                <a:cs typeface="Cinzel"/>
                <a:sym typeface="Cinzel"/>
              </a:rPr>
              <a:t>Conclusions &amp; Future Work</a:t>
            </a:r>
            <a:endParaRPr/>
          </a:p>
        </p:txBody>
      </p:sp>
      <p:sp>
        <p:nvSpPr>
          <p:cNvPr id="361" name="Google Shape;361;p26"/>
          <p:cNvSpPr txBox="1"/>
          <p:nvPr/>
        </p:nvSpPr>
        <p:spPr>
          <a:xfrm>
            <a:off x="762000" y="5779875"/>
            <a:ext cx="3869531"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b="1">
                <a:solidFill>
                  <a:srgbClr val="822433"/>
                </a:solidFill>
              </a:defRPr>
            </a:pPr>
            <a:r>
              <a:rPr lang="en-US" sz="1800" b="1" i="0" u="none" strike="noStrike" cap="none" dirty="0">
                <a:solidFill>
                  <a:srgbClr val="822433"/>
                </a:solidFill>
                <a:latin typeface="Plus Jakarta Sans"/>
                <a:ea typeface="Plus Jakarta Sans"/>
                <a:cs typeface="Plus Jakarta Sans"/>
                <a:sym typeface="Plus Jakarta Sans"/>
              </a:rPr>
              <a:t>Thank you for your attention</a:t>
            </a:r>
            <a:endParaRPr sz="1800" dirty="0"/>
          </a:p>
        </p:txBody>
      </p:sp>
      <p:sp>
        <p:nvSpPr>
          <p:cNvPr id="364" name="Google Shape;364;p26"/>
          <p:cNvSpPr txBox="1"/>
          <p:nvPr/>
        </p:nvSpPr>
        <p:spPr>
          <a:xfrm>
            <a:off x="1905427" y="1812969"/>
            <a:ext cx="2875693" cy="261610"/>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36B5E"/>
                </a:solidFill>
              </a:defRPr>
            </a:pPr>
            <a:r>
              <a:rPr lang="en-US" sz="1700" b="1" i="0" u="none" strike="noStrike" cap="none" dirty="0">
                <a:solidFill>
                  <a:srgbClr val="236B5E"/>
                </a:solidFill>
                <a:latin typeface="Plus Jakarta Sans"/>
                <a:ea typeface="Plus Jakarta Sans"/>
                <a:cs typeface="Plus Jakarta Sans"/>
                <a:sym typeface="Plus Jakarta Sans"/>
              </a:rPr>
              <a:t>Validated Contributions</a:t>
            </a:r>
            <a:endParaRPr dirty="0"/>
          </a:p>
        </p:txBody>
      </p:sp>
      <p:sp>
        <p:nvSpPr>
          <p:cNvPr id="365" name="Google Shape;365;p26"/>
          <p:cNvSpPr txBox="1"/>
          <p:nvPr/>
        </p:nvSpPr>
        <p:spPr>
          <a:xfrm>
            <a:off x="952499" y="2254622"/>
            <a:ext cx="4781550" cy="2616101"/>
          </a:xfrm>
          <a:prstGeom prst="rect">
            <a:avLst/>
          </a:prstGeom>
          <a:noFill/>
          <a:ln>
            <a:noFill/>
          </a:ln>
        </p:spPr>
        <p:txBody>
          <a:bodyPr spcFirstLastPara="1" wrap="square" lIns="0" tIns="0" rIns="0" bIns="0" anchor="t" anchorCtr="0">
            <a:spAutoFit/>
          </a:bodyPr>
          <a:lstStyle/>
          <a:p>
            <a:pPr marL="285750" lvl="0" indent="-285750">
              <a:spcAft>
                <a:spcPts val="1200"/>
              </a:spcAft>
              <a:buFont typeface="Arial" panose="020B0604020202020204" pitchFamily="34" charset="0"/>
              <a:buChar char="•"/>
            </a:pPr>
            <a:r>
              <a:rPr lang="it-IT" b="1" dirty="0">
                <a:latin typeface="Plus Jakarta Sans" panose="020B0604020202020204" charset="0"/>
                <a:cs typeface="Plus Jakarta Sans" panose="020B0604020202020204" charset="0"/>
              </a:rPr>
              <a:t>High-Performance Architecture: </a:t>
            </a:r>
            <a:r>
              <a:rPr lang="it-IT" dirty="0" err="1">
                <a:latin typeface="Plus Jakarta Sans" panose="020B0604020202020204" charset="0"/>
                <a:cs typeface="Plus Jakarta Sans" panose="020B0604020202020204" charset="0"/>
              </a:rPr>
              <a:t>lightweight</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pywebview</a:t>
            </a:r>
            <a:r>
              <a:rPr lang="it-IT" dirty="0">
                <a:latin typeface="Plus Jakarta Sans" panose="020B0604020202020204" charset="0"/>
                <a:cs typeface="Plus Jakarta Sans" panose="020B0604020202020204" charset="0"/>
              </a:rPr>
              <a:t> client with an </a:t>
            </a:r>
            <a:r>
              <a:rPr lang="it-IT" dirty="0" err="1">
                <a:latin typeface="Plus Jakarta Sans" panose="020B0604020202020204" charset="0"/>
                <a:cs typeface="Plus Jakarta Sans" panose="020B0604020202020204" charset="0"/>
              </a:rPr>
              <a:t>asynchronous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FastAPI</a:t>
            </a:r>
            <a:r>
              <a:rPr lang="it-IT" dirty="0">
                <a:latin typeface="Plus Jakarta Sans" panose="020B0604020202020204" charset="0"/>
                <a:cs typeface="Plus Jakarta Sans" panose="020B0604020202020204" charset="0"/>
              </a:rPr>
              <a:t> server and Float32 </a:t>
            </a:r>
            <a:r>
              <a:rPr lang="it-IT" dirty="0" err="1">
                <a:latin typeface="Plus Jakarta Sans" panose="020B0604020202020204" charset="0"/>
                <a:cs typeface="Plus Jakarta Sans" panose="020B0604020202020204" charset="0"/>
              </a:rPr>
              <a:t>binary</a:t>
            </a:r>
            <a:r>
              <a:rPr lang="it-IT" dirty="0">
                <a:latin typeface="Plus Jakarta Sans" panose="020B0604020202020204" charset="0"/>
                <a:cs typeface="Plus Jakarta Sans" panose="020B0604020202020204" charset="0"/>
              </a:rPr>
              <a:t> streaming </a:t>
            </a:r>
            <a:r>
              <a:rPr lang="it-IT" dirty="0" err="1">
                <a:latin typeface="Plus Jakarta Sans" panose="020B0604020202020204" charset="0"/>
                <a:cs typeface="Plus Jakarta Sans" panose="020B0604020202020204" charset="0"/>
              </a:rPr>
              <a:t>protocol</a:t>
            </a:r>
            <a:r>
              <a:rPr lang="it-IT" dirty="0">
                <a:latin typeface="Plus Jakarta Sans" panose="020B0604020202020204" charset="0"/>
                <a:cs typeface="Plus Jakarta Sans" panose="020B0604020202020204" charset="0"/>
              </a:rPr>
              <a:t>.</a:t>
            </a:r>
          </a:p>
          <a:p>
            <a:pPr marL="285750" lvl="0" indent="-285750">
              <a:spcAft>
                <a:spcPts val="1200"/>
              </a:spcAft>
              <a:buFont typeface="Arial" panose="020B0604020202020204" pitchFamily="34" charset="0"/>
              <a:buChar char="•"/>
            </a:pPr>
            <a:r>
              <a:rPr lang="it-IT" b="1" dirty="0">
                <a:latin typeface="Plus Jakarta Sans" panose="020B0604020202020204" charset="0"/>
                <a:cs typeface="Plus Jakarta Sans" panose="020B0604020202020204" charset="0"/>
              </a:rPr>
              <a:t>Multi-Layer </a:t>
            </a:r>
            <a:r>
              <a:rPr lang="it-IT" b="1" dirty="0" err="1">
                <a:latin typeface="Plus Jakarta Sans" panose="020B0604020202020204" charset="0"/>
                <a:cs typeface="Plus Jakarta Sans" panose="020B0604020202020204" charset="0"/>
              </a:rPr>
              <a:t>Visualisation</a:t>
            </a:r>
            <a:r>
              <a:rPr lang="it-IT" dirty="0">
                <a:latin typeface="Plus Jakarta Sans" panose="020B0604020202020204" charset="0"/>
                <a:cs typeface="Plus Jakarta Sans" panose="020B0604020202020204" charset="0"/>
              </a:rPr>
              <a:t>: Dynamic </a:t>
            </a:r>
            <a:r>
              <a:rPr lang="it-IT" dirty="0" err="1">
                <a:latin typeface="Plus Jakarta Sans" panose="020B0604020202020204" charset="0"/>
                <a:cs typeface="Plus Jakarta Sans" panose="020B0604020202020204" charset="0"/>
              </a:rPr>
              <a:t>spatio-temporal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animation</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engine</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hypocentres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visualization</a:t>
            </a:r>
            <a:r>
              <a:rPr lang="it-IT" dirty="0">
                <a:latin typeface="Plus Jakarta Sans" panose="020B0604020202020204" charset="0"/>
                <a:cs typeface="Plus Jakarta Sans" panose="020B0604020202020204" charset="0"/>
              </a:rPr>
              <a:t> with </a:t>
            </a:r>
            <a:r>
              <a:rPr lang="it-IT" dirty="0" err="1">
                <a:latin typeface="Plus Jakarta Sans" panose="020B0604020202020204" charset="0"/>
                <a:cs typeface="Plus Jakarta Sans" panose="020B0604020202020204" charset="0"/>
              </a:rPr>
              <a:t>seismic</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tomography</a:t>
            </a:r>
            <a:r>
              <a:rPr lang="it-IT" dirty="0">
                <a:latin typeface="Plus Jakarta Sans" panose="020B0604020202020204" charset="0"/>
                <a:cs typeface="Plus Jakarta Sans" panose="020B0604020202020204" charset="0"/>
              </a:rPr>
              <a:t>, GNSS </a:t>
            </a:r>
            <a:r>
              <a:rPr lang="it-IT" dirty="0" err="1">
                <a:latin typeface="Plus Jakarta Sans" panose="020B0604020202020204" charset="0"/>
                <a:cs typeface="Plus Jakarta Sans" panose="020B0604020202020204" charset="0"/>
              </a:rPr>
              <a:t>uplift</a:t>
            </a:r>
            <a:r>
              <a:rPr lang="it-IT" dirty="0">
                <a:latin typeface="Plus Jakarta Sans" panose="020B0604020202020204" charset="0"/>
                <a:cs typeface="Plus Jakarta Sans" panose="020B0604020202020204" charset="0"/>
              </a:rPr>
              <a:t>, and monitoring stations.</a:t>
            </a:r>
          </a:p>
          <a:p>
            <a:pPr marL="285750" lvl="0" indent="-285750">
              <a:spcAft>
                <a:spcPts val="1200"/>
              </a:spcAft>
              <a:buFont typeface="Arial" panose="020B0604020202020204" pitchFamily="34" charset="0"/>
              <a:buChar char="•"/>
            </a:pPr>
            <a:r>
              <a:rPr lang="it-IT" b="1" dirty="0" err="1">
                <a:latin typeface="Plus Jakarta Sans" panose="020B0604020202020204" charset="0"/>
                <a:cs typeface="Plus Jakarta Sans" panose="020B0604020202020204" charset="0"/>
              </a:rPr>
              <a:t>Robust</a:t>
            </a:r>
            <a:r>
              <a:rPr lang="it-IT" b="1" dirty="0">
                <a:latin typeface="Plus Jakarta Sans" panose="020B0604020202020204" charset="0"/>
                <a:cs typeface="Plus Jakarta Sans" panose="020B0604020202020204" charset="0"/>
              </a:rPr>
              <a:t> </a:t>
            </a:r>
            <a:r>
              <a:rPr lang="it-IT" b="1" dirty="0" err="1">
                <a:latin typeface="Plus Jakarta Sans" panose="020B0604020202020204" charset="0"/>
                <a:cs typeface="Plus Jakarta Sans" panose="020B0604020202020204" charset="0"/>
              </a:rPr>
              <a:t>Structural</a:t>
            </a:r>
            <a:r>
              <a:rPr lang="it-IT" b="1" dirty="0">
                <a:latin typeface="Plus Jakarta Sans" panose="020B0604020202020204" charset="0"/>
                <a:cs typeface="Plus Jakarta Sans" panose="020B0604020202020204" charset="0"/>
              </a:rPr>
              <a:t> Analysis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Automated</a:t>
            </a:r>
            <a:r>
              <a:rPr lang="it-IT" dirty="0">
                <a:latin typeface="Plus Jakarta Sans" panose="020B0604020202020204" charset="0"/>
                <a:cs typeface="Plus Jakarta Sans" panose="020B0604020202020204" charset="0"/>
              </a:rPr>
              <a:t> RANSAC-SVD </a:t>
            </a:r>
            <a:r>
              <a:rPr lang="it-IT" dirty="0" err="1">
                <a:latin typeface="Plus Jakarta Sans" panose="020B0604020202020204" charset="0"/>
                <a:cs typeface="Plus Jakarta Sans" panose="020B0604020202020204" charset="0"/>
              </a:rPr>
              <a:t>mathematical</a:t>
            </a:r>
            <a:r>
              <a:rPr lang="it-IT" dirty="0">
                <a:latin typeface="Plus Jakarta Sans" panose="020B0604020202020204" charset="0"/>
                <a:cs typeface="Plus Jakarta Sans" panose="020B0604020202020204" charset="0"/>
              </a:rPr>
              <a:t> pipeline </a:t>
            </a:r>
            <a:r>
              <a:rPr lang="it-IT" dirty="0" err="1">
                <a:latin typeface="Plus Jakarta Sans" panose="020B0604020202020204" charset="0"/>
                <a:cs typeface="Plus Jakarta Sans" panose="020B0604020202020204" charset="0"/>
              </a:rPr>
              <a:t>extracting</a:t>
            </a:r>
            <a:r>
              <a:rPr lang="it-IT" dirty="0">
                <a:latin typeface="Plus Jakarta Sans" panose="020B0604020202020204" charset="0"/>
                <a:cs typeface="Plus Jakarta Sans" panose="020B0604020202020204" charset="0"/>
              </a:rPr>
              <a:t> fault strike, dip, and </a:t>
            </a:r>
            <a:r>
              <a:rPr lang="it-IT" dirty="0" err="1">
                <a:latin typeface="Plus Jakarta Sans" panose="020B0604020202020204" charset="0"/>
                <a:cs typeface="Plus Jakarta Sans" panose="020B0604020202020204" charset="0"/>
              </a:rPr>
              <a:t>planarity</a:t>
            </a:r>
            <a:r>
              <a:rPr lang="it-IT" dirty="0">
                <a:latin typeface="Plus Jakarta Sans" panose="020B0604020202020204" charset="0"/>
                <a:cs typeface="Plus Jakarta Sans" panose="020B0604020202020204" charset="0"/>
              </a:rPr>
              <a:t>.</a:t>
            </a:r>
          </a:p>
        </p:txBody>
      </p:sp>
      <p:sp>
        <p:nvSpPr>
          <p:cNvPr id="366" name="Google Shape;366;p26"/>
          <p:cNvSpPr txBox="1"/>
          <p:nvPr/>
        </p:nvSpPr>
        <p:spPr>
          <a:xfrm>
            <a:off x="7876687" y="1812969"/>
            <a:ext cx="2164080" cy="261610"/>
          </a:xfrm>
          <a:prstGeom prst="rect">
            <a:avLst/>
          </a:prstGeom>
          <a:noFill/>
          <a:ln>
            <a:noFill/>
          </a:ln>
        </p:spPr>
        <p:txBody>
          <a:bodyPr spcFirstLastPara="1" wrap="square" lIns="247650" tIns="0" rIns="0" bIns="0" anchor="t" anchorCtr="0">
            <a:spAutoFit/>
          </a:bodyPr>
          <a:lstStyle/>
          <a:p>
            <a:pPr marL="0" marR="0" lvl="0" indent="0" algn="l" rtl="0">
              <a:spcBef>
                <a:spcPts val="0"/>
              </a:spcBef>
              <a:spcAft>
                <a:spcPts val="0"/>
              </a:spcAft>
              <a:buNone/>
              <a:defRPr sz="1700" b="1">
                <a:solidFill>
                  <a:srgbClr val="204060"/>
                </a:solidFill>
              </a:defRPr>
            </a:pPr>
            <a:r>
              <a:rPr lang="en-US" sz="1700" b="1" i="0" u="none" strike="noStrike" cap="none" dirty="0">
                <a:solidFill>
                  <a:srgbClr val="204060"/>
                </a:solidFill>
                <a:latin typeface="Plus Jakarta Sans"/>
                <a:ea typeface="Plus Jakarta Sans"/>
                <a:cs typeface="Plus Jakarta Sans"/>
                <a:sym typeface="Plus Jakarta Sans"/>
              </a:rPr>
              <a:t>Future Extensions</a:t>
            </a:r>
            <a:endParaRPr dirty="0"/>
          </a:p>
        </p:txBody>
      </p:sp>
      <p:sp>
        <p:nvSpPr>
          <p:cNvPr id="367" name="Google Shape;367;p26"/>
          <p:cNvSpPr txBox="1"/>
          <p:nvPr/>
        </p:nvSpPr>
        <p:spPr>
          <a:xfrm>
            <a:off x="6457950" y="2424627"/>
            <a:ext cx="4972050" cy="2185214"/>
          </a:xfrm>
          <a:prstGeom prst="rect">
            <a:avLst/>
          </a:prstGeom>
          <a:noFill/>
          <a:ln>
            <a:noFill/>
          </a:ln>
        </p:spPr>
        <p:txBody>
          <a:bodyPr spcFirstLastPara="1" wrap="square" lIns="0" tIns="0" rIns="0" bIns="0" anchor="t" anchorCtr="0">
            <a:spAutoFit/>
          </a:bodyPr>
          <a:lstStyle/>
          <a:p>
            <a:pPr marL="285750" lvl="0" indent="-285750">
              <a:spcAft>
                <a:spcPts val="1200"/>
              </a:spcAft>
              <a:buFont typeface="Arial" panose="020B0604020202020204" pitchFamily="34" charset="0"/>
              <a:buChar char="•"/>
            </a:pPr>
            <a:r>
              <a:rPr lang="it-IT" b="1" dirty="0">
                <a:latin typeface="Plus Jakarta Sans" panose="020B0604020202020204" charset="0"/>
                <a:cs typeface="Plus Jakarta Sans" panose="020B0604020202020204" charset="0"/>
              </a:rPr>
              <a:t>Real-Time </a:t>
            </a:r>
            <a:r>
              <a:rPr lang="it-IT" b="1" dirty="0" err="1">
                <a:latin typeface="Plus Jakarta Sans" panose="020B0604020202020204" charset="0"/>
                <a:cs typeface="Plus Jakarta Sans" panose="020B0604020202020204" charset="0"/>
              </a:rPr>
              <a:t>Surveillance</a:t>
            </a:r>
            <a:r>
              <a:rPr lang="it-IT" b="1" dirty="0">
                <a:latin typeface="Plus Jakarta Sans" panose="020B0604020202020204" charset="0"/>
                <a:cs typeface="Plus Jakarta Sans" panose="020B0604020202020204" charset="0"/>
              </a:rPr>
              <a:t> Feeds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Extending</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WebSockets</a:t>
            </a:r>
            <a:r>
              <a:rPr lang="it-IT" dirty="0">
                <a:latin typeface="Plus Jakarta Sans" panose="020B0604020202020204" charset="0"/>
                <a:cs typeface="Plus Jakarta Sans" panose="020B0604020202020204" charset="0"/>
              </a:rPr>
              <a:t> with </a:t>
            </a:r>
            <a:r>
              <a:rPr lang="it-IT" dirty="0" err="1">
                <a:latin typeface="Plus Jakarta Sans" panose="020B0604020202020204" charset="0"/>
                <a:cs typeface="Plus Jakarta Sans" panose="020B0604020202020204" charset="0"/>
              </a:rPr>
              <a:t>SeedLink</a:t>
            </a:r>
            <a:r>
              <a:rPr lang="it-IT" dirty="0">
                <a:latin typeface="Plus Jakarta Sans" panose="020B0604020202020204" charset="0"/>
                <a:cs typeface="Plus Jakarta Sans" panose="020B0604020202020204" charset="0"/>
              </a:rPr>
              <a:t> live event streaming for </a:t>
            </a:r>
            <a:r>
              <a:rPr lang="it-IT" dirty="0" err="1">
                <a:latin typeface="Plus Jakarta Sans" panose="020B0604020202020204" charset="0"/>
                <a:cs typeface="Plus Jakarta Sans" panose="020B0604020202020204" charset="0"/>
              </a:rPr>
              <a:t>observatory</a:t>
            </a:r>
            <a:r>
              <a:rPr lang="it-IT" dirty="0">
                <a:latin typeface="Plus Jakarta Sans" panose="020B0604020202020204" charset="0"/>
                <a:cs typeface="Plus Jakarta Sans" panose="020B0604020202020204" charset="0"/>
              </a:rPr>
              <a:t> control rooms.</a:t>
            </a:r>
          </a:p>
          <a:p>
            <a:pPr marL="285750" lvl="0" indent="-285750">
              <a:spcAft>
                <a:spcPts val="1200"/>
              </a:spcAft>
              <a:buFont typeface="Arial" panose="020B0604020202020204" pitchFamily="34" charset="0"/>
              <a:buChar char="•"/>
            </a:pPr>
            <a:r>
              <a:rPr lang="it-IT" b="1" dirty="0" err="1">
                <a:latin typeface="Plus Jakarta Sans" panose="020B0604020202020204" charset="0"/>
                <a:cs typeface="Plus Jakarta Sans" panose="020B0604020202020204" charset="0"/>
              </a:rPr>
              <a:t>WebGPU</a:t>
            </a:r>
            <a:r>
              <a:rPr lang="it-IT" b="1" dirty="0">
                <a:latin typeface="Plus Jakarta Sans" panose="020B0604020202020204" charset="0"/>
                <a:cs typeface="Plus Jakarta Sans" panose="020B0604020202020204" charset="0"/>
              </a:rPr>
              <a:t> &amp; Deck.gl Migration</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Implementing</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WebGPU</a:t>
            </a:r>
            <a:r>
              <a:rPr lang="it-IT" dirty="0">
                <a:latin typeface="Plus Jakarta Sans" panose="020B0604020202020204" charset="0"/>
                <a:cs typeface="Plus Jakarta Sans" panose="020B0604020202020204" charset="0"/>
              </a:rPr>
              <a:t> compute shaders for client-side re-clustering and browser deployment.</a:t>
            </a:r>
          </a:p>
          <a:p>
            <a:pPr marL="285750" lvl="0" indent="-285750">
              <a:spcAft>
                <a:spcPts val="1200"/>
              </a:spcAft>
              <a:buFont typeface="Arial" panose="020B0604020202020204" pitchFamily="34" charset="0"/>
              <a:buChar char="•"/>
            </a:pPr>
            <a:r>
              <a:rPr lang="it-IT" b="1" dirty="0" err="1">
                <a:latin typeface="Plus Jakarta Sans" panose="020B0604020202020204" charset="0"/>
                <a:cs typeface="Plus Jakarta Sans" panose="020B0604020202020204" charset="0"/>
              </a:rPr>
              <a:t>Kinematic</a:t>
            </a:r>
            <a:r>
              <a:rPr lang="it-IT" b="1" dirty="0">
                <a:latin typeface="Plus Jakarta Sans" panose="020B0604020202020204" charset="0"/>
                <a:cs typeface="Plus Jakarta Sans" panose="020B0604020202020204" charset="0"/>
              </a:rPr>
              <a:t> Seismotectonics</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Integrating</a:t>
            </a:r>
            <a:r>
              <a:rPr lang="it-IT" dirty="0">
                <a:latin typeface="Plus Jakarta Sans" panose="020B0604020202020204" charset="0"/>
                <a:cs typeface="Plus Jakarta Sans" panose="020B0604020202020204" charset="0"/>
              </a:rPr>
              <a:t> 3D </a:t>
            </a:r>
            <a:r>
              <a:rPr lang="it-IT" dirty="0" err="1">
                <a:latin typeface="Plus Jakarta Sans" panose="020B0604020202020204" charset="0"/>
                <a:cs typeface="Plus Jakarta Sans" panose="020B0604020202020204" charset="0"/>
              </a:rPr>
              <a:t>focal</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mechanism</a:t>
            </a:r>
            <a:r>
              <a:rPr lang="it-IT" dirty="0">
                <a:latin typeface="Plus Jakarta Sans" panose="020B0604020202020204" charset="0"/>
                <a:cs typeface="Plus Jakarta Sans" panose="020B0604020202020204" charset="0"/>
              </a:rPr>
              <a:t> "</a:t>
            </a:r>
            <a:r>
              <a:rPr lang="it-IT" dirty="0" err="1">
                <a:latin typeface="Plus Jakarta Sans" panose="020B0604020202020204" charset="0"/>
                <a:cs typeface="Plus Jakarta Sans" panose="020B0604020202020204" charset="0"/>
              </a:rPr>
              <a:t>beachball</a:t>
            </a:r>
            <a:r>
              <a:rPr lang="it-IT" dirty="0">
                <a:latin typeface="Plus Jakarta Sans" panose="020B0604020202020204" charset="0"/>
                <a:cs typeface="Plus Jakarta Sans" panose="020B0604020202020204" charset="0"/>
              </a:rPr>
              <a:t>".</a:t>
            </a:r>
          </a:p>
        </p:txBody>
      </p:sp>
      <p:pic>
        <p:nvPicPr>
          <p:cNvPr id="368" name="Picture 367" descr="sapienza_logo.png"/>
          <p:cNvPicPr>
            <a:picLocks noChangeAspect="1"/>
          </p:cNvPicPr>
          <p:nvPr/>
        </p:nvPicPr>
        <p:blipFill>
          <a:blip r:embed="rId3"/>
          <a:stretch>
            <a:fillRect/>
          </a:stretch>
        </p:blipFill>
        <p:spPr>
          <a:xfrm>
            <a:off x="9750000" y="400000"/>
            <a:ext cx="1900000" cy="570000"/>
          </a:xfrm>
          <a:prstGeom prst="rect">
            <a:avLst/>
          </a:prstGeom>
        </p:spPr>
      </p:pic>
      <p:sp>
        <p:nvSpPr>
          <p:cNvPr id="369" name="SapienzaTopStripe"/>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apienzaTopStripe">
            <a:extLst>
              <a:ext uri="{FF2B5EF4-FFF2-40B4-BE49-F238E27FC236}">
                <a16:creationId xmlns:a16="http://schemas.microsoft.com/office/drawing/2014/main" id="{2BDEFEF0-7A24-17FF-470C-3A6922B78DB2}"/>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2"/>
        </a:solidFill>
        <a:effectLst/>
      </p:bgPr>
    </p:bg>
    <p:spTree>
      <p:nvGrpSpPr>
        <p:cNvPr id="1" name="Shape 350">
          <a:extLst>
            <a:ext uri="{FF2B5EF4-FFF2-40B4-BE49-F238E27FC236}">
              <a16:creationId xmlns:a16="http://schemas.microsoft.com/office/drawing/2014/main" id="{D74B9523-27AB-2050-15C6-1314142D6F23}"/>
            </a:ext>
          </a:extLst>
        </p:cNvPr>
        <p:cNvGrpSpPr/>
        <p:nvPr/>
      </p:nvGrpSpPr>
      <p:grpSpPr>
        <a:xfrm>
          <a:off x="0" y="0"/>
          <a:ext cx="0" cy="0"/>
          <a:chOff x="0" y="0"/>
          <a:chExt cx="0" cy="0"/>
        </a:xfrm>
      </p:grpSpPr>
      <p:sp>
        <p:nvSpPr>
          <p:cNvPr id="358" name="Google Shape;358;p26">
            <a:extLst>
              <a:ext uri="{FF2B5EF4-FFF2-40B4-BE49-F238E27FC236}">
                <a16:creationId xmlns:a16="http://schemas.microsoft.com/office/drawing/2014/main" id="{5C698327-0088-D911-4C28-EFE6C2C10A96}"/>
              </a:ext>
            </a:extLst>
          </p:cNvPr>
          <p:cNvSpPr txBox="1"/>
          <p:nvPr/>
        </p:nvSpPr>
        <p:spPr>
          <a:xfrm>
            <a:off x="762000" y="580000"/>
            <a:ext cx="4179093" cy="209550"/>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sz="1100" b="1">
                <a:solidFill>
                  <a:srgbClr val="204060"/>
                </a:solidFill>
              </a:defRPr>
            </a:pPr>
            <a:r>
              <a:rPr kumimoji="0" lang="en-US" sz="1100" b="1" i="0" u="none" strike="noStrike" kern="0" cap="none" spc="0" normalizeH="0" baseline="0" noProof="0">
                <a:ln>
                  <a:noFill/>
                </a:ln>
                <a:solidFill>
                  <a:srgbClr val="204060"/>
                </a:solidFill>
                <a:effectLst/>
                <a:uLnTx/>
                <a:uFillTx/>
                <a:latin typeface="Cinzel"/>
                <a:ea typeface="Cinzel"/>
                <a:cs typeface="Cinzel"/>
                <a:sym typeface="Cinzel"/>
              </a:rPr>
              <a:t>SAPIENZA UNIVERSITY OF ROME</a:t>
            </a:r>
            <a:endParaRPr kumimoji="0" sz="1100" b="1" i="0" u="none" strike="noStrike" kern="0" cap="none" spc="0" normalizeH="0" baseline="0" noProof="0">
              <a:ln>
                <a:noFill/>
              </a:ln>
              <a:solidFill>
                <a:srgbClr val="204060"/>
              </a:solidFill>
              <a:effectLst/>
              <a:uLnTx/>
              <a:uFillTx/>
              <a:latin typeface="Arial"/>
              <a:cs typeface="Arial"/>
              <a:sym typeface="Arial"/>
            </a:endParaRPr>
          </a:p>
        </p:txBody>
      </p:sp>
      <p:sp>
        <p:nvSpPr>
          <p:cNvPr id="361" name="Google Shape;361;p26">
            <a:extLst>
              <a:ext uri="{FF2B5EF4-FFF2-40B4-BE49-F238E27FC236}">
                <a16:creationId xmlns:a16="http://schemas.microsoft.com/office/drawing/2014/main" id="{195592BA-90F1-74BE-B17A-DFE11BAD2CE0}"/>
              </a:ext>
            </a:extLst>
          </p:cNvPr>
          <p:cNvSpPr txBox="1"/>
          <p:nvPr/>
        </p:nvSpPr>
        <p:spPr>
          <a:xfrm>
            <a:off x="3489162" y="2610644"/>
            <a:ext cx="5213675" cy="1107996"/>
          </a:xfrm>
          <a:prstGeom prst="rect">
            <a:avLst/>
          </a:prstGeom>
          <a:noFill/>
          <a:ln>
            <a:noFill/>
          </a:ln>
        </p:spPr>
        <p:txBody>
          <a:bodyPr spcFirstLastPara="1" wrap="square" lIns="0" tIns="0" rIns="0" bIns="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b="1">
                <a:solidFill>
                  <a:srgbClr val="822433"/>
                </a:solidFill>
              </a:defRPr>
            </a:pPr>
            <a:r>
              <a:rPr kumimoji="0" lang="en-US" sz="3600" b="1" i="0" u="none" strike="noStrike" kern="0" cap="none" spc="0" normalizeH="0" baseline="0" noProof="0" dirty="0">
                <a:ln>
                  <a:noFill/>
                </a:ln>
                <a:solidFill>
                  <a:srgbClr val="822433"/>
                </a:solidFill>
                <a:effectLst/>
                <a:uLnTx/>
                <a:uFillTx/>
                <a:latin typeface="Plus Jakarta Sans"/>
                <a:ea typeface="Plus Jakarta Sans"/>
                <a:cs typeface="Plus Jakarta Sans"/>
                <a:sym typeface="Plus Jakarta Sans"/>
              </a:rPr>
              <a:t>Thank you for your attention</a:t>
            </a:r>
            <a:endParaRPr kumimoji="0" sz="3600" b="1" i="0" u="none" strike="noStrike" kern="0" cap="none" spc="0" normalizeH="0" baseline="0" noProof="0" dirty="0">
              <a:ln>
                <a:noFill/>
              </a:ln>
              <a:solidFill>
                <a:srgbClr val="822433"/>
              </a:solidFill>
              <a:effectLst/>
              <a:uLnTx/>
              <a:uFillTx/>
              <a:latin typeface="Arial"/>
              <a:cs typeface="Arial"/>
              <a:sym typeface="Arial"/>
            </a:endParaRPr>
          </a:p>
        </p:txBody>
      </p:sp>
      <p:pic>
        <p:nvPicPr>
          <p:cNvPr id="368" name="Picture 367" descr="sapienza_logo.png">
            <a:extLst>
              <a:ext uri="{FF2B5EF4-FFF2-40B4-BE49-F238E27FC236}">
                <a16:creationId xmlns:a16="http://schemas.microsoft.com/office/drawing/2014/main" id="{7EE33A73-9F02-55DB-4915-4D475333BF68}"/>
              </a:ext>
            </a:extLst>
          </p:cNvPr>
          <p:cNvPicPr>
            <a:picLocks noChangeAspect="1"/>
          </p:cNvPicPr>
          <p:nvPr/>
        </p:nvPicPr>
        <p:blipFill>
          <a:blip r:embed="rId3"/>
          <a:stretch>
            <a:fillRect/>
          </a:stretch>
        </p:blipFill>
        <p:spPr>
          <a:xfrm>
            <a:off x="9750000" y="400000"/>
            <a:ext cx="1900000" cy="570000"/>
          </a:xfrm>
          <a:prstGeom prst="rect">
            <a:avLst/>
          </a:prstGeom>
        </p:spPr>
      </p:pic>
      <p:sp>
        <p:nvSpPr>
          <p:cNvPr id="369" name="SapienzaTopStripe">
            <a:extLst>
              <a:ext uri="{FF2B5EF4-FFF2-40B4-BE49-F238E27FC236}">
                <a16:creationId xmlns:a16="http://schemas.microsoft.com/office/drawing/2014/main" id="{44302ADB-8273-B87C-0F70-10845D54D301}"/>
              </a:ext>
            </a:extLst>
          </p:cNvPr>
          <p:cNvSpPr/>
          <p:nvPr/>
        </p:nvSpPr>
        <p:spPr>
          <a:xfrm>
            <a:off x="0" y="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4" name="SapienzaTopStripe">
            <a:extLst>
              <a:ext uri="{FF2B5EF4-FFF2-40B4-BE49-F238E27FC236}">
                <a16:creationId xmlns:a16="http://schemas.microsoft.com/office/drawing/2014/main" id="{4D6692EC-19FE-942A-CA46-4294376B5E4C}"/>
              </a:ext>
            </a:extLst>
          </p:cNvPr>
          <p:cNvSpPr/>
          <p:nvPr/>
        </p:nvSpPr>
        <p:spPr>
          <a:xfrm>
            <a:off x="0" y="6781800"/>
            <a:ext cx="12192000" cy="76200"/>
          </a:xfrm>
          <a:prstGeom prst="rect">
            <a:avLst/>
          </a:prstGeom>
          <a:solidFill>
            <a:srgbClr val="82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3" name="Google Shape;91;p13">
            <a:extLst>
              <a:ext uri="{FF2B5EF4-FFF2-40B4-BE49-F238E27FC236}">
                <a16:creationId xmlns:a16="http://schemas.microsoft.com/office/drawing/2014/main" id="{1CE5F2A3-ED7C-4256-6483-92C68E1114F5}"/>
              </a:ext>
            </a:extLst>
          </p:cNvPr>
          <p:cNvSpPr txBox="1"/>
          <p:nvPr/>
        </p:nvSpPr>
        <p:spPr>
          <a:xfrm>
            <a:off x="1611746" y="5368284"/>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Candidate</a:t>
            </a:r>
            <a:endParaRPr/>
          </a:p>
        </p:txBody>
      </p:sp>
      <p:sp>
        <p:nvSpPr>
          <p:cNvPr id="6" name="Google Shape;92;p13">
            <a:extLst>
              <a:ext uri="{FF2B5EF4-FFF2-40B4-BE49-F238E27FC236}">
                <a16:creationId xmlns:a16="http://schemas.microsoft.com/office/drawing/2014/main" id="{3A75689A-F6D3-603B-7A03-9110FDF68861}"/>
              </a:ext>
            </a:extLst>
          </p:cNvPr>
          <p:cNvSpPr txBox="1"/>
          <p:nvPr/>
        </p:nvSpPr>
        <p:spPr>
          <a:xfrm>
            <a:off x="1611746" y="5648284"/>
            <a:ext cx="28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Alessio Curcio</a:t>
            </a:r>
            <a:endParaRPr/>
          </a:p>
        </p:txBody>
      </p:sp>
      <p:sp>
        <p:nvSpPr>
          <p:cNvPr id="8" name="Google Shape;93;p13">
            <a:extLst>
              <a:ext uri="{FF2B5EF4-FFF2-40B4-BE49-F238E27FC236}">
                <a16:creationId xmlns:a16="http://schemas.microsoft.com/office/drawing/2014/main" id="{C0D9000A-8618-A7C7-C91D-477DC3590F0D}"/>
              </a:ext>
            </a:extLst>
          </p:cNvPr>
          <p:cNvSpPr txBox="1"/>
          <p:nvPr/>
        </p:nvSpPr>
        <p:spPr>
          <a:xfrm>
            <a:off x="1611746" y="5988284"/>
            <a:ext cx="28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0">
                <a:solidFill>
                  <a:srgbClr val="5A5052"/>
                </a:solidFill>
              </a:defRPr>
            </a:pPr>
            <a:r>
              <a:rPr lang="en-US" sz="1200" b="0" i="0" u="none" strike="noStrike" cap="none">
                <a:solidFill>
                  <a:srgbClr val="5A5052"/>
                </a:solidFill>
                <a:latin typeface="Plus Jakarta Sans"/>
                <a:ea typeface="Plus Jakarta Sans"/>
                <a:cs typeface="Plus Jakarta Sans"/>
                <a:sym typeface="Plus Jakarta Sans"/>
              </a:rPr>
              <a:t>ID: 2120317</a:t>
            </a:r>
            <a:endParaRPr/>
          </a:p>
        </p:txBody>
      </p:sp>
      <p:sp>
        <p:nvSpPr>
          <p:cNvPr id="10" name="Google Shape;94;p13">
            <a:extLst>
              <a:ext uri="{FF2B5EF4-FFF2-40B4-BE49-F238E27FC236}">
                <a16:creationId xmlns:a16="http://schemas.microsoft.com/office/drawing/2014/main" id="{72D08A71-B38B-82E2-C8F5-8DB4464C1002}"/>
              </a:ext>
            </a:extLst>
          </p:cNvPr>
          <p:cNvSpPr txBox="1"/>
          <p:nvPr/>
        </p:nvSpPr>
        <p:spPr>
          <a:xfrm>
            <a:off x="5449746" y="5368284"/>
            <a:ext cx="34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Academic Supervisor</a:t>
            </a:r>
            <a:endParaRPr/>
          </a:p>
        </p:txBody>
      </p:sp>
      <p:sp>
        <p:nvSpPr>
          <p:cNvPr id="12" name="Google Shape;95;p13">
            <a:extLst>
              <a:ext uri="{FF2B5EF4-FFF2-40B4-BE49-F238E27FC236}">
                <a16:creationId xmlns:a16="http://schemas.microsoft.com/office/drawing/2014/main" id="{8A233214-D515-035E-DCD2-1DE719588CCC}"/>
              </a:ext>
            </a:extLst>
          </p:cNvPr>
          <p:cNvSpPr txBox="1"/>
          <p:nvPr/>
        </p:nvSpPr>
        <p:spPr>
          <a:xfrm>
            <a:off x="5449746" y="5648284"/>
            <a:ext cx="34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Prof. Danilo Avola</a:t>
            </a:r>
            <a:endParaRPr/>
          </a:p>
        </p:txBody>
      </p:sp>
      <p:sp>
        <p:nvSpPr>
          <p:cNvPr id="14" name="Google Shape;96;p13">
            <a:extLst>
              <a:ext uri="{FF2B5EF4-FFF2-40B4-BE49-F238E27FC236}">
                <a16:creationId xmlns:a16="http://schemas.microsoft.com/office/drawing/2014/main" id="{E6CE55B8-DBB0-86BB-3A5C-E88080AE0D98}"/>
              </a:ext>
            </a:extLst>
          </p:cNvPr>
          <p:cNvSpPr txBox="1"/>
          <p:nvPr/>
        </p:nvSpPr>
        <p:spPr>
          <a:xfrm>
            <a:off x="9249746" y="5368284"/>
            <a:ext cx="3200000" cy="1714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200" b="1">
                <a:solidFill>
                  <a:srgbClr val="822433"/>
                </a:solidFill>
              </a:defRPr>
            </a:pPr>
            <a:r>
              <a:rPr lang="en-US" sz="1200" b="1" i="0" u="none" strike="noStrike" cap="none">
                <a:solidFill>
                  <a:srgbClr val="822433"/>
                </a:solidFill>
                <a:latin typeface="Plus Jakarta Sans"/>
                <a:ea typeface="Plus Jakarta Sans"/>
                <a:cs typeface="Plus Jakarta Sans"/>
                <a:sym typeface="Plus Jakarta Sans"/>
              </a:rPr>
              <a:t>Co-Supervisor</a:t>
            </a:r>
            <a:endParaRPr/>
          </a:p>
        </p:txBody>
      </p:sp>
      <p:sp>
        <p:nvSpPr>
          <p:cNvPr id="16" name="Google Shape;97;p13">
            <a:extLst>
              <a:ext uri="{FF2B5EF4-FFF2-40B4-BE49-F238E27FC236}">
                <a16:creationId xmlns:a16="http://schemas.microsoft.com/office/drawing/2014/main" id="{556737BD-DFB4-E0D5-D8BD-5AABB60DFB71}"/>
              </a:ext>
            </a:extLst>
          </p:cNvPr>
          <p:cNvSpPr txBox="1"/>
          <p:nvPr/>
        </p:nvSpPr>
        <p:spPr>
          <a:xfrm>
            <a:off x="9249746" y="5648284"/>
            <a:ext cx="32000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defRPr sz="1700" b="1">
                <a:solidFill>
                  <a:srgbClr val="1C1819"/>
                </a:solidFill>
              </a:defRPr>
            </a:pPr>
            <a:r>
              <a:rPr lang="en-US" sz="1700" b="1" i="0" u="none" strike="noStrike" cap="none">
                <a:solidFill>
                  <a:srgbClr val="1C1819"/>
                </a:solidFill>
                <a:latin typeface="Plus Jakarta Sans"/>
                <a:ea typeface="Plus Jakarta Sans"/>
                <a:cs typeface="Plus Jakarta Sans"/>
                <a:sym typeface="Plus Jakarta Sans"/>
              </a:rPr>
              <a:t>Dr. Daniele Bailo</a:t>
            </a:r>
            <a:endParaRPr/>
          </a:p>
        </p:txBody>
      </p:sp>
    </p:spTree>
    <p:extLst>
      <p:ext uri="{BB962C8B-B14F-4D97-AF65-F5344CB8AC3E}">
        <p14:creationId xmlns:p14="http://schemas.microsoft.com/office/powerpoint/2010/main" val="165343435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1289</TotalTime>
  <Words>3877</Words>
  <Application>Microsoft Office PowerPoint</Application>
  <PresentationFormat>Widescreen</PresentationFormat>
  <Paragraphs>338</Paragraphs>
  <Slides>15</Slides>
  <Notes>15</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15</vt:i4>
      </vt:variant>
    </vt:vector>
  </HeadingPairs>
  <TitlesOfParts>
    <vt:vector size="21" baseType="lpstr">
      <vt:lpstr>Cinzel</vt:lpstr>
      <vt:lpstr>Plus Jakarta Sans</vt:lpstr>
      <vt:lpstr>Cambria Math</vt: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aless</dc:creator>
  <cp:lastModifiedBy>Alessio Curcio</cp:lastModifiedBy>
  <cp:revision>92</cp:revision>
  <dcterms:modified xsi:type="dcterms:W3CDTF">2026-10-22T11:58:10Z</dcterms:modified>
</cp:coreProperties>
</file>